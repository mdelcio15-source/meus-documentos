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tags/tag9.xml" ContentType="application/vnd.openxmlformats-officedocument.presentationml.tags+xml"/>
  <Override PartName="/ppt/notesSlides/notesSlide7.xml" ContentType="application/vnd.openxmlformats-officedocument.presentationml.notesSlide+xml"/>
  <Override PartName="/ppt/tags/tag10.xml" ContentType="application/vnd.openxmlformats-officedocument.presentationml.tags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25" r:id="rId4"/>
  </p:sldMasterIdLst>
  <p:notesMasterIdLst>
    <p:notesMasterId r:id="rId15"/>
  </p:notesMasterIdLst>
  <p:handoutMasterIdLst>
    <p:handoutMasterId r:id="rId16"/>
  </p:handoutMasterIdLst>
  <p:sldIdLst>
    <p:sldId id="257" r:id="rId5"/>
    <p:sldId id="2147376041" r:id="rId6"/>
    <p:sldId id="2147376039" r:id="rId7"/>
    <p:sldId id="2147376042" r:id="rId8"/>
    <p:sldId id="2147376050" r:id="rId9"/>
    <p:sldId id="2147376052" r:id="rId10"/>
    <p:sldId id="2147376043" r:id="rId11"/>
    <p:sldId id="2147376035" r:id="rId12"/>
    <p:sldId id="2147376040" r:id="rId13"/>
    <p:sldId id="2147375988" r:id="rId14"/>
  </p:sldIdLst>
  <p:sldSz cx="12192000" cy="6858000"/>
  <p:notesSz cx="6792913" cy="992505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0" userDrawn="1">
          <p15:clr>
            <a:srgbClr val="A4A3A4"/>
          </p15:clr>
        </p15:guide>
        <p15:guide id="11" orient="horz" pos="2047" userDrawn="1">
          <p15:clr>
            <a:srgbClr val="A4A3A4"/>
          </p15:clr>
        </p15:guide>
        <p15:guide id="12" orient="horz" pos="1593" userDrawn="1">
          <p15:clr>
            <a:srgbClr val="A4A3A4"/>
          </p15:clr>
        </p15:guide>
        <p15:guide id="13" orient="horz" pos="2568" userDrawn="1">
          <p15:clr>
            <a:srgbClr val="A4A3A4"/>
          </p15:clr>
        </p15:guide>
        <p15:guide id="14" orient="horz" pos="3072" userDrawn="1">
          <p15:clr>
            <a:srgbClr val="A4A3A4"/>
          </p15:clr>
        </p15:guide>
        <p15:guide id="15" orient="horz" pos="356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247709C-F006-8931-0C44-8BE3D09061B5}" name="Fernandes, Mario" initials="FM" userId="S::marifernandes@deloitte.co.mz::2090e9e4-0e72-4842-9a5f-2d945f9e1dc8" providerId="AD"/>
  <p188:author id="{56EFC6D7-73BE-4E35-5CBD-19F7E2A3FD67}" name="Osseman, Sana" initials="OS" userId="S::sjussab@deloitte.co.mz::b36bb259-c8f0-409d-b837-791e429b4776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Andrade, Ivan" initials="AI" lastIdx="9" clrIdx="6">
    <p:extLst>
      <p:ext uri="{19B8F6BF-5375-455C-9EA6-DF929625EA0E}">
        <p15:presenceInfo xmlns:p15="http://schemas.microsoft.com/office/powerpoint/2012/main" userId="S::iandrade@deloitte.co.mz::97f012e1-43af-4ff4-b1d2-799e8f81582c" providerId="AD"/>
      </p:ext>
    </p:extLst>
  </p:cmAuthor>
  <p:cmAuthor id="1" name="Trapani, Paolo" initials="TP" lastIdx="230" clrIdx="0">
    <p:extLst>
      <p:ext uri="{19B8F6BF-5375-455C-9EA6-DF929625EA0E}">
        <p15:presenceInfo xmlns:p15="http://schemas.microsoft.com/office/powerpoint/2012/main" userId="S::ptrapani@deloitte.co.za::c911e905-c78f-4ad4-a4b4-43be4286489d" providerId="AD"/>
      </p:ext>
    </p:extLst>
  </p:cmAuthor>
  <p:cmAuthor id="8" name="Fernandes, Mario" initials="FM" lastIdx="308" clrIdx="7">
    <p:extLst>
      <p:ext uri="{19B8F6BF-5375-455C-9EA6-DF929625EA0E}">
        <p15:presenceInfo xmlns:p15="http://schemas.microsoft.com/office/powerpoint/2012/main" userId="S::marifernandes@deloitte.co.mz::2090e9e4-0e72-4842-9a5f-2d945f9e1dc8" providerId="AD"/>
      </p:ext>
    </p:extLst>
  </p:cmAuthor>
  <p:cmAuthor id="2" name="Nelson Machava" initials="NM" lastIdx="19" clrIdx="1">
    <p:extLst>
      <p:ext uri="{19B8F6BF-5375-455C-9EA6-DF929625EA0E}">
        <p15:presenceInfo xmlns:p15="http://schemas.microsoft.com/office/powerpoint/2012/main" userId="S::nemachava@deloitte.co.mz::195de3fc-b557-4c1c-b5cc-d5e2323db561" providerId="AD"/>
      </p:ext>
    </p:extLst>
  </p:cmAuthor>
  <p:cmAuthor id="9" name="Trapani, Paolo" initials="TP [2]" lastIdx="16" clrIdx="8">
    <p:extLst>
      <p:ext uri="{19B8F6BF-5375-455C-9EA6-DF929625EA0E}">
        <p15:presenceInfo xmlns:p15="http://schemas.microsoft.com/office/powerpoint/2012/main" userId="S::ptrapani@deloitte.co.za::1f0775b0-17e5-455a-a2be-2702af7fbd7f" providerId="AD"/>
      </p:ext>
    </p:extLst>
  </p:cmAuthor>
  <p:cmAuthor id="3" name="Nel, Bryde" initials="NB [2]" lastIdx="11" clrIdx="2">
    <p:extLst>
      <p:ext uri="{19B8F6BF-5375-455C-9EA6-DF929625EA0E}">
        <p15:presenceInfo xmlns:p15="http://schemas.microsoft.com/office/powerpoint/2012/main" userId="S::brnel@deloitte.co.za::33dabb63-ad39-462e-92f1-e704bebf3cb1" providerId="AD"/>
      </p:ext>
    </p:extLst>
  </p:cmAuthor>
  <p:cmAuthor id="10" name="Maphumulo, Nolwazi" initials="MN [2]" lastIdx="11" clrIdx="9">
    <p:extLst>
      <p:ext uri="{19B8F6BF-5375-455C-9EA6-DF929625EA0E}">
        <p15:presenceInfo xmlns:p15="http://schemas.microsoft.com/office/powerpoint/2012/main" userId="S::nmaphumulo@deloitte.co.za::c0c10db5-f996-4ca6-9f89-f971b0ebc27f" providerId="AD"/>
      </p:ext>
    </p:extLst>
  </p:cmAuthor>
  <p:cmAuthor id="4" name="Kim Bassanna" initials="KB" lastIdx="141" clrIdx="3">
    <p:extLst>
      <p:ext uri="{19B8F6BF-5375-455C-9EA6-DF929625EA0E}">
        <p15:presenceInfo xmlns:p15="http://schemas.microsoft.com/office/powerpoint/2012/main" userId="Kim Bassanna" providerId="None"/>
      </p:ext>
    </p:extLst>
  </p:cmAuthor>
  <p:cmAuthor id="11" name="Letsholo, Betsho" initials="LB" lastIdx="1" clrIdx="10">
    <p:extLst>
      <p:ext uri="{19B8F6BF-5375-455C-9EA6-DF929625EA0E}">
        <p15:presenceInfo xmlns:p15="http://schemas.microsoft.com/office/powerpoint/2012/main" userId="S::kletsholo@deloitte.co.za::2ca6ad79-2824-46ae-94d5-abb103a705bf" providerId="AD"/>
      </p:ext>
    </p:extLst>
  </p:cmAuthor>
  <p:cmAuthor id="5" name="Jussab, Sana" initials="JS" lastIdx="12" clrIdx="4">
    <p:extLst>
      <p:ext uri="{19B8F6BF-5375-455C-9EA6-DF929625EA0E}">
        <p15:presenceInfo xmlns:p15="http://schemas.microsoft.com/office/powerpoint/2012/main" userId="S::sjussab@deloitte.co.mz::b36bb259-c8f0-409d-b837-791e429b4776" providerId="AD"/>
      </p:ext>
    </p:extLst>
  </p:cmAuthor>
  <p:cmAuthor id="12" name="Soto, Nilza" initials="SN" lastIdx="6" clrIdx="11">
    <p:extLst>
      <p:ext uri="{19B8F6BF-5375-455C-9EA6-DF929625EA0E}">
        <p15:presenceInfo xmlns:p15="http://schemas.microsoft.com/office/powerpoint/2012/main" userId="S::nilsoto@deloitte.co.mz::fa647342-09a6-4ad9-a594-c16c6e5bffe2" providerId="AD"/>
      </p:ext>
    </p:extLst>
  </p:cmAuthor>
  <p:cmAuthor id="6" name="Timmich, Daniela" initials="TD" lastIdx="3" clrIdx="5">
    <p:extLst>
      <p:ext uri="{19B8F6BF-5375-455C-9EA6-DF929625EA0E}">
        <p15:presenceInfo xmlns:p15="http://schemas.microsoft.com/office/powerpoint/2012/main" userId="S::dtimmich@deloitte.co.mz::708ca955-9195-447d-84d8-8f2821e928a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EABAA5"/>
    <a:srgbClr val="865640"/>
    <a:srgbClr val="7EA9CA"/>
    <a:srgbClr val="E0E4DB"/>
    <a:srgbClr val="7F7F7F"/>
    <a:srgbClr val="40749B"/>
    <a:srgbClr val="FFCD00"/>
    <a:srgbClr val="92D050"/>
    <a:srgbClr val="BD58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620" y="60"/>
      </p:cViewPr>
      <p:guideLst>
        <p:guide/>
        <p:guide orient="horz" pos="2047"/>
        <p:guide orient="horz" pos="1593"/>
        <p:guide orient="horz" pos="2568"/>
        <p:guide orient="horz" pos="3072"/>
        <p:guide orient="horz" pos="356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126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ola, Dique" userId="678f8703-7a84-4862-afff-3206db988f56" providerId="ADAL" clId="{D7F5C344-C119-4FBA-9EC1-B2054113B60C}"/>
    <pc:docChg chg="delSld">
      <pc:chgData name="Matola, Dique" userId="678f8703-7a84-4862-afff-3206db988f56" providerId="ADAL" clId="{D7F5C344-C119-4FBA-9EC1-B2054113B60C}" dt="2025-03-18T19:24:58.896" v="0" actId="47"/>
      <pc:docMkLst>
        <pc:docMk/>
      </pc:docMkLst>
      <pc:sldChg chg="del">
        <pc:chgData name="Matola, Dique" userId="678f8703-7a84-4862-afff-3206db988f56" providerId="ADAL" clId="{D7F5C344-C119-4FBA-9EC1-B2054113B60C}" dt="2025-03-18T19:24:58.896" v="0" actId="47"/>
        <pc:sldMkLst>
          <pc:docMk/>
          <pc:sldMk cId="3545553879" sldId="2147376015"/>
        </pc:sldMkLst>
      </pc:sldChg>
    </pc:docChg>
  </pc:docChgLst>
  <pc:docChgLst>
    <pc:chgData name="Cumbana, Jessica" userId="f66a1bf0-9a45-401b-9d44-2e59247392dd" providerId="ADAL" clId="{3AC93690-8770-4EF6-93C4-4ADCBEF0E7B5}"/>
    <pc:docChg chg="undo redo custSel modSld replTag delTag">
      <pc:chgData name="Cumbana, Jessica" userId="f66a1bf0-9a45-401b-9d44-2e59247392dd" providerId="ADAL" clId="{3AC93690-8770-4EF6-93C4-4ADCBEF0E7B5}" dt="2024-08-02T13:00:56.620" v="290" actId="20577"/>
      <pc:docMkLst>
        <pc:docMk/>
      </pc:docMkLst>
      <pc:sldChg chg="modSp mod">
        <pc:chgData name="Cumbana, Jessica" userId="f66a1bf0-9a45-401b-9d44-2e59247392dd" providerId="ADAL" clId="{3AC93690-8770-4EF6-93C4-4ADCBEF0E7B5}" dt="2024-08-02T13:00:54.755" v="289" actId="20577"/>
        <pc:sldMkLst>
          <pc:docMk/>
          <pc:sldMk cId="3587397599" sldId="2147376042"/>
        </pc:sldMkLst>
      </pc:sldChg>
      <pc:sldChg chg="modSp mod">
        <pc:chgData name="Cumbana, Jessica" userId="f66a1bf0-9a45-401b-9d44-2e59247392dd" providerId="ADAL" clId="{3AC93690-8770-4EF6-93C4-4ADCBEF0E7B5}" dt="2024-08-02T13:00:56.620" v="290" actId="20577"/>
        <pc:sldMkLst>
          <pc:docMk/>
          <pc:sldMk cId="1461350597" sldId="2147376050"/>
        </pc:sldMkLst>
      </pc:sldChg>
    </pc:docChg>
  </pc:docChgLst>
  <pc:docChgLst>
    <pc:chgData name="Cumbana, Jessica" userId="f66a1bf0-9a45-401b-9d44-2e59247392dd" providerId="ADAL" clId="{BA67F1A7-BD7D-421F-8722-88327B97B28F}"/>
    <pc:docChg chg="custSel replTag delTag">
      <pc:chgData name="Cumbana, Jessica" userId="f66a1bf0-9a45-401b-9d44-2e59247392dd" providerId="ADAL" clId="{BA67F1A7-BD7D-421F-8722-88327B97B28F}" dt="2024-07-15T11:36:04.081" v="489"/>
      <pc:docMkLst>
        <pc:docMk/>
      </pc:docMkLst>
    </pc:docChg>
  </pc:docChgLst>
  <pc:docChgLst>
    <pc:chgData name="Andrade, Ivan" userId="97f012e1-43af-4ff4-b1d2-799e8f81582c" providerId="ADAL" clId="{5D87715C-E614-47DA-94C2-9FAAF66E4F07}"/>
    <pc:docChg chg="custSel replTag delTag">
      <pc:chgData name="Andrade, Ivan" userId="97f012e1-43af-4ff4-b1d2-799e8f81582c" providerId="ADAL" clId="{5D87715C-E614-47DA-94C2-9FAAF66E4F07}" dt="2024-07-17T07:56:02.891" v="209"/>
      <pc:docMkLst>
        <pc:docMk/>
      </pc:docMkLst>
    </pc:docChg>
  </pc:docChgLst>
  <pc:docChgLst>
    <pc:chgData name="Fonseca, Bruna Xavier" userId="1d44023d-18d6-4573-b2f7-584a006d3bfc" providerId="ADAL" clId="{7E581D0C-0A58-4C37-8832-3C58C5EA7609}"/>
    <pc:docChg chg="custSel modSld">
      <pc:chgData name="Fonseca, Bruna Xavier" userId="1d44023d-18d6-4573-b2f7-584a006d3bfc" providerId="ADAL" clId="{7E581D0C-0A58-4C37-8832-3C58C5EA7609}" dt="2025-01-22T14:43:14.726" v="8" actId="478"/>
      <pc:docMkLst>
        <pc:docMk/>
      </pc:docMkLst>
      <pc:sldChg chg="addSp delSp modSp mod">
        <pc:chgData name="Fonseca, Bruna Xavier" userId="1d44023d-18d6-4573-b2f7-584a006d3bfc" providerId="ADAL" clId="{7E581D0C-0A58-4C37-8832-3C58C5EA7609}" dt="2025-01-22T14:43:14.726" v="8" actId="478"/>
        <pc:sldMkLst>
          <pc:docMk/>
          <pc:sldMk cId="3545553879" sldId="2147376015"/>
        </pc:sldMkLst>
      </pc:sldChg>
    </pc:docChg>
  </pc:docChgLst>
  <pc:docChgLst>
    <pc:chgData name="Manuel, Delcio" userId="8f2578cf-f2cc-4575-86eb-a4cadbda1cd7" providerId="ADAL" clId="{7434421C-AC60-4C54-A19F-5007B99701C7}"/>
    <pc:docChg chg="undo custSel addSld delSld modSld modMainMaster">
      <pc:chgData name="Manuel, Delcio" userId="8f2578cf-f2cc-4575-86eb-a4cadbda1cd7" providerId="ADAL" clId="{7434421C-AC60-4C54-A19F-5007B99701C7}" dt="2025-03-18T14:18:45.394" v="21" actId="20577"/>
      <pc:docMkLst>
        <pc:docMk/>
      </pc:docMkLst>
      <pc:sldChg chg="addSp delSp modSp add del mod">
        <pc:chgData name="Manuel, Delcio" userId="8f2578cf-f2cc-4575-86eb-a4cadbda1cd7" providerId="ADAL" clId="{7434421C-AC60-4C54-A19F-5007B99701C7}" dt="2025-03-18T14:18:22.610" v="7" actId="1076"/>
        <pc:sldMkLst>
          <pc:docMk/>
          <pc:sldMk cId="3545553879" sldId="2147376015"/>
        </pc:sldMkLst>
      </pc:sldChg>
      <pc:sldChg chg="addSp modSp add del">
        <pc:chgData name="Manuel, Delcio" userId="8f2578cf-f2cc-4575-86eb-a4cadbda1cd7" providerId="ADAL" clId="{7434421C-AC60-4C54-A19F-5007B99701C7}" dt="2025-03-18T14:17:26.161" v="4" actId="164"/>
        <pc:sldMkLst>
          <pc:docMk/>
          <pc:sldMk cId="2952569640" sldId="2147376043"/>
        </pc:sldMkLst>
      </pc:sldChg>
      <pc:sldMasterChg chg="modSldLayout">
        <pc:chgData name="Manuel, Delcio" userId="8f2578cf-f2cc-4575-86eb-a4cadbda1cd7" providerId="ADAL" clId="{7434421C-AC60-4C54-A19F-5007B99701C7}" dt="2025-03-18T14:18:45.394" v="21" actId="20577"/>
        <pc:sldMasterMkLst>
          <pc:docMk/>
          <pc:sldMasterMk cId="2682299401" sldId="2147483825"/>
        </pc:sldMasterMkLst>
        <pc:sldLayoutChg chg="modSp mod">
          <pc:chgData name="Manuel, Delcio" userId="8f2578cf-f2cc-4575-86eb-a4cadbda1cd7" providerId="ADAL" clId="{7434421C-AC60-4C54-A19F-5007B99701C7}" dt="2025-03-18T14:18:45.394" v="21" actId="20577"/>
          <pc:sldLayoutMkLst>
            <pc:docMk/>
            <pc:sldMasterMk cId="2682299401" sldId="2147483825"/>
            <pc:sldLayoutMk cId="934783864" sldId="2147483827"/>
          </pc:sldLayoutMkLst>
        </pc:sldLayoutChg>
      </pc:sldMasterChg>
    </pc:docChg>
  </pc:docChgLst>
  <pc:docChgLst>
    <pc:chgData name="Andrade, Ivan" userId="97f012e1-43af-4ff4-b1d2-799e8f81582c" providerId="ADAL" clId="{97D6AB8F-2A99-4E33-9E65-1E2F126E5DF7}"/>
    <pc:docChg chg="undo custSel modSld sldOrd">
      <pc:chgData name="Andrade, Ivan" userId="97f012e1-43af-4ff4-b1d2-799e8f81582c" providerId="ADAL" clId="{97D6AB8F-2A99-4E33-9E65-1E2F126E5DF7}" dt="2025-11-04T08:58:00.421" v="3" actId="27309"/>
      <pc:docMkLst>
        <pc:docMk/>
      </pc:docMkLst>
      <pc:sldChg chg="addSp delSp modSp mod ord">
        <pc:chgData name="Andrade, Ivan" userId="97f012e1-43af-4ff4-b1d2-799e8f81582c" providerId="ADAL" clId="{97D6AB8F-2A99-4E33-9E65-1E2F126E5DF7}" dt="2025-11-04T08:58:00.421" v="3" actId="27309"/>
        <pc:sldMkLst>
          <pc:docMk/>
          <pc:sldMk cId="2952569640" sldId="2147376043"/>
        </pc:sldMkLst>
        <pc:graphicFrameChg chg="add del modGraphic">
          <ac:chgData name="Andrade, Ivan" userId="97f012e1-43af-4ff4-b1d2-799e8f81582c" providerId="ADAL" clId="{97D6AB8F-2A99-4E33-9E65-1E2F126E5DF7}" dt="2025-11-04T08:58:00.421" v="3" actId="27309"/>
          <ac:graphicFrameMkLst>
            <pc:docMk/>
            <pc:sldMk cId="2952569640" sldId="2147376043"/>
            <ac:graphicFrameMk id="24" creationId="{49072FD8-28F7-23FE-1E48-20E229BA8EB1}"/>
          </ac:graphicFrameMkLst>
        </pc:graphicFrameChg>
      </pc:sldChg>
    </pc:docChg>
  </pc:docChgLst>
  <pc:docChgLst>
    <pc:chgData name="Andrade, Ivan" userId="97f012e1-43af-4ff4-b1d2-799e8f81582c" providerId="ADAL" clId="{2457590E-2F59-4A84-BF6B-610AABBE8ABF}"/>
    <pc:docChg chg="undo redo custSel modSld replTag delTag">
      <pc:chgData name="Andrade, Ivan" userId="97f012e1-43af-4ff4-b1d2-799e8f81582c" providerId="ADAL" clId="{2457590E-2F59-4A84-BF6B-610AABBE8ABF}" dt="2024-07-25T07:00:08.790" v="285"/>
      <pc:docMkLst>
        <pc:docMk/>
      </pc:docMkLst>
      <pc:sldChg chg="modSp mod">
        <pc:chgData name="Andrade, Ivan" userId="97f012e1-43af-4ff4-b1d2-799e8f81582c" providerId="ADAL" clId="{2457590E-2F59-4A84-BF6B-610AABBE8ABF}" dt="2024-07-25T07:00:04.419" v="75" actId="1035"/>
        <pc:sldMkLst>
          <pc:docMk/>
          <pc:sldMk cId="1353446710" sldId="2147376052"/>
        </pc:sldMkLst>
      </pc:sldChg>
    </pc:docChg>
  </pc:docChgLst>
  <pc:docChgLst>
    <pc:chgData name="Coelho, Miguel Mendes" userId="fc1db6fc-69db-4765-973e-88cd03a36db0" providerId="ADAL" clId="{C8A324D5-BB9E-4192-B4A8-CA73533E8ED4}"/>
    <pc:docChg chg="custSel replTag delTag">
      <pc:chgData name="Coelho, Miguel Mendes" userId="fc1db6fc-69db-4765-973e-88cd03a36db0" providerId="ADAL" clId="{C8A324D5-BB9E-4192-B4A8-CA73533E8ED4}" dt="2024-07-22T04:35:19.987" v="209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2"/>
            <a:ext cx="2943798" cy="495714"/>
          </a:xfrm>
          <a:prstGeom prst="rect">
            <a:avLst/>
          </a:prstGeom>
        </p:spPr>
        <p:txBody>
          <a:bodyPr vert="horz" lIns="89895" tIns="44948" rIns="89895" bIns="44948" rtlCol="0"/>
          <a:lstStyle>
            <a:lvl1pPr algn="l">
              <a:defRPr sz="11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7596" y="2"/>
            <a:ext cx="2943798" cy="495714"/>
          </a:xfrm>
          <a:prstGeom prst="rect">
            <a:avLst/>
          </a:prstGeom>
        </p:spPr>
        <p:txBody>
          <a:bodyPr vert="horz" lIns="89895" tIns="44948" rIns="89895" bIns="44948" rtlCol="0"/>
          <a:lstStyle>
            <a:lvl1pPr algn="r">
              <a:defRPr sz="1100"/>
            </a:lvl1pPr>
          </a:lstStyle>
          <a:p>
            <a:fld id="{B4AD245C-091B-44E2-BFB0-BD94217887F7}" type="datetimeFigureOut">
              <a:rPr lang="en-US" smtClean="0">
                <a:latin typeface="Arial" panose="020B0604020202020204" pitchFamily="34" charset="0"/>
              </a:rPr>
              <a:t>11/4/2025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427799"/>
            <a:ext cx="2943798" cy="495714"/>
          </a:xfrm>
          <a:prstGeom prst="rect">
            <a:avLst/>
          </a:prstGeom>
        </p:spPr>
        <p:txBody>
          <a:bodyPr vert="horz" lIns="89895" tIns="44948" rIns="89895" bIns="44948" rtlCol="0" anchor="b"/>
          <a:lstStyle>
            <a:lvl1pPr algn="l">
              <a:defRPr sz="11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7596" y="9427799"/>
            <a:ext cx="2943798" cy="495714"/>
          </a:xfrm>
          <a:prstGeom prst="rect">
            <a:avLst/>
          </a:prstGeom>
        </p:spPr>
        <p:txBody>
          <a:bodyPr vert="horz" lIns="89895" tIns="44948" rIns="89895" bIns="44948" rtlCol="0" anchor="b"/>
          <a:lstStyle>
            <a:lvl1pPr algn="r">
              <a:defRPr sz="1100"/>
            </a:lvl1pPr>
          </a:lstStyle>
          <a:p>
            <a:fld id="{9A913F39-CFF6-40F1-84D1-700840B41EAB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8131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3596" cy="496253"/>
          </a:xfrm>
          <a:prstGeom prst="rect">
            <a:avLst/>
          </a:prstGeom>
        </p:spPr>
        <p:txBody>
          <a:bodyPr vert="horz" lIns="97375" tIns="48687" rIns="97375" bIns="48687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7748" y="1"/>
            <a:ext cx="2943596" cy="496253"/>
          </a:xfrm>
          <a:prstGeom prst="rect">
            <a:avLst/>
          </a:prstGeom>
        </p:spPr>
        <p:txBody>
          <a:bodyPr vert="horz" lIns="97375" tIns="48687" rIns="97375" bIns="48687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BA5BBE4-AEA3-489A-A28E-0C2FAF2506E3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08763" cy="3717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7375" tIns="48687" rIns="97375" bIns="48687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292" y="4714400"/>
            <a:ext cx="5434330" cy="4466273"/>
          </a:xfrm>
          <a:prstGeom prst="rect">
            <a:avLst/>
          </a:prstGeom>
        </p:spPr>
        <p:txBody>
          <a:bodyPr vert="horz" lIns="97375" tIns="48687" rIns="97375" bIns="4868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7076"/>
            <a:ext cx="2943596" cy="496253"/>
          </a:xfrm>
          <a:prstGeom prst="rect">
            <a:avLst/>
          </a:prstGeom>
        </p:spPr>
        <p:txBody>
          <a:bodyPr vert="horz" lIns="97375" tIns="48687" rIns="97375" bIns="48687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7748" y="9427076"/>
            <a:ext cx="2943596" cy="496253"/>
          </a:xfrm>
          <a:prstGeom prst="rect">
            <a:avLst/>
          </a:prstGeom>
        </p:spPr>
        <p:txBody>
          <a:bodyPr vert="horz" lIns="97375" tIns="48687" rIns="97375" bIns="48687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0F4A2C8-6C88-4E71-83EE-698B9D4FE2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730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04159">
              <a:defRPr/>
            </a:pPr>
            <a:fld id="{C0F4A2C8-6C88-4E71-83EE-698B9D4FE22F}" type="slidenum">
              <a:rPr lang="en-US">
                <a:solidFill>
                  <a:prstClr val="black"/>
                </a:solidFill>
              </a:rPr>
              <a:pPr defTabSz="904159">
                <a:defRPr/>
              </a:pPr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4274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04159">
              <a:defRPr/>
            </a:pPr>
            <a:fld id="{C0F4A2C8-6C88-4E71-83EE-698B9D4FE22F}" type="slidenum">
              <a:rPr lang="en-US">
                <a:solidFill>
                  <a:prstClr val="black"/>
                </a:solidFill>
              </a:rPr>
              <a:pPr defTabSz="904159">
                <a:defRPr/>
              </a:pPr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9277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04159">
              <a:defRPr/>
            </a:pPr>
            <a:fld id="{C0F4A2C8-6C88-4E71-83EE-698B9D4FE22F}" type="slidenum">
              <a:rPr lang="en-US">
                <a:solidFill>
                  <a:prstClr val="black"/>
                </a:solidFill>
              </a:rPr>
              <a:pPr defTabSz="904159">
                <a:defRPr/>
              </a:pPr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9365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04159">
              <a:defRPr/>
            </a:pPr>
            <a:fld id="{C0F4A2C8-6C88-4E71-83EE-698B9D4FE22F}" type="slidenum">
              <a:rPr lang="en-US">
                <a:solidFill>
                  <a:prstClr val="black"/>
                </a:solidFill>
              </a:rPr>
              <a:pPr defTabSz="904159">
                <a:defRPr/>
              </a:pPr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62067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04159">
              <a:defRPr/>
            </a:pPr>
            <a:fld id="{C0F4A2C8-6C88-4E71-83EE-698B9D4FE22F}" type="slidenum">
              <a:rPr lang="en-US">
                <a:solidFill>
                  <a:prstClr val="black"/>
                </a:solidFill>
              </a:rPr>
              <a:pPr defTabSz="904159">
                <a:defRPr/>
              </a:pPr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774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04159">
              <a:defRPr/>
            </a:pPr>
            <a:fld id="{C0F4A2C8-6C88-4E71-83EE-698B9D4FE22F}" type="slidenum">
              <a:rPr lang="en-US">
                <a:solidFill>
                  <a:prstClr val="black"/>
                </a:solidFill>
              </a:rPr>
              <a:pPr defTabSz="904159">
                <a:defRPr/>
              </a:pPr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0398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04159">
              <a:defRPr/>
            </a:pPr>
            <a:fld id="{C0F4A2C8-6C88-4E71-83EE-698B9D4FE22F}" type="slidenum">
              <a:rPr lang="en-US">
                <a:solidFill>
                  <a:prstClr val="black"/>
                </a:solidFill>
              </a:rPr>
              <a:pPr defTabSz="904159">
                <a:defRPr/>
              </a:pPr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1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04159">
              <a:defRPr/>
            </a:pPr>
            <a:fld id="{C0F4A2C8-6C88-4E71-83EE-698B9D4FE22F}" type="slidenum">
              <a:rPr lang="en-US">
                <a:solidFill>
                  <a:prstClr val="black"/>
                </a:solidFill>
              </a:rPr>
              <a:pPr defTabSz="904159">
                <a:defRPr/>
              </a:pPr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980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4BB10-1BDC-458F-BEB0-6EFCF44508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DF09FE-1709-40CB-8E90-24F4347CB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5DF2F2A-5A44-E243-90E6-C1197C0F2F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35184" y="6478588"/>
            <a:ext cx="4896559" cy="27541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/>
          <a:lstStyle>
            <a:lvl1pPr algn="r">
              <a:defRPr lang="en-GB" sz="9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/>
              <a:t>EDM Phase 1 &amp; 2 Replanning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5553654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276DB-8D1F-4322-B2FE-1F2CA6588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F19C5-1862-4445-B591-0528E750D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12FD9-94B2-4601-A172-DA1E848AC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12A7C-3A60-4ED4-B927-345EDBF55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1A71132-83F3-FEA2-78FF-171AD3911D46}"/>
              </a:ext>
            </a:extLst>
          </p:cNvPr>
          <p:cNvSpPr txBox="1">
            <a:spLocks/>
          </p:cNvSpPr>
          <p:nvPr userDrawn="1"/>
        </p:nvSpPr>
        <p:spPr>
          <a:xfrm>
            <a:off x="6335184" y="6478588"/>
            <a:ext cx="4896559" cy="27541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/>
          <a:lstStyle>
            <a:defPPr>
              <a:defRPr lang="en-US"/>
            </a:defPPr>
            <a:lvl1pPr marL="0" algn="r" defTabSz="914400" rtl="0" eaLnBrk="1" latinLnBrk="0" hangingPunct="1">
              <a:defRPr lang="en-GB" sz="9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SPS-Gaza - Planeamento da Fase 1 &amp; 2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34783864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A93A2-B542-4A55-8E25-C87476A33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78CB1E-C7A5-4E23-A6D9-6BA6A7F5F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38D05-334B-4848-8C3D-1B009BA006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84BC8-EC07-476F-9BCC-D84283C62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470C0-384D-4D8F-9A88-74B8C5459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08017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EAD2B-64DF-46BC-A77F-BB2055EC7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19A85-1539-4D98-B935-B5EB1FDD03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CDC6E3-7C79-4AD4-AC22-EC0569743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CB1D9-330C-4CA3-8EF7-43251979B9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B712588-04B1-427B-82EE-E8DB90309F08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39914D-04DD-4BC5-898D-821591A3A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CB097-760D-4813-91E8-98C563C38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197124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80C7F-4E58-4D52-BC70-DDA91E783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D1544-530C-4F3C-AA9A-B5789E01B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9DB7DC-41E0-4B03-B0D4-99F4A8D7C0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D64FE3-D832-4E1A-B62E-A6A6CB3370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1E0CEB-227C-462D-84B2-B8D56642D7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49E07E-798B-4922-8312-5CA6CD9F22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9FB2EC-7E00-453D-A846-EF3C07729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18893E-6FC7-4890-9595-4B49D4539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371720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71029-6DE8-4F31-A91D-D1A44FD6F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FE1655-906C-4D40-BF24-3E90997355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BB879-8284-4006-A239-C8789D32C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3116AC-7053-482D-B446-D04FFE775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661763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D289BC-4D75-4474-ACE6-971EAF5DE0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D6F172-8155-48D8-ABA6-4C284A8FD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D4FCD-8F6B-423E-8CD0-4E11EBD01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98109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750C3-2112-4A58-AD7D-AB7979B07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9DC58-99A1-4646-AB14-56D261FD7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48BA5A-32A1-440D-BF7E-FAF7EA306B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D6B32-B990-4F72-913D-98B426CB57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A54C80-263E-416B-A8E0-580EDEADCBDC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7BD34-B56A-44D7-BA15-2259D2542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F8134C-854A-438D-B7C4-5F469B0E3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802996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DF65F-2211-49A5-AFD2-F2C92ECE0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574F26-2C44-499D-B317-2DCB9A6FFF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20538B-24F1-4090-8E2A-DA7B9279B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905ADB-EF5B-4973-86C2-BE969655D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43BD6-1558-4585-9155-B08B59348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CE3592-C588-443C-B7A3-0C5969776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923158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462BA-CF70-4493-81EC-06A1569B4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F1A81B-DD66-4ABB-B580-0AC4E64313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D7414-8B0B-4546-A072-9B7BC864DF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C6B4A9-1611-4792-9094-5F34BCA07E0B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67E49-D4DE-4D4C-95D8-6C965468A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FBE1C-AEBB-4B32-8670-A6FE4333F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056148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9B21C1-8D3C-424F-AB1E-003CC94A25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244A34-410E-4ACE-A1BD-890FC6F4FE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D1E16-C748-4477-8A8E-EAC96A24CF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D7CF3-D15D-49AF-863A-4D23819B6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12423-F1D9-4591-ADA6-6E414EA45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627321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2A695DEC-E9CB-4EE6-B6A0-35EA322D267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30" name="Oval 5">
              <a:extLst>
                <a:ext uri="{FF2B5EF4-FFF2-40B4-BE49-F238E27FC236}">
                  <a16:creationId xmlns:a16="http://schemas.microsoft.com/office/drawing/2014/main" id="{156892DF-711C-4336-AEBF-762E1CB7CCD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1" name="Freeform 6">
              <a:extLst>
                <a:ext uri="{FF2B5EF4-FFF2-40B4-BE49-F238E27FC236}">
                  <a16:creationId xmlns:a16="http://schemas.microsoft.com/office/drawing/2014/main" id="{654BE607-CC12-452A-95BB-8AEB794BBEF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Rectangle 7">
              <a:extLst>
                <a:ext uri="{FF2B5EF4-FFF2-40B4-BE49-F238E27FC236}">
                  <a16:creationId xmlns:a16="http://schemas.microsoft.com/office/drawing/2014/main" id="{AE06DD36-C381-4B3C-86D3-4123CCCA48E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Freeform 8">
              <a:extLst>
                <a:ext uri="{FF2B5EF4-FFF2-40B4-BE49-F238E27FC236}">
                  <a16:creationId xmlns:a16="http://schemas.microsoft.com/office/drawing/2014/main" id="{20BC03DC-7852-47B1-9820-005DEBD76B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Rectangle 9">
              <a:extLst>
                <a:ext uri="{FF2B5EF4-FFF2-40B4-BE49-F238E27FC236}">
                  <a16:creationId xmlns:a16="http://schemas.microsoft.com/office/drawing/2014/main" id="{07652C2F-A141-4AB0-9E2F-202CA0F5FB9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Rectangle 10">
              <a:extLst>
                <a:ext uri="{FF2B5EF4-FFF2-40B4-BE49-F238E27FC236}">
                  <a16:creationId xmlns:a16="http://schemas.microsoft.com/office/drawing/2014/main" id="{5648F6A9-F4A7-4EA4-BEB8-6F1BB21E0FB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1217BB3C-3B45-4FD5-A1F2-2A4B137E81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2285CDEF-D8F9-4088-8EFE-11B02C6E1F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8B4FB454-2D1E-4839-87E0-3E961CBE46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95322F62-2CA7-4C72-BE20-8B93945A32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" descr="{&quot;templafy&quot;:{&quot;id&quot;:&quot;3de7713e-49a2-40ee-aa4d-a3909757c680&quot;}}" title="UserProfile.LegalEntity.Copyright">
            <a:extLst>
              <a:ext uri="{FF2B5EF4-FFF2-40B4-BE49-F238E27FC236}">
                <a16:creationId xmlns:a16="http://schemas.microsoft.com/office/drawing/2014/main" id="{33FBF149-8332-292B-AACA-09FF8C842057}"/>
              </a:ext>
            </a:extLst>
          </p:cNvPr>
          <p:cNvSpPr/>
          <p:nvPr userDrawn="1"/>
        </p:nvSpPr>
        <p:spPr bwMode="gray">
          <a:xfrm>
            <a:off x="501648" y="6477000"/>
            <a:ext cx="5355168" cy="275411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t"/>
          <a:lstStyle/>
          <a:p>
            <a:pPr algn="l">
              <a:lnSpc>
                <a:spcPct val="106000"/>
              </a:lnSpc>
              <a:buFont typeface="Wingdings 2" pitchFamily="18" charset="2"/>
              <a:buNone/>
            </a:pPr>
            <a:r>
              <a:rPr lang="en-GB" sz="9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© 2024 Deloitte – Sociedade de Auditores e Contabilistas Certificados, Lda</a:t>
            </a:r>
          </a:p>
        </p:txBody>
      </p:sp>
    </p:spTree>
    <p:extLst>
      <p:ext uri="{BB962C8B-B14F-4D97-AF65-F5344CB8AC3E}">
        <p14:creationId xmlns:p14="http://schemas.microsoft.com/office/powerpoint/2010/main" val="3225726146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E9ED29CA-6A60-490D-9D54-EA7CC7AF832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31" name="Oval 5">
              <a:extLst>
                <a:ext uri="{FF2B5EF4-FFF2-40B4-BE49-F238E27FC236}">
                  <a16:creationId xmlns:a16="http://schemas.microsoft.com/office/drawing/2014/main" id="{119E2360-A688-44DF-A6BB-76D18177CCF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4265C3C7-34A9-47F1-AB5F-2771E187891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7">
              <a:extLst>
                <a:ext uri="{FF2B5EF4-FFF2-40B4-BE49-F238E27FC236}">
                  <a16:creationId xmlns:a16="http://schemas.microsoft.com/office/drawing/2014/main" id="{A9400861-EDC5-4A80-9569-C20320CE006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64DC9296-DBBC-4C4E-ACB4-7DA2607D52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3E26591B-8E9F-4856-8284-BF3F8DB6ABC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Rectangle 10">
              <a:extLst>
                <a:ext uri="{FF2B5EF4-FFF2-40B4-BE49-F238E27FC236}">
                  <a16:creationId xmlns:a16="http://schemas.microsoft.com/office/drawing/2014/main" id="{43F42271-5510-4D15-B07B-133237928BB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00E9FD99-54D9-422B-9717-D0DD3442A0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BAF30821-90D3-436A-8DDF-D130E66447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5C1A565D-B22B-4EE2-ACC9-C993D581F00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666738FD-9737-43F5-8E36-896FD725FE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AC175F74-77C8-4969-BBF5-920619ED762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93716" y="727595"/>
            <a:ext cx="5400000" cy="5400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501651" y="5332396"/>
            <a:ext cx="4446269" cy="464044"/>
          </a:xfrm>
        </p:spPr>
        <p:txBody>
          <a:bodyPr anchor="t" anchorCtr="0">
            <a:noAutofit/>
          </a:bodyPr>
          <a:lstStyle>
            <a:lvl1pPr algn="l">
              <a:lnSpc>
                <a:spcPct val="100000"/>
              </a:lnSpc>
              <a:defRPr sz="2100" b="0">
                <a:solidFill>
                  <a:schemeClr val="accent1"/>
                </a:solidFill>
                <a:latin typeface="+mn-lt"/>
                <a:ea typeface="Open Sans" panose="020B0606030504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651" y="6381750"/>
            <a:ext cx="4446269" cy="27305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929522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dark blue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0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2A60FA-C95E-401E-9AF3-D27C8C88BCCB}"/>
              </a:ext>
            </a:extLst>
          </p:cNvPr>
          <p:cNvSpPr txBox="1"/>
          <p:nvPr userDrawn="1"/>
        </p:nvSpPr>
        <p:spPr>
          <a:xfrm>
            <a:off x="6335184" y="6477000"/>
            <a:ext cx="489656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9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9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9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24B28E-5B13-4779-8D72-C52A20B99FE7}"/>
              </a:ext>
            </a:extLst>
          </p:cNvPr>
          <p:cNvSpPr txBox="1"/>
          <p:nvPr userDrawn="1"/>
        </p:nvSpPr>
        <p:spPr>
          <a:xfrm>
            <a:off x="501649" y="6477001"/>
            <a:ext cx="535516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en-US" sz="9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9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9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32543E-E807-47A4-A234-D5C7012187B4}"/>
              </a:ext>
            </a:extLst>
          </p:cNvPr>
          <p:cNvSpPr txBox="1"/>
          <p:nvPr userDrawn="1"/>
        </p:nvSpPr>
        <p:spPr>
          <a:xfrm>
            <a:off x="11382377" y="6477001"/>
            <a:ext cx="3079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900" noProof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900" noProof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3714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0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E60749-A3E0-4E09-BF50-6D6B361BEF91}"/>
              </a:ext>
            </a:extLst>
          </p:cNvPr>
          <p:cNvSpPr txBox="1"/>
          <p:nvPr userDrawn="1"/>
        </p:nvSpPr>
        <p:spPr>
          <a:xfrm>
            <a:off x="6335184" y="6477000"/>
            <a:ext cx="489656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9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9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9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D12011-8F73-49BB-8C12-BDC820477529}"/>
              </a:ext>
            </a:extLst>
          </p:cNvPr>
          <p:cNvSpPr txBox="1"/>
          <p:nvPr userDrawn="1"/>
        </p:nvSpPr>
        <p:spPr>
          <a:xfrm>
            <a:off x="501649" y="6477001"/>
            <a:ext cx="535516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en-US" sz="9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9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90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94F347-CBED-4284-9EC5-49E7D0DE163A}"/>
              </a:ext>
            </a:extLst>
          </p:cNvPr>
          <p:cNvSpPr txBox="1"/>
          <p:nvPr userDrawn="1"/>
        </p:nvSpPr>
        <p:spPr>
          <a:xfrm>
            <a:off x="11382377" y="6477001"/>
            <a:ext cx="3079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900" noProof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900" noProof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97899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9901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541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DCEAC-A170-15D8-5782-9EB6DAA427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35184" y="6478588"/>
            <a:ext cx="4896559" cy="27541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/>
          <a:lstStyle>
            <a:lvl1pPr algn="r">
              <a:defRPr lang="en-GB" sz="9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/>
              <a:t>EDM Phase 1 &amp; 2 Replanning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795150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ey statem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69900" y="1590675"/>
            <a:ext cx="9029604" cy="4708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800"/>
              </a:spcBef>
              <a:defRPr sz="3600">
                <a:solidFill>
                  <a:schemeClr val="tx1"/>
                </a:solidFill>
              </a:defRPr>
            </a:lvl1pPr>
            <a:lvl2pPr marL="609585" indent="-609585"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9B44083-BAF9-FB1B-E50F-C97F4DA87E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35184" y="6478588"/>
            <a:ext cx="4896559" cy="27541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/>
          <a:lstStyle>
            <a:lvl1pPr algn="r">
              <a:defRPr lang="en-GB" sz="9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/>
              <a:t>EDM Phase 1 &amp; 2 Replanning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1022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2920" y="64922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502920" y="320040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502920" y="1665818"/>
            <a:ext cx="11252200" cy="46333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F0D534D-0835-890E-5B99-D9AA2A874B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35184" y="6478588"/>
            <a:ext cx="4896559" cy="27541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/>
          <a:lstStyle>
            <a:lvl1pPr algn="r">
              <a:defRPr lang="en-GB" sz="9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/>
              <a:t>EDM Phase 1 &amp; 2 Replanning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72647120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title &amp; 1 column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502920" y="1676402"/>
            <a:ext cx="11252200" cy="46227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2920" y="64922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502920" y="320040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1C87D16-1326-ED16-AA44-52CA5939AD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35184" y="6478588"/>
            <a:ext cx="4896559" cy="27541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/>
          <a:lstStyle>
            <a:lvl1pPr algn="r">
              <a:defRPr lang="en-GB" sz="9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/>
              <a:t>EDM Phase 1 &amp; 2 Replanning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277893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title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502920" y="2054581"/>
            <a:ext cx="11252200" cy="3928209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02920" y="1659816"/>
            <a:ext cx="11252200" cy="3571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468000" y="5982790"/>
            <a:ext cx="11252201" cy="316411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2920" y="64922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502920" y="320040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60F25A3-E1DC-9BBB-1B58-7F372C6A59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35184" y="6478588"/>
            <a:ext cx="4896559" cy="27541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/>
          <a:lstStyle>
            <a:lvl1pPr algn="r">
              <a:defRPr lang="en-GB" sz="9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/>
              <a:t>EDM Phase 1 &amp; 2 Replanning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29702940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2920" y="64922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502920" y="320040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1539573-0697-1E8E-27CA-9B65B4EA56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35184" y="6478588"/>
            <a:ext cx="4896559" cy="27541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/>
          <a:lstStyle>
            <a:lvl1pPr algn="r">
              <a:defRPr lang="en-GB" sz="9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/>
              <a:t>EDM Phase 1 &amp; 2 Replanning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8195933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2920" y="64922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502920" y="320040"/>
            <a:ext cx="11252200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2920" y="1857892"/>
            <a:ext cx="5544000" cy="1695451"/>
          </a:xfrm>
        </p:spPr>
        <p:txBody>
          <a:bodyPr/>
          <a:lstStyle>
            <a:lvl1pPr>
              <a:spcAft>
                <a:spcPts val="1333"/>
              </a:spcAft>
              <a:defRPr b="1">
                <a:solidFill>
                  <a:schemeClr val="accent1"/>
                </a:solidFill>
                <a:latin typeface="+mj-lt"/>
              </a:defRPr>
            </a:lvl1pPr>
            <a:lvl2pPr>
              <a:spcAft>
                <a:spcPts val="1333"/>
              </a:spcAft>
              <a:defRPr/>
            </a:lvl2pPr>
            <a:lvl3pPr marL="0" indent="0">
              <a:spcAft>
                <a:spcPts val="1333"/>
              </a:spcAft>
              <a:buNone/>
              <a:defRPr/>
            </a:lvl3pPr>
            <a:lvl4pPr marL="235194" indent="-235194">
              <a:spcAft>
                <a:spcPts val="1333"/>
              </a:spcAft>
              <a:buFont typeface="Arial" panose="020B0604020202020204" pitchFamily="34" charset="0"/>
              <a:buChar char="•"/>
              <a:defRPr/>
            </a:lvl4pPr>
            <a:lvl5pPr marL="475188" indent="-235194">
              <a:spcAft>
                <a:spcPts val="1333"/>
              </a:spcAft>
              <a:defRPr baseline="0"/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177462" y="1857892"/>
            <a:ext cx="5544000" cy="1695451"/>
          </a:xfrm>
        </p:spPr>
        <p:txBody>
          <a:bodyPr/>
          <a:lstStyle>
            <a:lvl1pPr>
              <a:spcAft>
                <a:spcPts val="1333"/>
              </a:spcAft>
              <a:defRPr b="1">
                <a:solidFill>
                  <a:schemeClr val="accent1"/>
                </a:solidFill>
              </a:defRPr>
            </a:lvl1pPr>
            <a:lvl2pPr>
              <a:spcAft>
                <a:spcPts val="1333"/>
              </a:spcAft>
              <a:defRPr/>
            </a:lvl2pPr>
            <a:lvl3pPr marL="0" indent="0">
              <a:spcAft>
                <a:spcPts val="1333"/>
              </a:spcAft>
              <a:buNone/>
              <a:defRPr/>
            </a:lvl3pPr>
            <a:lvl4pPr marL="235194" indent="-235194">
              <a:spcAft>
                <a:spcPts val="1333"/>
              </a:spcAft>
              <a:buFont typeface="Arial" panose="020B0604020202020204" pitchFamily="34" charset="0"/>
              <a:buChar char="•"/>
              <a:defRPr/>
            </a:lvl4pPr>
            <a:lvl5pPr marL="475188" indent="-235194">
              <a:spcAft>
                <a:spcPts val="1333"/>
              </a:spcAft>
              <a:defRPr baseline="0"/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502920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6167796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19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0467635" y="1857892"/>
            <a:ext cx="1244161" cy="549275"/>
          </a:xfrm>
        </p:spPr>
        <p:txBody>
          <a:bodyPr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20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4734795" y="1863917"/>
            <a:ext cx="1244906" cy="549275"/>
          </a:xfrm>
        </p:spPr>
        <p:txBody>
          <a:bodyPr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239408974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alifications 2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2920" y="1857892"/>
            <a:ext cx="5544000" cy="1695451"/>
          </a:xfrm>
        </p:spPr>
        <p:txBody>
          <a:bodyPr>
            <a:noAutofit/>
          </a:bodyPr>
          <a:lstStyle>
            <a:lvl1pPr>
              <a:spcAft>
                <a:spcPts val="1333"/>
              </a:spcAft>
              <a:defRPr b="1">
                <a:solidFill>
                  <a:schemeClr val="accent1"/>
                </a:solidFill>
              </a:defRPr>
            </a:lvl1pPr>
            <a:lvl2pPr>
              <a:spcAft>
                <a:spcPts val="1333"/>
              </a:spcAft>
              <a:defRPr/>
            </a:lvl2pPr>
            <a:lvl3pPr marL="0" indent="0">
              <a:spcAft>
                <a:spcPts val="1333"/>
              </a:spcAft>
              <a:buNone/>
              <a:defRPr/>
            </a:lvl3pPr>
            <a:lvl4pPr marL="235194" indent="-235194">
              <a:spcAft>
                <a:spcPts val="1333"/>
              </a:spcAft>
              <a:buFont typeface="Arial" panose="020B0604020202020204" pitchFamily="34" charset="0"/>
              <a:buChar char="•"/>
              <a:defRPr/>
            </a:lvl4pPr>
            <a:lvl5pPr marL="475188" indent="-235194">
              <a:spcAft>
                <a:spcPts val="1333"/>
              </a:spcAft>
              <a:defRPr baseline="0"/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177462" y="1857892"/>
            <a:ext cx="5544000" cy="1695451"/>
          </a:xfrm>
        </p:spPr>
        <p:txBody>
          <a:bodyPr>
            <a:noAutofit/>
          </a:bodyPr>
          <a:lstStyle>
            <a:lvl1pPr>
              <a:spcAft>
                <a:spcPts val="1333"/>
              </a:spcAft>
              <a:defRPr b="1">
                <a:solidFill>
                  <a:schemeClr val="accent1"/>
                </a:solidFill>
              </a:defRPr>
            </a:lvl1pPr>
            <a:lvl2pPr>
              <a:spcAft>
                <a:spcPts val="1333"/>
              </a:spcAft>
              <a:defRPr/>
            </a:lvl2pPr>
            <a:lvl3pPr marL="0" indent="0">
              <a:spcAft>
                <a:spcPts val="1333"/>
              </a:spcAft>
              <a:buNone/>
              <a:defRPr/>
            </a:lvl3pPr>
            <a:lvl4pPr marL="235194" indent="-235194">
              <a:spcAft>
                <a:spcPts val="1333"/>
              </a:spcAft>
              <a:buFont typeface="Arial" panose="020B0604020202020204" pitchFamily="34" charset="0"/>
              <a:buChar char="•"/>
              <a:defRPr/>
            </a:lvl4pPr>
            <a:lvl5pPr marL="475188" indent="-235194">
              <a:spcAft>
                <a:spcPts val="1333"/>
              </a:spcAft>
              <a:defRPr baseline="0"/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502920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6167796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7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0467635" y="1857892"/>
            <a:ext cx="1244161" cy="549275"/>
          </a:xfrm>
        </p:spPr>
        <p:txBody>
          <a:bodyPr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502920" y="4249681"/>
            <a:ext cx="5544000" cy="1695451"/>
          </a:xfrm>
        </p:spPr>
        <p:txBody>
          <a:bodyPr>
            <a:noAutofit/>
          </a:bodyPr>
          <a:lstStyle>
            <a:lvl1pPr>
              <a:spcAft>
                <a:spcPts val="1333"/>
              </a:spcAft>
              <a:defRPr b="1">
                <a:solidFill>
                  <a:schemeClr val="accent1"/>
                </a:solidFill>
              </a:defRPr>
            </a:lvl1pPr>
            <a:lvl2pPr>
              <a:spcAft>
                <a:spcPts val="1333"/>
              </a:spcAft>
              <a:defRPr/>
            </a:lvl2pPr>
            <a:lvl3pPr marL="0" indent="0">
              <a:spcAft>
                <a:spcPts val="1333"/>
              </a:spcAft>
              <a:buNone/>
              <a:defRPr/>
            </a:lvl3pPr>
            <a:lvl4pPr marL="235194" indent="-235194">
              <a:spcAft>
                <a:spcPts val="1333"/>
              </a:spcAft>
              <a:buFont typeface="Arial" panose="020B0604020202020204" pitchFamily="34" charset="0"/>
              <a:buChar char="•"/>
              <a:defRPr/>
            </a:lvl4pPr>
            <a:lvl5pPr marL="475188" indent="-235194">
              <a:spcAft>
                <a:spcPts val="1333"/>
              </a:spcAft>
              <a:defRPr baseline="0"/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23"/>
          </p:nvPr>
        </p:nvSpPr>
        <p:spPr>
          <a:xfrm>
            <a:off x="6177460" y="4249681"/>
            <a:ext cx="5544000" cy="1695451"/>
          </a:xfrm>
        </p:spPr>
        <p:txBody>
          <a:bodyPr>
            <a:noAutofit/>
          </a:bodyPr>
          <a:lstStyle>
            <a:lvl1pPr>
              <a:spcAft>
                <a:spcPts val="1333"/>
              </a:spcAft>
              <a:defRPr b="1">
                <a:solidFill>
                  <a:schemeClr val="accent1"/>
                </a:solidFill>
              </a:defRPr>
            </a:lvl1pPr>
            <a:lvl2pPr>
              <a:spcAft>
                <a:spcPts val="1333"/>
              </a:spcAft>
              <a:defRPr/>
            </a:lvl2pPr>
            <a:lvl3pPr marL="0" indent="0">
              <a:spcAft>
                <a:spcPts val="1333"/>
              </a:spcAft>
              <a:buNone/>
              <a:defRPr/>
            </a:lvl3pPr>
            <a:lvl4pPr marL="235194" indent="-235194">
              <a:spcAft>
                <a:spcPts val="1333"/>
              </a:spcAft>
              <a:buFont typeface="Arial" panose="020B0604020202020204" pitchFamily="34" charset="0"/>
              <a:buChar char="•"/>
              <a:defRPr/>
            </a:lvl4pPr>
            <a:lvl5pPr marL="475188" indent="-235194">
              <a:spcAft>
                <a:spcPts val="1333"/>
              </a:spcAft>
              <a:defRPr baseline="0"/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502920" y="4103519"/>
            <a:ext cx="5544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6167796" y="4103519"/>
            <a:ext cx="5544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14" name="Picture Placeholder 29"/>
          <p:cNvSpPr>
            <a:spLocks noGrp="1"/>
          </p:cNvSpPr>
          <p:nvPr>
            <p:ph type="pic" sz="quarter" idx="24" hasCustomPrompt="1"/>
          </p:nvPr>
        </p:nvSpPr>
        <p:spPr>
          <a:xfrm>
            <a:off x="4700436" y="4249683"/>
            <a:ext cx="1274916" cy="549275"/>
          </a:xfrm>
        </p:spPr>
        <p:txBody>
          <a:bodyPr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15" name="Picture Placeholder 29"/>
          <p:cNvSpPr>
            <a:spLocks noGrp="1"/>
          </p:cNvSpPr>
          <p:nvPr>
            <p:ph type="pic" sz="quarter" idx="25" hasCustomPrompt="1"/>
          </p:nvPr>
        </p:nvSpPr>
        <p:spPr>
          <a:xfrm>
            <a:off x="10459036" y="4248209"/>
            <a:ext cx="1244160" cy="549275"/>
          </a:xfrm>
        </p:spPr>
        <p:txBody>
          <a:bodyPr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17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4734795" y="1863917"/>
            <a:ext cx="1244906" cy="549275"/>
          </a:xfrm>
        </p:spPr>
        <p:txBody>
          <a:bodyPr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2920" y="64922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9" name="Title Placeholder 1"/>
          <p:cNvSpPr>
            <a:spLocks noGrp="1"/>
          </p:cNvSpPr>
          <p:nvPr>
            <p:ph type="title"/>
          </p:nvPr>
        </p:nvSpPr>
        <p:spPr>
          <a:xfrm>
            <a:off x="502920" y="320040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97561385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column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2920" y="2556000"/>
            <a:ext cx="2592000" cy="3394800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1333"/>
              </a:spcAft>
              <a:defRPr/>
            </a:lvl2pPr>
            <a:lvl3pPr marL="0" indent="0">
              <a:spcAft>
                <a:spcPts val="1333"/>
              </a:spcAft>
              <a:buNone/>
              <a:defRPr/>
            </a:lvl3pPr>
            <a:lvl4pPr marL="235194" indent="-235194">
              <a:spcAft>
                <a:spcPts val="1333"/>
              </a:spcAft>
              <a:buFont typeface="Arial" panose="020B0604020202020204" pitchFamily="34" charset="0"/>
              <a:buChar char="•"/>
              <a:defRPr/>
            </a:lvl4pPr>
            <a:lvl5pPr marL="475188" indent="-235194">
              <a:spcAft>
                <a:spcPts val="1333"/>
              </a:spcAft>
              <a:defRPr baseline="0"/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9130100" y="2556000"/>
            <a:ext cx="2592000" cy="3394800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1333"/>
              </a:spcAft>
              <a:defRPr/>
            </a:lvl2pPr>
            <a:lvl3pPr marL="0" indent="0">
              <a:spcAft>
                <a:spcPts val="1333"/>
              </a:spcAft>
              <a:buNone/>
              <a:defRPr/>
            </a:lvl3pPr>
            <a:lvl4pPr marL="235194" indent="-235194">
              <a:spcAft>
                <a:spcPts val="1333"/>
              </a:spcAft>
              <a:buFont typeface="Arial" panose="020B0604020202020204" pitchFamily="34" charset="0"/>
              <a:buChar char="•"/>
              <a:defRPr/>
            </a:lvl4pPr>
            <a:lvl5pPr marL="475188" indent="-235194">
              <a:spcAft>
                <a:spcPts val="1333"/>
              </a:spcAft>
              <a:defRPr baseline="0"/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56633" y="2556000"/>
            <a:ext cx="2592000" cy="3394800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1333"/>
              </a:spcAft>
              <a:defRPr/>
            </a:lvl2pPr>
            <a:lvl3pPr marL="0" indent="0">
              <a:spcAft>
                <a:spcPts val="1333"/>
              </a:spcAft>
              <a:buNone/>
              <a:defRPr/>
            </a:lvl3pPr>
            <a:lvl4pPr marL="235194" indent="-235194">
              <a:spcAft>
                <a:spcPts val="1333"/>
              </a:spcAft>
              <a:buFont typeface="Arial" panose="020B0604020202020204" pitchFamily="34" charset="0"/>
              <a:buChar char="•"/>
              <a:defRPr/>
            </a:lvl4pPr>
            <a:lvl5pPr marL="475188" indent="-235194">
              <a:spcAft>
                <a:spcPts val="1333"/>
              </a:spcAft>
              <a:defRPr baseline="0"/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243366" y="2556000"/>
            <a:ext cx="2592000" cy="3394800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1333"/>
              </a:spcAft>
              <a:defRPr/>
            </a:lvl2pPr>
            <a:lvl3pPr marL="0" indent="0">
              <a:spcAft>
                <a:spcPts val="1333"/>
              </a:spcAft>
              <a:buNone/>
              <a:defRPr/>
            </a:lvl3pPr>
            <a:lvl4pPr marL="235194" indent="-235194">
              <a:spcAft>
                <a:spcPts val="1333"/>
              </a:spcAft>
              <a:buFont typeface="Arial" panose="020B0604020202020204" pitchFamily="34" charset="0"/>
              <a:buChar char="•"/>
              <a:defRPr/>
            </a:lvl4pPr>
            <a:lvl5pPr marL="475188" indent="-235194">
              <a:spcAft>
                <a:spcPts val="1333"/>
              </a:spcAft>
              <a:defRPr baseline="0"/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2920" y="64922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502920" y="320040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12430734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title, 1 column text with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8"/>
          <p:cNvSpPr>
            <a:spLocks noGrp="1"/>
          </p:cNvSpPr>
          <p:nvPr>
            <p:ph idx="1"/>
          </p:nvPr>
        </p:nvSpPr>
        <p:spPr>
          <a:xfrm>
            <a:off x="502920" y="1665817"/>
            <a:ext cx="5537730" cy="46333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2920" y="64922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502920" y="320040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7089491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502920" y="320040"/>
            <a:ext cx="112522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2278702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23936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on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0560" y="365760"/>
            <a:ext cx="10850883" cy="914400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0560" y="1463040"/>
            <a:ext cx="10850881" cy="4754880"/>
          </a:xfrm>
          <a:prstGeom prst="rect">
            <a:avLst/>
          </a:prstGeom>
        </p:spPr>
        <p:txBody>
          <a:bodyPr/>
          <a:lstStyle>
            <a:lvl1pPr>
              <a:spcBef>
                <a:spcPts val="2400"/>
              </a:spcBef>
              <a:defRPr sz="1600" b="0">
                <a:solidFill>
                  <a:schemeClr val="tx1"/>
                </a:solidFill>
                <a:latin typeface="+mn-lt"/>
              </a:defRPr>
            </a:lvl1pPr>
            <a:lvl2pPr>
              <a:defRPr sz="1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9978E-4257-7D45-8D05-42F33E14DE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98897" y="6356351"/>
            <a:ext cx="1584960" cy="365125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1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defTabSz="1219170" fontAlgn="auto">
              <a:spcBef>
                <a:spcPts val="0"/>
              </a:spcBef>
              <a:spcAft>
                <a:spcPts val="0"/>
              </a:spcAft>
            </a:pPr>
            <a:fld id="{1FA733F8-EDF8-4CED-962D-C3696A5F6688}" type="datetime4">
              <a:rPr lang="en-US" smtClean="0">
                <a:solidFill>
                  <a:srgbClr val="000000"/>
                </a:solidFill>
                <a:ea typeface="+mn-ea"/>
              </a:rPr>
              <a:t>October 31, 2025</a:t>
            </a:fld>
            <a:endParaRPr lang="en-US">
              <a:solidFill>
                <a:srgbClr val="000000"/>
              </a:solidFill>
              <a:ea typeface="+mn-ea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D73E6-FA98-1746-8269-D92504B6DC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19295" y="6356351"/>
            <a:ext cx="5974080" cy="365125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1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defTabSz="1219170" fontAlgn="auto">
              <a:spcBef>
                <a:spcPts val="0"/>
              </a:spcBef>
              <a:spcAft>
                <a:spcPts val="0"/>
              </a:spcAft>
            </a:pPr>
            <a:r>
              <a:rPr lang="en-US">
                <a:solidFill>
                  <a:srgbClr val="000000"/>
                </a:solidFill>
                <a:ea typeface="+mn-ea"/>
              </a:rPr>
              <a:t>Deloitte Consulting Recommendations|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6F846-AE8C-A847-8E1B-9D1F016B52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5053" y="6438012"/>
            <a:ext cx="390144" cy="283464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ctr">
              <a:defRPr sz="10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defTabSz="1219170" fontAlgn="auto">
              <a:spcBef>
                <a:spcPts val="0"/>
              </a:spcBef>
              <a:spcAft>
                <a:spcPts val="0"/>
              </a:spcAft>
            </a:pPr>
            <a:fld id="{A2885E78-1F86-4A3D-9EE1-B0103B1CEF15}" type="slidenum">
              <a:rPr lang="en-US" smtClean="0">
                <a:solidFill>
                  <a:srgbClr val="000000"/>
                </a:solidFill>
                <a:ea typeface="+mn-ea"/>
              </a:rPr>
              <a:pPr defTabSz="1219170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srgbClr val="000000"/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444951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10817995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microsoft.com/office/2007/relationships/hdphoto" Target="../media/hdphoto1.wdp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6099D-07EC-47E9-8EFE-18FEFB0F8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EAEA5-A417-4FE7-8901-0B7FA3498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8" name="text" descr="{&quot;templafy&quot;:{&quot;id&quot;:&quot;3de7713e-49a2-40ee-aa4d-a3909757c680&quot;}}" title="UserProfile.LegalEntity.Copyright">
            <a:extLst>
              <a:ext uri="{FF2B5EF4-FFF2-40B4-BE49-F238E27FC236}">
                <a16:creationId xmlns:a16="http://schemas.microsoft.com/office/drawing/2014/main" id="{964A7DD5-AB6F-1F7E-5693-4BA2D4036D6B}"/>
              </a:ext>
            </a:extLst>
          </p:cNvPr>
          <p:cNvSpPr/>
          <p:nvPr userDrawn="1"/>
        </p:nvSpPr>
        <p:spPr bwMode="gray">
          <a:xfrm>
            <a:off x="501648" y="6477000"/>
            <a:ext cx="5355168" cy="275411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t"/>
          <a:lstStyle/>
          <a:p>
            <a:pPr algn="l">
              <a:lnSpc>
                <a:spcPct val="106000"/>
              </a:lnSpc>
              <a:buFont typeface="Wingdings 2" pitchFamily="18" charset="2"/>
              <a:buNone/>
            </a:pPr>
            <a:r>
              <a:rPr lang="en-GB" sz="9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© 2024 Deloitte – Sociedade de Auditores e Contabilistas Certificados, Lda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7C569B-486A-0983-AC7E-249220B0A801}"/>
              </a:ext>
            </a:extLst>
          </p:cNvPr>
          <p:cNvSpPr txBox="1"/>
          <p:nvPr userDrawn="1"/>
        </p:nvSpPr>
        <p:spPr>
          <a:xfrm>
            <a:off x="11382377" y="6477001"/>
            <a:ext cx="3079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900" noProof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900" noProof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91439FEC-6109-EB52-72D1-1BAF270F19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35184" y="6478588"/>
            <a:ext cx="4896559" cy="27541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/>
          <a:lstStyle>
            <a:lvl1pPr algn="r">
              <a:defRPr lang="en-GB" sz="9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/>
              <a:t>EDM Fase 1 &amp; 2 Replaneamento </a:t>
            </a:r>
            <a:endParaRPr lang="en-ZA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F10170AB-8FF2-4A92-B888-6356E935CB8E}"/>
              </a:ext>
            </a:extLst>
          </p:cNvPr>
          <p:cNvPicPr>
            <a:picLocks noChangeAspect="1"/>
          </p:cNvPicPr>
          <p:nvPr userDrawn="1"/>
        </p:nvPicPr>
        <p:blipFill>
          <a:blip r:embed="rId31"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backgroundRemoval t="4717" b="96698" l="7143" r="89916">
                        <a14:foregroundMark x1="12185" y1="30189" x2="12185" y2="30189"/>
                        <a14:foregroundMark x1="48319" y1="4717" x2="48319" y2="4717"/>
                        <a14:foregroundMark x1="7983" y1="46226" x2="7983" y2="46226"/>
                        <a14:foregroundMark x1="90756" y1="51887" x2="90756" y2="51887"/>
                        <a14:foregroundMark x1="50840" y1="91038" x2="50840" y2="91038"/>
                        <a14:foregroundMark x1="47899" y1="96698" x2="47899" y2="9669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501828" y="46655"/>
            <a:ext cx="634186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299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  <p:sldLayoutId id="2147483758" r:id="rId13"/>
    <p:sldLayoutId id="2147483706" r:id="rId14"/>
    <p:sldLayoutId id="2147483707" r:id="rId15"/>
    <p:sldLayoutId id="2147483713" r:id="rId16"/>
    <p:sldLayoutId id="2147483753" r:id="rId17"/>
    <p:sldLayoutId id="2147483681" r:id="rId18"/>
    <p:sldLayoutId id="2147483735" r:id="rId19"/>
    <p:sldLayoutId id="2147483699" r:id="rId20"/>
    <p:sldLayoutId id="2147483695" r:id="rId21"/>
    <p:sldLayoutId id="2147483751" r:id="rId22"/>
    <p:sldLayoutId id="2147483724" r:id="rId23"/>
    <p:sldLayoutId id="2147483726" r:id="rId24"/>
    <p:sldLayoutId id="2147483698" r:id="rId25"/>
    <p:sldLayoutId id="2147483752" r:id="rId26"/>
    <p:sldLayoutId id="2147483696" r:id="rId27"/>
    <p:sldLayoutId id="2147483962" r:id="rId28"/>
    <p:sldLayoutId id="2147483967" r:id="rId29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098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orient="horz" pos="3968" userDrawn="1">
          <p15:clr>
            <a:srgbClr val="F26B43"/>
          </p15:clr>
        </p15:guide>
        <p15:guide id="4" pos="296" userDrawn="1">
          <p15:clr>
            <a:srgbClr val="F26B43"/>
          </p15:clr>
        </p15:guide>
        <p15:guide id="5" pos="7384" userDrawn="1">
          <p15:clr>
            <a:srgbClr val="F26B43"/>
          </p15:clr>
        </p15:guide>
        <p15:guide id="6" orient="horz" pos="1071" userDrawn="1">
          <p15:clr>
            <a:srgbClr val="F26B43"/>
          </p15:clr>
        </p15:guide>
        <p15:guide id="7" orient="horz" pos="245" userDrawn="1">
          <p15:clr>
            <a:srgbClr val="F26B43"/>
          </p15:clr>
        </p15:guide>
        <p15:guide id="8" orient="horz" pos="4081" userDrawn="1">
          <p15:clr>
            <a:srgbClr val="F26B43"/>
          </p15:clr>
        </p15:guide>
        <p15:guide id="9" pos="4986" userDrawn="1">
          <p15:clr>
            <a:srgbClr val="F26B43"/>
          </p15:clr>
        </p15:guide>
        <p15:guide id="10" pos="1382" userDrawn="1">
          <p15:clr>
            <a:srgbClr val="F26B43"/>
          </p15:clr>
        </p15:guide>
        <p15:guide id="11" pos="1496" userDrawn="1">
          <p15:clr>
            <a:srgbClr val="F26B43"/>
          </p15:clr>
        </p15:guide>
        <p15:guide id="12" pos="2581" userDrawn="1">
          <p15:clr>
            <a:srgbClr val="F26B43"/>
          </p15:clr>
        </p15:guide>
        <p15:guide id="13" pos="2695" userDrawn="1">
          <p15:clr>
            <a:srgbClr val="F26B43"/>
          </p15:clr>
        </p15:guide>
        <p15:guide id="14" pos="6185" userDrawn="1">
          <p15:clr>
            <a:srgbClr val="F26B43"/>
          </p15:clr>
        </p15:guide>
        <p15:guide id="15" pos="3783" userDrawn="1">
          <p15:clr>
            <a:srgbClr val="F26B43"/>
          </p15:clr>
        </p15:guide>
        <p15:guide id="16" pos="3896" userDrawn="1">
          <p15:clr>
            <a:srgbClr val="F26B43"/>
          </p15:clr>
        </p15:guide>
        <p15:guide id="17" pos="3840" userDrawn="1">
          <p15:clr>
            <a:srgbClr val="F26B43"/>
          </p15:clr>
        </p15:guide>
        <p15:guide id="18" pos="6299" userDrawn="1">
          <p15:clr>
            <a:srgbClr val="F26B43"/>
          </p15:clr>
        </p15:guide>
        <p15:guide id="19" orient="horz" pos="1049" userDrawn="1">
          <p15:clr>
            <a:srgbClr val="F26B43"/>
          </p15:clr>
        </p15:guide>
        <p15:guide id="20" orient="horz" pos="641" userDrawn="1">
          <p15:clr>
            <a:srgbClr val="F26B43"/>
          </p15:clr>
        </p15:guide>
        <p15:guide id="21" orient="horz" pos="2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F0889832-402B-4545-9854-D7F24253DBE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76069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3" imgH="493" progId="TCLayout.ActiveDocument.1">
                  <p:embed/>
                </p:oleObj>
              </mc:Choice>
              <mc:Fallback>
                <p:oleObj name="think-cell Slide" r:id="rId3" imgW="493" imgH="493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F0889832-402B-4545-9854-D7F24253DB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AC97420-EF27-4E3E-AE93-CDD80C24C6FD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429208" y="5173599"/>
            <a:ext cx="7552742" cy="864125"/>
          </a:xfrm>
          <a:noFill/>
        </p:spPr>
        <p:txBody>
          <a:bodyPr vert="horz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ZA" sz="2800" b="1">
                <a:solidFill>
                  <a:schemeClr val="bg1"/>
                </a:solidFill>
                <a:latin typeface="+mj-lt"/>
                <a:ea typeface="Open Sans"/>
                <a:cs typeface="Calibri"/>
              </a:rPr>
              <a:t>EDM - </a:t>
            </a:r>
            <a:r>
              <a:rPr lang="pt-PT" sz="2800" b="1">
                <a:solidFill>
                  <a:schemeClr val="bg1"/>
                </a:solidFill>
                <a:latin typeface="+mj-lt"/>
                <a:ea typeface="Open Sans"/>
                <a:cs typeface="Calibri"/>
              </a:rPr>
              <a:t>Replaneamento da Fase 1 &amp; 2 </a:t>
            </a:r>
            <a:br>
              <a:rPr lang="pt-PT" sz="2800" b="1">
                <a:solidFill>
                  <a:schemeClr val="bg1"/>
                </a:solidFill>
                <a:latin typeface="+mj-lt"/>
                <a:ea typeface="Open Sans"/>
                <a:cs typeface="Calibri"/>
              </a:rPr>
            </a:br>
            <a:r>
              <a:rPr lang="en-ZA" sz="1800" b="1">
                <a:solidFill>
                  <a:schemeClr val="bg1"/>
                </a:solidFill>
                <a:latin typeface="+mj-lt"/>
                <a:ea typeface="Open Sans"/>
                <a:cs typeface="Calibri"/>
              </a:rPr>
              <a:t>Julho de 2024</a:t>
            </a:r>
            <a:r>
              <a:rPr lang="en-ZA" sz="2800" b="1">
                <a:solidFill>
                  <a:schemeClr val="bg1"/>
                </a:solidFill>
                <a:latin typeface="+mj-lt"/>
                <a:ea typeface="Open Sans"/>
                <a:cs typeface="Calibri"/>
              </a:rPr>
              <a:t> </a:t>
            </a:r>
            <a:endParaRPr lang="en-ZA" sz="2800" b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4638F82-E355-4AE7-AEE7-7AF8E2D42C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717" b="96698" l="7143" r="89916">
                        <a14:foregroundMark x1="12185" y1="30189" x2="12185" y2="30189"/>
                        <a14:foregroundMark x1="48319" y1="4717" x2="48319" y2="4717"/>
                        <a14:foregroundMark x1="7983" y1="46226" x2="7983" y2="46226"/>
                        <a14:foregroundMark x1="90756" y1="51887" x2="90756" y2="51887"/>
                        <a14:foregroundMark x1="50840" y1="91038" x2="50840" y2="91038"/>
                        <a14:foregroundMark x1="47899" y1="96698" x2="47899" y2="9669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501828" y="46655"/>
            <a:ext cx="634186" cy="612000"/>
          </a:xfrm>
          <a:prstGeom prst="rect">
            <a:avLst/>
          </a:prstGeom>
        </p:spPr>
      </p:pic>
      <p:pic>
        <p:nvPicPr>
          <p:cNvPr id="12" name="Picture 11" descr="A blue glowing lines and dots&#10;&#10;Description automatically generated with medium confidence">
            <a:extLst>
              <a:ext uri="{FF2B5EF4-FFF2-40B4-BE49-F238E27FC236}">
                <a16:creationId xmlns:a16="http://schemas.microsoft.com/office/drawing/2014/main" id="{169FCD40-AD1D-9ACE-4BD5-4023CB6C96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0164" y="1142991"/>
            <a:ext cx="6611672" cy="391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2056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17679EF-5DE1-49A3-A136-13A798ED40C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17679EF-5DE1-49A3-A136-13A798ED40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5">
            <a:extLst>
              <a:ext uri="{FF2B5EF4-FFF2-40B4-BE49-F238E27FC236}">
                <a16:creationId xmlns:a16="http://schemas.microsoft.com/office/drawing/2014/main" id="{C6DF79F9-E963-44DE-83EF-A2821E7BA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23" y="349517"/>
            <a:ext cx="10698480" cy="420189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pt-PT" sz="2800" b="1">
                <a:ea typeface="Verdana"/>
              </a:rPr>
              <a:t>Replaneamento da Fase 1 &amp; 2 | </a:t>
            </a:r>
            <a:r>
              <a:rPr lang="pt-PT" sz="2800">
                <a:ea typeface="Verdana"/>
              </a:rPr>
              <a:t>Plano numa Página - Nível 1</a:t>
            </a:r>
            <a:endParaRPr lang="en-ZA" sz="2800">
              <a:ea typeface="Verdana"/>
            </a:endParaRPr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131F0449-6E34-41A1-B16C-81401C10C2A5}"/>
              </a:ext>
            </a:extLst>
          </p:cNvPr>
          <p:cNvSpPr txBox="1">
            <a:spLocks/>
          </p:cNvSpPr>
          <p:nvPr/>
        </p:nvSpPr>
        <p:spPr>
          <a:xfrm>
            <a:off x="461822" y="769707"/>
            <a:ext cx="11426585" cy="7714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600">
                <a:ea typeface="Verdana"/>
              </a:rPr>
              <a:t>Abaixo encontra-se o Plano </a:t>
            </a:r>
            <a:r>
              <a:rPr lang="pt-PT" sz="1600" i="1" err="1">
                <a:ea typeface="Verdana"/>
              </a:rPr>
              <a:t>High-Level</a:t>
            </a:r>
            <a:r>
              <a:rPr lang="pt-PT" sz="1600">
                <a:ea typeface="Verdana"/>
              </a:rPr>
              <a:t> proposto para o período remanescente da Fase 1</a:t>
            </a:r>
            <a:endParaRPr lang="en-ZA" sz="1800">
              <a:ea typeface="Verdan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5864AC-D71B-1EF5-E415-92F3A668D2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116463"/>
              </p:ext>
            </p:extLst>
          </p:nvPr>
        </p:nvGraphicFramePr>
        <p:xfrm>
          <a:off x="303593" y="1346919"/>
          <a:ext cx="11584787" cy="46603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328">
                  <a:extLst>
                    <a:ext uri="{9D8B030D-6E8A-4147-A177-3AD203B41FA5}">
                      <a16:colId xmlns:a16="http://schemas.microsoft.com/office/drawing/2014/main" val="620005219"/>
                    </a:ext>
                  </a:extLst>
                </a:gridCol>
                <a:gridCol w="359784">
                  <a:extLst>
                    <a:ext uri="{9D8B030D-6E8A-4147-A177-3AD203B41FA5}">
                      <a16:colId xmlns:a16="http://schemas.microsoft.com/office/drawing/2014/main" val="3619358262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2619770351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3166678203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2313141890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4165277009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3597230632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63557699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3123628666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1562696834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945839103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482060751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2050613483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823468893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3535432487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3838773965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2751945772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1597414066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3756699648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2750429187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2999127045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542369285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933181328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1880500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2327927337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402339590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1551379888"/>
                    </a:ext>
                  </a:extLst>
                </a:gridCol>
              </a:tblGrid>
              <a:tr h="307938"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noProof="0">
                          <a:latin typeface="+mn-lt"/>
                        </a:rPr>
                        <a:t>01/07</a:t>
                      </a:r>
                    </a:p>
                  </a:txBody>
                  <a:tcPr marL="36000" marR="36000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noProof="0">
                          <a:latin typeface="+mn-lt"/>
                        </a:rPr>
                        <a:t>08/07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noProof="0">
                          <a:latin typeface="+mn-lt"/>
                        </a:rPr>
                        <a:t>15/07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noProof="0">
                          <a:latin typeface="+mn-lt"/>
                        </a:rPr>
                        <a:t>22/07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noProof="0">
                          <a:latin typeface="+mn-lt"/>
                        </a:rPr>
                        <a:t>29/07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noProof="0">
                          <a:latin typeface="+mn-lt"/>
                        </a:rPr>
                        <a:t>05/08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noProof="0">
                          <a:latin typeface="+mn-lt"/>
                        </a:rPr>
                        <a:t>26/08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noProof="0">
                          <a:latin typeface="+mn-lt"/>
                        </a:rPr>
                        <a:t>02/09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noProof="0">
                          <a:latin typeface="+mn-lt"/>
                        </a:rPr>
                        <a:t>09/09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noProof="0">
                          <a:latin typeface="+mn-lt"/>
                        </a:rPr>
                        <a:t>16/09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noProof="0">
                          <a:latin typeface="+mn-lt"/>
                        </a:rPr>
                        <a:t>23/09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noProof="0">
                          <a:latin typeface="+mn-lt"/>
                        </a:rPr>
                        <a:t>30/09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noProof="0">
                          <a:latin typeface="+mn-lt"/>
                        </a:rPr>
                        <a:t>07/10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noProof="0">
                          <a:latin typeface="+mn-lt"/>
                        </a:rPr>
                        <a:t>14/10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noProof="0">
                          <a:latin typeface="+mn-lt"/>
                        </a:rPr>
                        <a:t>21/10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noProof="0">
                          <a:latin typeface="+mn-lt"/>
                        </a:rPr>
                        <a:t>28/10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04/11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11/11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18/11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25/11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02/12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09/12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13/01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20/01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27/01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03/02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843202"/>
                  </a:ext>
                </a:extLst>
              </a:tr>
              <a:tr h="817215">
                <a:tc rowSpan="2"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1" i="1" kern="1200" noProof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PMO</a:t>
                      </a:r>
                    </a:p>
                  </a:txBody>
                  <a:tcPr marL="72000" marR="72000" marT="72000" marB="72000" vert="vert27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gridSpan="6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05874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1" kern="1200" noProof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Xxxxxx</a:t>
                      </a:r>
                      <a:endParaRPr lang="en-GB" sz="800" b="1" kern="1200" noProof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72000" marB="72000" vert="vert27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6" v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4383101"/>
                  </a:ext>
                </a:extLst>
              </a:tr>
              <a:tr h="851008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Procurement </a:t>
                      </a:r>
                    </a:p>
                  </a:txBody>
                  <a:tcPr marL="72000" marR="72000" marT="36000" marB="36000" vert="vert27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833319"/>
                  </a:ext>
                </a:extLst>
              </a:tr>
              <a:tr h="923798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Logística</a:t>
                      </a:r>
                    </a:p>
                  </a:txBody>
                  <a:tcPr marL="72000" marR="72000" marT="36000" marB="36000" vert="vert27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4570332"/>
                  </a:ext>
                </a:extLst>
              </a:tr>
              <a:tr h="291250">
                <a:tc gridSpan="27"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 Packages</a:t>
                      </a:r>
                      <a:endParaRPr kumimoji="0" lang="pt-PT" sz="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28868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72000" marR="72000" marT="72000" marB="72000" vert="vert27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617094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19&amp; 21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80782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72000" marR="72000" marT="72000" marB="72000" vert="vert27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287140"/>
                  </a:ext>
                </a:extLst>
              </a:tr>
            </a:tbl>
          </a:graphicData>
        </a:graphic>
      </p:graphicFrame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6EDC01AA-E11B-4D51-341F-E002733A6350}"/>
              </a:ext>
            </a:extLst>
          </p:cNvPr>
          <p:cNvCxnSpPr>
            <a:cxnSpLocks/>
            <a:stCxn id="24" idx="1"/>
          </p:cNvCxnSpPr>
          <p:nvPr/>
        </p:nvCxnSpPr>
        <p:spPr>
          <a:xfrm rot="10800000">
            <a:off x="588951" y="2108715"/>
            <a:ext cx="94060" cy="274431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E410C983-50F4-9480-B311-9376AF7B96D9}"/>
              </a:ext>
            </a:extLst>
          </p:cNvPr>
          <p:cNvSpPr/>
          <p:nvPr/>
        </p:nvSpPr>
        <p:spPr>
          <a:xfrm>
            <a:off x="683011" y="2238764"/>
            <a:ext cx="2138675" cy="28876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700" i="1">
                <a:solidFill>
                  <a:srgbClr val="34342B"/>
                </a:solidFill>
              </a:rPr>
              <a:t>Semana inicial para configurar o PMO, incluindo relatórios, criação de templates, planos de acção de Nível 2, workshop de mobilização e validações pendentes da Fase 1</a:t>
            </a:r>
          </a:p>
        </p:txBody>
      </p:sp>
      <p:sp>
        <p:nvSpPr>
          <p:cNvPr id="30" name="Arrow: Pentagon 29">
            <a:extLst>
              <a:ext uri="{FF2B5EF4-FFF2-40B4-BE49-F238E27FC236}">
                <a16:creationId xmlns:a16="http://schemas.microsoft.com/office/drawing/2014/main" id="{CF77C79E-EBEB-194C-E615-767B71B3382F}"/>
              </a:ext>
            </a:extLst>
          </p:cNvPr>
          <p:cNvSpPr/>
          <p:nvPr/>
        </p:nvSpPr>
        <p:spPr>
          <a:xfrm>
            <a:off x="500959" y="1884160"/>
            <a:ext cx="529101" cy="198000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Config.</a:t>
            </a:r>
          </a:p>
        </p:txBody>
      </p:sp>
      <p:sp>
        <p:nvSpPr>
          <p:cNvPr id="51" name="Diamond 50">
            <a:extLst>
              <a:ext uri="{FF2B5EF4-FFF2-40B4-BE49-F238E27FC236}">
                <a16:creationId xmlns:a16="http://schemas.microsoft.com/office/drawing/2014/main" id="{C6FE4774-0B05-2364-FD9F-04CAAF074693}"/>
              </a:ext>
            </a:extLst>
          </p:cNvPr>
          <p:cNvSpPr/>
          <p:nvPr/>
        </p:nvSpPr>
        <p:spPr>
          <a:xfrm>
            <a:off x="2096805" y="1914808"/>
            <a:ext cx="144000" cy="144000"/>
          </a:xfrm>
          <a:prstGeom prst="diamond">
            <a:avLst/>
          </a:prstGeom>
          <a:solidFill>
            <a:schemeClr val="accent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700">
              <a:solidFill>
                <a:srgbClr val="575756"/>
              </a:solidFill>
            </a:endParaRPr>
          </a:p>
        </p:txBody>
      </p:sp>
      <p:sp>
        <p:nvSpPr>
          <p:cNvPr id="56" name="Diamond 55">
            <a:extLst>
              <a:ext uri="{FF2B5EF4-FFF2-40B4-BE49-F238E27FC236}">
                <a16:creationId xmlns:a16="http://schemas.microsoft.com/office/drawing/2014/main" id="{55D27448-DBEF-9763-74C9-98BDDFEB8760}"/>
              </a:ext>
            </a:extLst>
          </p:cNvPr>
          <p:cNvSpPr/>
          <p:nvPr/>
        </p:nvSpPr>
        <p:spPr>
          <a:xfrm>
            <a:off x="9150613" y="1914808"/>
            <a:ext cx="144000" cy="144000"/>
          </a:xfrm>
          <a:prstGeom prst="diamond">
            <a:avLst/>
          </a:prstGeom>
          <a:solidFill>
            <a:schemeClr val="accent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700">
              <a:solidFill>
                <a:srgbClr val="575756"/>
              </a:solidFill>
            </a:endParaRPr>
          </a:p>
        </p:txBody>
      </p:sp>
      <p:sp>
        <p:nvSpPr>
          <p:cNvPr id="58" name="Diamond 57">
            <a:extLst>
              <a:ext uri="{FF2B5EF4-FFF2-40B4-BE49-F238E27FC236}">
                <a16:creationId xmlns:a16="http://schemas.microsoft.com/office/drawing/2014/main" id="{54352F14-1D7B-EF9C-806E-51956D5E2533}"/>
              </a:ext>
            </a:extLst>
          </p:cNvPr>
          <p:cNvSpPr/>
          <p:nvPr/>
        </p:nvSpPr>
        <p:spPr>
          <a:xfrm>
            <a:off x="7387161" y="1914808"/>
            <a:ext cx="144000" cy="144000"/>
          </a:xfrm>
          <a:prstGeom prst="diamond">
            <a:avLst/>
          </a:prstGeom>
          <a:solidFill>
            <a:schemeClr val="accent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700">
              <a:solidFill>
                <a:srgbClr val="575756"/>
              </a:solidFill>
            </a:endParaRPr>
          </a:p>
        </p:txBody>
      </p:sp>
      <p:sp>
        <p:nvSpPr>
          <p:cNvPr id="32" name="Arrow: Pentagon 31">
            <a:extLst>
              <a:ext uri="{FF2B5EF4-FFF2-40B4-BE49-F238E27FC236}">
                <a16:creationId xmlns:a16="http://schemas.microsoft.com/office/drawing/2014/main" id="{A30CC8C3-2FE5-239B-1BA4-249D6FD9036A}"/>
              </a:ext>
            </a:extLst>
          </p:cNvPr>
          <p:cNvSpPr/>
          <p:nvPr/>
        </p:nvSpPr>
        <p:spPr>
          <a:xfrm>
            <a:off x="510638" y="5263700"/>
            <a:ext cx="352374" cy="187200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3" name="Arrow: Pentagon 32">
            <a:extLst>
              <a:ext uri="{FF2B5EF4-FFF2-40B4-BE49-F238E27FC236}">
                <a16:creationId xmlns:a16="http://schemas.microsoft.com/office/drawing/2014/main" id="{5E61EFAE-24E6-E24D-80A7-9AB87308D409}"/>
              </a:ext>
            </a:extLst>
          </p:cNvPr>
          <p:cNvSpPr/>
          <p:nvPr/>
        </p:nvSpPr>
        <p:spPr>
          <a:xfrm>
            <a:off x="849554" y="5643394"/>
            <a:ext cx="3543728" cy="187200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700" b="1">
                <a:solidFill>
                  <a:schemeClr val="bg1"/>
                </a:solidFill>
              </a:rPr>
              <a:t>Providenciar suporte</a:t>
            </a:r>
            <a:r>
              <a:rPr kumimoji="0" lang="pt-PT" sz="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 a EDM para implementar especificação técnica para portal</a:t>
            </a:r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96385819-494A-F077-B121-20E770E16F31}"/>
              </a:ext>
            </a:extLst>
          </p:cNvPr>
          <p:cNvSpPr/>
          <p:nvPr/>
        </p:nvSpPr>
        <p:spPr>
          <a:xfrm>
            <a:off x="818810" y="2951429"/>
            <a:ext cx="1346901" cy="185841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00" b="1" i="1">
                <a:solidFill>
                  <a:schemeClr val="bg1"/>
                </a:solidFill>
              </a:rPr>
              <a:t>Squad</a:t>
            </a:r>
            <a:r>
              <a:rPr lang="en-GB" sz="700" b="1">
                <a:solidFill>
                  <a:schemeClr val="bg1"/>
                </a:solidFill>
              </a:rPr>
              <a:t> 1 Desenho</a:t>
            </a:r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BE7084A7-4C30-92DD-09CE-EB761A37FD65}"/>
              </a:ext>
            </a:extLst>
          </p:cNvPr>
          <p:cNvSpPr/>
          <p:nvPr/>
        </p:nvSpPr>
        <p:spPr>
          <a:xfrm>
            <a:off x="2171912" y="2951429"/>
            <a:ext cx="879023" cy="187200"/>
          </a:xfrm>
          <a:prstGeom prst="homePlate">
            <a:avLst/>
          </a:prstGeom>
          <a:solidFill>
            <a:schemeClr val="bg2">
              <a:lumMod val="75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00" b="1" i="1">
                <a:solidFill>
                  <a:schemeClr val="bg1"/>
                </a:solidFill>
              </a:rPr>
              <a:t>Squad</a:t>
            </a:r>
            <a:r>
              <a:rPr lang="en-GB" sz="700" b="1">
                <a:solidFill>
                  <a:schemeClr val="bg1"/>
                </a:solidFill>
              </a:rPr>
              <a:t> 1 </a:t>
            </a:r>
            <a:r>
              <a:rPr lang="en-GB" sz="700" b="1" i="1">
                <a:solidFill>
                  <a:schemeClr val="bg1"/>
                </a:solidFill>
              </a:rPr>
              <a:t>Embed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82E1C1-3A16-DD39-4646-E35AD2FA5F98}"/>
              </a:ext>
            </a:extLst>
          </p:cNvPr>
          <p:cNvSpPr/>
          <p:nvPr/>
        </p:nvSpPr>
        <p:spPr>
          <a:xfrm>
            <a:off x="818812" y="2783556"/>
            <a:ext cx="2232124" cy="155821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700" i="1">
                <a:solidFill>
                  <a:srgbClr val="34342B"/>
                </a:solidFill>
              </a:rPr>
              <a:t>Priorização do Planeamento de Procurement </a:t>
            </a:r>
            <a:endParaRPr kumimoji="0" lang="en-GB" sz="700" b="0" i="1" u="none" strike="noStrike" kern="1200" cap="none" spc="0" normalizeH="0" baseline="0" noProof="0">
              <a:ln>
                <a:noFill/>
              </a:ln>
              <a:solidFill>
                <a:srgbClr val="34342B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B79F4DF8-A461-A705-4E8A-5242CB91CDFA}"/>
              </a:ext>
            </a:extLst>
          </p:cNvPr>
          <p:cNvSpPr/>
          <p:nvPr/>
        </p:nvSpPr>
        <p:spPr>
          <a:xfrm>
            <a:off x="818810" y="3339156"/>
            <a:ext cx="3993773" cy="1872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00" b="1" i="1">
                <a:solidFill>
                  <a:schemeClr val="bg1"/>
                </a:solidFill>
              </a:rPr>
              <a:t>Squad</a:t>
            </a:r>
            <a:r>
              <a:rPr lang="en-GB" sz="700" b="1">
                <a:solidFill>
                  <a:schemeClr val="bg1"/>
                </a:solidFill>
              </a:rPr>
              <a:t> 2 Desenho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784334DD-D89B-2C4C-5393-52CD9CE86B68}"/>
              </a:ext>
            </a:extLst>
          </p:cNvPr>
          <p:cNvSpPr/>
          <p:nvPr/>
        </p:nvSpPr>
        <p:spPr>
          <a:xfrm>
            <a:off x="4812583" y="3338624"/>
            <a:ext cx="2194799" cy="188265"/>
          </a:xfrm>
          <a:prstGeom prst="homePlate">
            <a:avLst/>
          </a:prstGeom>
          <a:solidFill>
            <a:schemeClr val="bg2">
              <a:lumMod val="75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00" b="1" i="1">
                <a:solidFill>
                  <a:schemeClr val="bg1"/>
                </a:solidFill>
              </a:rPr>
              <a:t>Squad</a:t>
            </a:r>
            <a:r>
              <a:rPr lang="en-GB" sz="700" b="1">
                <a:solidFill>
                  <a:schemeClr val="bg1"/>
                </a:solidFill>
              </a:rPr>
              <a:t> 2 </a:t>
            </a:r>
            <a:r>
              <a:rPr lang="en-GB" sz="700" b="1" i="1">
                <a:solidFill>
                  <a:schemeClr val="bg1"/>
                </a:solidFill>
              </a:rPr>
              <a:t>Embed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F715FC-4547-0627-3275-7928A23ED5E8}"/>
              </a:ext>
            </a:extLst>
          </p:cNvPr>
          <p:cNvSpPr/>
          <p:nvPr/>
        </p:nvSpPr>
        <p:spPr>
          <a:xfrm>
            <a:off x="800149" y="3163961"/>
            <a:ext cx="2232124" cy="155821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700" i="1">
                <a:solidFill>
                  <a:srgbClr val="34342B"/>
                </a:solidFill>
              </a:rPr>
              <a:t>Procurement Operacional</a:t>
            </a:r>
            <a:endParaRPr kumimoji="0" lang="en-GB" sz="700" b="0" i="1" u="none" strike="noStrike" kern="1200" cap="none" spc="0" normalizeH="0" baseline="0" noProof="0">
              <a:ln>
                <a:noFill/>
              </a:ln>
              <a:solidFill>
                <a:srgbClr val="34342B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8" name="Arrow: Pentagon 67">
            <a:extLst>
              <a:ext uri="{FF2B5EF4-FFF2-40B4-BE49-F238E27FC236}">
                <a16:creationId xmlns:a16="http://schemas.microsoft.com/office/drawing/2014/main" id="{29534942-0B1B-8106-F9D8-DBF37A6D7800}"/>
              </a:ext>
            </a:extLst>
          </p:cNvPr>
          <p:cNvSpPr/>
          <p:nvPr/>
        </p:nvSpPr>
        <p:spPr>
          <a:xfrm>
            <a:off x="3067289" y="2951429"/>
            <a:ext cx="2194799" cy="186042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00" b="1" i="1">
                <a:solidFill>
                  <a:schemeClr val="bg1"/>
                </a:solidFill>
              </a:rPr>
              <a:t>Squad</a:t>
            </a:r>
            <a:r>
              <a:rPr lang="en-GB" sz="700" b="1">
                <a:solidFill>
                  <a:schemeClr val="bg1"/>
                </a:solidFill>
              </a:rPr>
              <a:t> 1 Desenho</a:t>
            </a:r>
          </a:p>
        </p:txBody>
      </p:sp>
      <p:sp>
        <p:nvSpPr>
          <p:cNvPr id="74" name="Arrow: Pentagon 73">
            <a:extLst>
              <a:ext uri="{FF2B5EF4-FFF2-40B4-BE49-F238E27FC236}">
                <a16:creationId xmlns:a16="http://schemas.microsoft.com/office/drawing/2014/main" id="{73C942A4-D0AB-43C6-7A05-0DAE46B8EDA5}"/>
              </a:ext>
            </a:extLst>
          </p:cNvPr>
          <p:cNvSpPr/>
          <p:nvPr/>
        </p:nvSpPr>
        <p:spPr>
          <a:xfrm>
            <a:off x="5268288" y="2950271"/>
            <a:ext cx="1286422" cy="187200"/>
          </a:xfrm>
          <a:prstGeom prst="homePlate">
            <a:avLst/>
          </a:prstGeom>
          <a:solidFill>
            <a:schemeClr val="bg2">
              <a:lumMod val="75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00" b="1" i="1">
                <a:solidFill>
                  <a:schemeClr val="bg1"/>
                </a:solidFill>
              </a:rPr>
              <a:t>Squad</a:t>
            </a:r>
            <a:r>
              <a:rPr lang="en-GB" sz="700" b="1">
                <a:solidFill>
                  <a:schemeClr val="bg1"/>
                </a:solidFill>
              </a:rPr>
              <a:t> 1 </a:t>
            </a:r>
            <a:r>
              <a:rPr lang="en-GB" sz="700" b="1" i="1">
                <a:solidFill>
                  <a:schemeClr val="bg1"/>
                </a:solidFill>
              </a:rPr>
              <a:t>Embed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6A621E9-F26E-D846-C40B-E2364A4922AE}"/>
              </a:ext>
            </a:extLst>
          </p:cNvPr>
          <p:cNvSpPr/>
          <p:nvPr/>
        </p:nvSpPr>
        <p:spPr>
          <a:xfrm>
            <a:off x="3067289" y="2783556"/>
            <a:ext cx="2232124" cy="155821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700" i="1">
                <a:solidFill>
                  <a:srgbClr val="34342B"/>
                </a:solidFill>
              </a:rPr>
              <a:t>Gestão de Fornecedores</a:t>
            </a:r>
            <a:endParaRPr kumimoji="0" lang="en-GB" sz="700" b="0" i="1" u="none" strike="noStrike" kern="1200" cap="none" spc="0" normalizeH="0" baseline="0" noProof="0">
              <a:ln>
                <a:noFill/>
              </a:ln>
              <a:solidFill>
                <a:srgbClr val="34342B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0" name="Arrow: Pentagon 79">
            <a:extLst>
              <a:ext uri="{FF2B5EF4-FFF2-40B4-BE49-F238E27FC236}">
                <a16:creationId xmlns:a16="http://schemas.microsoft.com/office/drawing/2014/main" id="{E52C031D-40A8-B121-16C7-0423345C701D}"/>
              </a:ext>
            </a:extLst>
          </p:cNvPr>
          <p:cNvSpPr/>
          <p:nvPr/>
        </p:nvSpPr>
        <p:spPr>
          <a:xfrm>
            <a:off x="6591253" y="2950579"/>
            <a:ext cx="1740642" cy="1872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00" b="1" i="1">
                <a:solidFill>
                  <a:schemeClr val="bg1"/>
                </a:solidFill>
              </a:rPr>
              <a:t>Squad</a:t>
            </a:r>
            <a:r>
              <a:rPr lang="en-GB" sz="700" b="1">
                <a:solidFill>
                  <a:schemeClr val="bg1"/>
                </a:solidFill>
              </a:rPr>
              <a:t> 1 Desenho</a:t>
            </a:r>
          </a:p>
        </p:txBody>
      </p:sp>
      <p:sp>
        <p:nvSpPr>
          <p:cNvPr id="77" name="Diamond 76">
            <a:extLst>
              <a:ext uri="{FF2B5EF4-FFF2-40B4-BE49-F238E27FC236}">
                <a16:creationId xmlns:a16="http://schemas.microsoft.com/office/drawing/2014/main" id="{1F3BD7AE-DE55-EAE6-D219-29A9466DEE0A}"/>
              </a:ext>
            </a:extLst>
          </p:cNvPr>
          <p:cNvSpPr/>
          <p:nvPr/>
        </p:nvSpPr>
        <p:spPr>
          <a:xfrm>
            <a:off x="6482724" y="2973158"/>
            <a:ext cx="144000" cy="144000"/>
          </a:xfrm>
          <a:prstGeom prst="diamond">
            <a:avLst/>
          </a:prstGeom>
          <a:solidFill>
            <a:srgbClr val="40749B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700">
              <a:solidFill>
                <a:srgbClr val="575756"/>
              </a:solidFill>
            </a:endParaRPr>
          </a:p>
        </p:txBody>
      </p:sp>
      <p:sp>
        <p:nvSpPr>
          <p:cNvPr id="81" name="Arrow: Pentagon 80">
            <a:extLst>
              <a:ext uri="{FF2B5EF4-FFF2-40B4-BE49-F238E27FC236}">
                <a16:creationId xmlns:a16="http://schemas.microsoft.com/office/drawing/2014/main" id="{BA7E12DA-B8EA-EA70-5F49-68A30BEACAD8}"/>
              </a:ext>
            </a:extLst>
          </p:cNvPr>
          <p:cNvSpPr/>
          <p:nvPr/>
        </p:nvSpPr>
        <p:spPr>
          <a:xfrm>
            <a:off x="8356522" y="2950579"/>
            <a:ext cx="872670" cy="187200"/>
          </a:xfrm>
          <a:prstGeom prst="homePlate">
            <a:avLst/>
          </a:prstGeom>
          <a:solidFill>
            <a:schemeClr val="bg2">
              <a:lumMod val="75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00" b="1">
                <a:solidFill>
                  <a:schemeClr val="bg1"/>
                </a:solidFill>
              </a:rPr>
              <a:t>Squad 1 </a:t>
            </a:r>
            <a:r>
              <a:rPr lang="en-GB" sz="700" b="1" i="1">
                <a:solidFill>
                  <a:schemeClr val="bg1"/>
                </a:solidFill>
              </a:rPr>
              <a:t>Embed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98E0F6E-A658-253A-87CA-392C6C565DA4}"/>
              </a:ext>
            </a:extLst>
          </p:cNvPr>
          <p:cNvSpPr/>
          <p:nvPr/>
        </p:nvSpPr>
        <p:spPr>
          <a:xfrm>
            <a:off x="6591253" y="2783556"/>
            <a:ext cx="2232124" cy="155821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700" i="1">
                <a:solidFill>
                  <a:srgbClr val="34342B"/>
                </a:solidFill>
              </a:rPr>
              <a:t>Gestão de Contratos</a:t>
            </a:r>
            <a:endParaRPr kumimoji="0" lang="en-GB" sz="700" b="0" i="1" u="none" strike="noStrike" kern="1200" cap="none" spc="0" normalizeH="0" baseline="0" noProof="0">
              <a:ln>
                <a:noFill/>
              </a:ln>
              <a:solidFill>
                <a:srgbClr val="34342B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7" name="Arrow: Pentagon 86">
            <a:extLst>
              <a:ext uri="{FF2B5EF4-FFF2-40B4-BE49-F238E27FC236}">
                <a16:creationId xmlns:a16="http://schemas.microsoft.com/office/drawing/2014/main" id="{E0F1CC5D-264B-2FE3-B01F-78E4F81DD9C2}"/>
              </a:ext>
            </a:extLst>
          </p:cNvPr>
          <p:cNvSpPr/>
          <p:nvPr/>
        </p:nvSpPr>
        <p:spPr>
          <a:xfrm>
            <a:off x="7007382" y="3339156"/>
            <a:ext cx="872670" cy="187200"/>
          </a:xfrm>
          <a:prstGeom prst="homePlate">
            <a:avLst/>
          </a:prstGeom>
          <a:solidFill>
            <a:srgbClr val="EABAA5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00" b="1" i="1">
                <a:solidFill>
                  <a:schemeClr val="bg1"/>
                </a:solidFill>
              </a:rPr>
              <a:t>Squad</a:t>
            </a:r>
            <a:r>
              <a:rPr lang="en-GB" sz="700" b="1">
                <a:solidFill>
                  <a:schemeClr val="bg1"/>
                </a:solidFill>
              </a:rPr>
              <a:t> 2 </a:t>
            </a:r>
            <a:r>
              <a:rPr lang="en-GB" sz="700" b="1" i="1">
                <a:solidFill>
                  <a:schemeClr val="bg1"/>
                </a:solidFill>
              </a:rPr>
              <a:t>Embed</a:t>
            </a:r>
          </a:p>
        </p:txBody>
      </p:sp>
      <p:sp>
        <p:nvSpPr>
          <p:cNvPr id="88" name="Arrow: Pentagon 87">
            <a:extLst>
              <a:ext uri="{FF2B5EF4-FFF2-40B4-BE49-F238E27FC236}">
                <a16:creationId xmlns:a16="http://schemas.microsoft.com/office/drawing/2014/main" id="{A487F7B3-1C29-75D9-2740-61FDA877C601}"/>
              </a:ext>
            </a:extLst>
          </p:cNvPr>
          <p:cNvSpPr/>
          <p:nvPr/>
        </p:nvSpPr>
        <p:spPr>
          <a:xfrm>
            <a:off x="7901670" y="3339156"/>
            <a:ext cx="457045" cy="187200"/>
          </a:xfrm>
          <a:prstGeom prst="homePlate">
            <a:avLst/>
          </a:prstGeom>
          <a:solidFill>
            <a:schemeClr val="bg2">
              <a:lumMod val="75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00" b="1" i="1">
                <a:solidFill>
                  <a:schemeClr val="bg1"/>
                </a:solidFill>
              </a:rPr>
              <a:t>Squad</a:t>
            </a:r>
            <a:r>
              <a:rPr lang="en-GB" sz="700" b="1">
                <a:solidFill>
                  <a:schemeClr val="bg1"/>
                </a:solidFill>
              </a:rPr>
              <a:t> 2 </a:t>
            </a:r>
            <a:r>
              <a:rPr lang="en-GB" sz="700" b="1" i="1">
                <a:solidFill>
                  <a:schemeClr val="bg1"/>
                </a:solidFill>
              </a:rPr>
              <a:t>Embed</a:t>
            </a:r>
          </a:p>
        </p:txBody>
      </p:sp>
      <p:sp>
        <p:nvSpPr>
          <p:cNvPr id="90" name="Diamond 89">
            <a:extLst>
              <a:ext uri="{FF2B5EF4-FFF2-40B4-BE49-F238E27FC236}">
                <a16:creationId xmlns:a16="http://schemas.microsoft.com/office/drawing/2014/main" id="{800FA1A2-E420-1AAA-3528-0543419EFA4C}"/>
              </a:ext>
            </a:extLst>
          </p:cNvPr>
          <p:cNvSpPr/>
          <p:nvPr/>
        </p:nvSpPr>
        <p:spPr>
          <a:xfrm>
            <a:off x="8296967" y="3360756"/>
            <a:ext cx="144000" cy="144000"/>
          </a:xfrm>
          <a:prstGeom prst="diamond">
            <a:avLst/>
          </a:prstGeom>
          <a:solidFill>
            <a:srgbClr val="40749B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700">
              <a:solidFill>
                <a:srgbClr val="575756"/>
              </a:solidFill>
            </a:endParaRPr>
          </a:p>
        </p:txBody>
      </p:sp>
      <p:sp>
        <p:nvSpPr>
          <p:cNvPr id="92" name="Diamond 91">
            <a:extLst>
              <a:ext uri="{FF2B5EF4-FFF2-40B4-BE49-F238E27FC236}">
                <a16:creationId xmlns:a16="http://schemas.microsoft.com/office/drawing/2014/main" id="{A7B3DC13-CD68-8463-504C-1E7048EA002F}"/>
              </a:ext>
            </a:extLst>
          </p:cNvPr>
          <p:cNvSpPr/>
          <p:nvPr/>
        </p:nvSpPr>
        <p:spPr>
          <a:xfrm>
            <a:off x="6924573" y="3360756"/>
            <a:ext cx="144000" cy="144000"/>
          </a:xfrm>
          <a:prstGeom prst="diamond">
            <a:avLst/>
          </a:prstGeom>
          <a:solidFill>
            <a:srgbClr val="40749B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700">
              <a:solidFill>
                <a:srgbClr val="575756"/>
              </a:solidFill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F137229-43A7-008B-C959-633F57DE4CD5}"/>
              </a:ext>
            </a:extLst>
          </p:cNvPr>
          <p:cNvSpPr/>
          <p:nvPr/>
        </p:nvSpPr>
        <p:spPr>
          <a:xfrm>
            <a:off x="7007382" y="3163961"/>
            <a:ext cx="948594" cy="155821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700" i="1">
                <a:solidFill>
                  <a:srgbClr val="34342B"/>
                </a:solidFill>
              </a:rPr>
              <a:t>Monitoria &amp; Controle</a:t>
            </a:r>
            <a:endParaRPr kumimoji="0" lang="en-GB" sz="700" b="0" i="1" u="none" strike="noStrike" kern="1200" cap="none" spc="0" normalizeH="0" baseline="0" noProof="0">
              <a:ln>
                <a:noFill/>
              </a:ln>
              <a:solidFill>
                <a:srgbClr val="34342B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5" name="Arrow: Pentagon 94">
            <a:extLst>
              <a:ext uri="{FF2B5EF4-FFF2-40B4-BE49-F238E27FC236}">
                <a16:creationId xmlns:a16="http://schemas.microsoft.com/office/drawing/2014/main" id="{51E9AE8F-FF87-9349-086E-7AEF54E265E4}"/>
              </a:ext>
            </a:extLst>
          </p:cNvPr>
          <p:cNvSpPr/>
          <p:nvPr/>
        </p:nvSpPr>
        <p:spPr>
          <a:xfrm>
            <a:off x="8358715" y="4125646"/>
            <a:ext cx="2224786" cy="187200"/>
          </a:xfrm>
          <a:prstGeom prst="homePlate">
            <a:avLst/>
          </a:prstGeom>
          <a:solidFill>
            <a:schemeClr val="bg2">
              <a:lumMod val="75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00" b="1" i="1">
                <a:solidFill>
                  <a:schemeClr val="bg1"/>
                </a:solidFill>
              </a:rPr>
              <a:t>Squad</a:t>
            </a:r>
            <a:r>
              <a:rPr lang="en-GB" sz="700" b="1">
                <a:solidFill>
                  <a:schemeClr val="bg1"/>
                </a:solidFill>
              </a:rPr>
              <a:t> 2 </a:t>
            </a:r>
            <a:r>
              <a:rPr lang="en-GB" sz="700" b="1" i="1">
                <a:solidFill>
                  <a:schemeClr val="bg1"/>
                </a:solidFill>
              </a:rPr>
              <a:t>Embed</a:t>
            </a:r>
            <a:r>
              <a:rPr lang="en-GB" sz="700" b="1">
                <a:solidFill>
                  <a:schemeClr val="bg1"/>
                </a:solidFill>
              </a:rPr>
              <a:t> (13 processos)</a:t>
            </a:r>
          </a:p>
        </p:txBody>
      </p:sp>
      <p:sp>
        <p:nvSpPr>
          <p:cNvPr id="96" name="Arrow: Pentagon 95">
            <a:extLst>
              <a:ext uri="{FF2B5EF4-FFF2-40B4-BE49-F238E27FC236}">
                <a16:creationId xmlns:a16="http://schemas.microsoft.com/office/drawing/2014/main" id="{F2E050DE-4E1E-421C-A036-6541640E5A70}"/>
              </a:ext>
            </a:extLst>
          </p:cNvPr>
          <p:cNvSpPr/>
          <p:nvPr/>
        </p:nvSpPr>
        <p:spPr>
          <a:xfrm>
            <a:off x="9229192" y="3689559"/>
            <a:ext cx="2224786" cy="187200"/>
          </a:xfrm>
          <a:prstGeom prst="homePlate">
            <a:avLst/>
          </a:prstGeom>
          <a:solidFill>
            <a:schemeClr val="bg2">
              <a:lumMod val="75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00" b="1" i="1">
                <a:solidFill>
                  <a:schemeClr val="bg1"/>
                </a:solidFill>
              </a:rPr>
              <a:t>Squad</a:t>
            </a:r>
            <a:r>
              <a:rPr lang="en-GB" sz="700" b="1">
                <a:solidFill>
                  <a:schemeClr val="bg1"/>
                </a:solidFill>
              </a:rPr>
              <a:t> 1 </a:t>
            </a:r>
            <a:r>
              <a:rPr lang="en-GB" sz="700" b="1" i="1">
                <a:solidFill>
                  <a:schemeClr val="bg1"/>
                </a:solidFill>
              </a:rPr>
              <a:t>Embed</a:t>
            </a:r>
            <a:r>
              <a:rPr lang="en-GB" sz="700" b="1">
                <a:solidFill>
                  <a:schemeClr val="bg1"/>
                </a:solidFill>
              </a:rPr>
              <a:t> (13 processos)</a:t>
            </a:r>
          </a:p>
        </p:txBody>
      </p:sp>
      <p:sp>
        <p:nvSpPr>
          <p:cNvPr id="97" name="Diamond 96">
            <a:extLst>
              <a:ext uri="{FF2B5EF4-FFF2-40B4-BE49-F238E27FC236}">
                <a16:creationId xmlns:a16="http://schemas.microsoft.com/office/drawing/2014/main" id="{C45111C5-60D3-6DE0-1597-B0539B51E806}"/>
              </a:ext>
            </a:extLst>
          </p:cNvPr>
          <p:cNvSpPr/>
          <p:nvPr/>
        </p:nvSpPr>
        <p:spPr>
          <a:xfrm>
            <a:off x="11360395" y="3711159"/>
            <a:ext cx="144000" cy="144000"/>
          </a:xfrm>
          <a:prstGeom prst="diamond">
            <a:avLst/>
          </a:prstGeom>
          <a:solidFill>
            <a:srgbClr val="40749B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700">
              <a:solidFill>
                <a:srgbClr val="575756"/>
              </a:solidFill>
            </a:endParaRPr>
          </a:p>
        </p:txBody>
      </p:sp>
      <p:sp>
        <p:nvSpPr>
          <p:cNvPr id="98" name="Diamond 97">
            <a:extLst>
              <a:ext uri="{FF2B5EF4-FFF2-40B4-BE49-F238E27FC236}">
                <a16:creationId xmlns:a16="http://schemas.microsoft.com/office/drawing/2014/main" id="{AA84F823-32EB-9008-D3A4-577C8C0FFEFE}"/>
              </a:ext>
            </a:extLst>
          </p:cNvPr>
          <p:cNvSpPr/>
          <p:nvPr/>
        </p:nvSpPr>
        <p:spPr>
          <a:xfrm>
            <a:off x="10473074" y="4144435"/>
            <a:ext cx="144000" cy="144000"/>
          </a:xfrm>
          <a:prstGeom prst="diamond">
            <a:avLst/>
          </a:prstGeom>
          <a:solidFill>
            <a:srgbClr val="40749B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700">
              <a:solidFill>
                <a:srgbClr val="575756"/>
              </a:solidFill>
            </a:endParaRPr>
          </a:p>
        </p:txBody>
      </p:sp>
      <p:sp>
        <p:nvSpPr>
          <p:cNvPr id="100" name="Arrow: Pentagon 99">
            <a:extLst>
              <a:ext uri="{FF2B5EF4-FFF2-40B4-BE49-F238E27FC236}">
                <a16:creationId xmlns:a16="http://schemas.microsoft.com/office/drawing/2014/main" id="{6B0916FF-79E0-0CD2-1C0F-F23538262616}"/>
              </a:ext>
            </a:extLst>
          </p:cNvPr>
          <p:cNvSpPr/>
          <p:nvPr/>
        </p:nvSpPr>
        <p:spPr>
          <a:xfrm>
            <a:off x="1740474" y="4845051"/>
            <a:ext cx="3543728" cy="187200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Processo para preparar novos &amp; manter especificações de engenharia existentes e catálogo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0B8AC99A-9485-0721-E255-976E0AF7C2DC}"/>
              </a:ext>
            </a:extLst>
          </p:cNvPr>
          <p:cNvSpPr/>
          <p:nvPr/>
        </p:nvSpPr>
        <p:spPr>
          <a:xfrm>
            <a:off x="3860257" y="1914808"/>
            <a:ext cx="144000" cy="144000"/>
          </a:xfrm>
          <a:prstGeom prst="diamond">
            <a:avLst/>
          </a:prstGeom>
          <a:solidFill>
            <a:schemeClr val="accent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700">
              <a:solidFill>
                <a:srgbClr val="575756"/>
              </a:solidFill>
            </a:endParaRPr>
          </a:p>
        </p:txBody>
      </p:sp>
      <p:sp>
        <p:nvSpPr>
          <p:cNvPr id="22" name="Diamond 21">
            <a:extLst>
              <a:ext uri="{FF2B5EF4-FFF2-40B4-BE49-F238E27FC236}">
                <a16:creationId xmlns:a16="http://schemas.microsoft.com/office/drawing/2014/main" id="{C7DF2215-6C30-7072-E9C3-13AB521E12E4}"/>
              </a:ext>
            </a:extLst>
          </p:cNvPr>
          <p:cNvSpPr/>
          <p:nvPr/>
        </p:nvSpPr>
        <p:spPr>
          <a:xfrm>
            <a:off x="5623709" y="1914808"/>
            <a:ext cx="144000" cy="144000"/>
          </a:xfrm>
          <a:prstGeom prst="diamond">
            <a:avLst/>
          </a:prstGeom>
          <a:solidFill>
            <a:schemeClr val="accent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700">
              <a:solidFill>
                <a:srgbClr val="575756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64D59E8-643B-C1FB-8BFE-DF87E67017C6}"/>
              </a:ext>
            </a:extLst>
          </p:cNvPr>
          <p:cNvSpPr/>
          <p:nvPr/>
        </p:nvSpPr>
        <p:spPr>
          <a:xfrm>
            <a:off x="3226683" y="2100037"/>
            <a:ext cx="2201183" cy="530248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900" b="1" i="1" u="sng">
                <a:solidFill>
                  <a:srgbClr val="34342B"/>
                </a:solidFill>
              </a:rPr>
              <a:t>PARAGEM DO PROJETO</a:t>
            </a:r>
            <a:r>
              <a:rPr lang="pt-PT" sz="900" i="1">
                <a:solidFill>
                  <a:srgbClr val="34342B"/>
                </a:solidFill>
              </a:rPr>
              <a:t>: </a:t>
            </a:r>
            <a:r>
              <a:rPr lang="pt-PT" sz="900" b="1">
                <a:solidFill>
                  <a:schemeClr val="tx1"/>
                </a:solidFill>
              </a:rPr>
              <a:t>equipa e especialistas de PT reduzida </a:t>
            </a:r>
            <a:r>
              <a:rPr lang="pt-PT" sz="900" i="1">
                <a:solidFill>
                  <a:srgbClr val="34342B"/>
                </a:solidFill>
              </a:rPr>
              <a:t>– 3 semanas em Agosto, priorizando o fim do planeamento do embedment (data final - 09 de Agosto)</a:t>
            </a:r>
            <a:endParaRPr kumimoji="0" lang="en-GB" sz="900" b="0" i="1" u="none" strike="noStrike" kern="1200" cap="none" spc="0" normalizeH="0" baseline="0" noProof="0">
              <a:ln>
                <a:noFill/>
              </a:ln>
              <a:solidFill>
                <a:srgbClr val="34342B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2" name="Diamond 81">
            <a:extLst>
              <a:ext uri="{FF2B5EF4-FFF2-40B4-BE49-F238E27FC236}">
                <a16:creationId xmlns:a16="http://schemas.microsoft.com/office/drawing/2014/main" id="{D137878F-939E-DD4D-236E-D3F1598446E0}"/>
              </a:ext>
            </a:extLst>
          </p:cNvPr>
          <p:cNvSpPr/>
          <p:nvPr/>
        </p:nvSpPr>
        <p:spPr>
          <a:xfrm>
            <a:off x="9148962" y="2973158"/>
            <a:ext cx="144000" cy="144000"/>
          </a:xfrm>
          <a:prstGeom prst="diamond">
            <a:avLst/>
          </a:prstGeom>
          <a:solidFill>
            <a:srgbClr val="40749B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700">
              <a:solidFill>
                <a:srgbClr val="575756"/>
              </a:solidFill>
            </a:endParaRP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7FDE7B80-2F29-BB30-C0BE-86B0F74178B9}"/>
              </a:ext>
            </a:extLst>
          </p:cNvPr>
          <p:cNvGrpSpPr/>
          <p:nvPr/>
        </p:nvGrpSpPr>
        <p:grpSpPr>
          <a:xfrm>
            <a:off x="515036" y="1167018"/>
            <a:ext cx="10959239" cy="130770"/>
            <a:chOff x="515036" y="1167018"/>
            <a:chExt cx="10959239" cy="13077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E76A35D-A658-5448-D499-B9D1680D34C2}"/>
                </a:ext>
              </a:extLst>
            </p:cNvPr>
            <p:cNvGrpSpPr/>
            <p:nvPr/>
          </p:nvGrpSpPr>
          <p:grpSpPr>
            <a:xfrm>
              <a:off x="515036" y="1167018"/>
              <a:ext cx="1599563" cy="130770"/>
              <a:chOff x="566197" y="1163388"/>
              <a:chExt cx="2710403" cy="130770"/>
            </a:xfrm>
          </p:grpSpPr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401309A2-59C8-323B-A55E-89EB9517F8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6197" y="1228773"/>
                <a:ext cx="2710403" cy="0"/>
              </a:xfrm>
              <a:prstGeom prst="line">
                <a:avLst/>
              </a:prstGeom>
              <a:ln w="19050">
                <a:solidFill>
                  <a:schemeClr val="accent5">
                    <a:lumMod val="50000"/>
                  </a:schemeClr>
                </a:solidFill>
                <a:prstDash val="solid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AC7FCEE-42E8-29BD-154B-CD0E81D2C811}"/>
                  </a:ext>
                </a:extLst>
              </p:cNvPr>
              <p:cNvSpPr/>
              <p:nvPr/>
            </p:nvSpPr>
            <p:spPr>
              <a:xfrm>
                <a:off x="1276637" y="1163388"/>
                <a:ext cx="1195521" cy="1307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1" u="none" strike="noStrike" kern="1200" cap="none" spc="0" normalizeH="0" baseline="0" noProof="0">
                    <a:ln>
                      <a:noFill/>
                    </a:ln>
                    <a:solidFill>
                      <a:srgbClr val="4A4D4E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Julho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AB780F2-954E-D9C7-9725-3A738BA618AC}"/>
                </a:ext>
              </a:extLst>
            </p:cNvPr>
            <p:cNvGrpSpPr/>
            <p:nvPr/>
          </p:nvGrpSpPr>
          <p:grpSpPr>
            <a:xfrm>
              <a:off x="2157288" y="1167018"/>
              <a:ext cx="1297936" cy="130770"/>
              <a:chOff x="566197" y="1163388"/>
              <a:chExt cx="2710403" cy="130770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6EACBA12-7144-DC13-A890-A859CF812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6197" y="1228773"/>
                <a:ext cx="2710403" cy="0"/>
              </a:xfrm>
              <a:prstGeom prst="line">
                <a:avLst/>
              </a:prstGeom>
              <a:ln w="19050">
                <a:solidFill>
                  <a:schemeClr val="accent5">
                    <a:lumMod val="50000"/>
                  </a:schemeClr>
                </a:solidFill>
                <a:prstDash val="solid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B757720-255D-788B-F8A0-D97CC6849ED0}"/>
                  </a:ext>
                </a:extLst>
              </p:cNvPr>
              <p:cNvSpPr/>
              <p:nvPr/>
            </p:nvSpPr>
            <p:spPr>
              <a:xfrm>
                <a:off x="861512" y="1163388"/>
                <a:ext cx="2025763" cy="1307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1" u="none" strike="noStrike" kern="1200" cap="none" spc="0" normalizeH="0" baseline="0" noProof="0">
                    <a:ln>
                      <a:noFill/>
                    </a:ln>
                    <a:solidFill>
                      <a:srgbClr val="4A4D4E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Agosto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2554ECC-C5EA-5CF7-D530-2AF11DF472E7}"/>
                </a:ext>
              </a:extLst>
            </p:cNvPr>
            <p:cNvGrpSpPr/>
            <p:nvPr/>
          </p:nvGrpSpPr>
          <p:grpSpPr>
            <a:xfrm>
              <a:off x="3530534" y="1167018"/>
              <a:ext cx="2134625" cy="130770"/>
              <a:chOff x="566197" y="1163388"/>
              <a:chExt cx="2710403" cy="130770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E64E4E0-96B9-3389-965C-B99D4B0C58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6197" y="1228773"/>
                <a:ext cx="2710403" cy="0"/>
              </a:xfrm>
              <a:prstGeom prst="line">
                <a:avLst/>
              </a:prstGeom>
              <a:ln w="19050">
                <a:solidFill>
                  <a:schemeClr val="accent5">
                    <a:lumMod val="50000"/>
                  </a:schemeClr>
                </a:solidFill>
                <a:prstDash val="solid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5F7A300A-2690-A1C3-274C-6000D5831D49}"/>
                  </a:ext>
                </a:extLst>
              </p:cNvPr>
              <p:cNvSpPr/>
              <p:nvPr/>
            </p:nvSpPr>
            <p:spPr>
              <a:xfrm>
                <a:off x="966523" y="1163388"/>
                <a:ext cx="1815739" cy="1307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1" u="none" strike="noStrike" kern="1200" cap="none" spc="0" normalizeH="0" baseline="0" noProof="0">
                    <a:ln>
                      <a:noFill/>
                    </a:ln>
                    <a:solidFill>
                      <a:srgbClr val="4A4D4E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Setembro</a:t>
                </a:r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6AAA5523-FE4B-9B70-3471-AD3735523274}"/>
                </a:ext>
              </a:extLst>
            </p:cNvPr>
            <p:cNvGrpSpPr/>
            <p:nvPr/>
          </p:nvGrpSpPr>
          <p:grpSpPr>
            <a:xfrm>
              <a:off x="5741630" y="1167018"/>
              <a:ext cx="1599563" cy="130770"/>
              <a:chOff x="566197" y="1163388"/>
              <a:chExt cx="2710403" cy="130770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D1F31BE3-28CC-F65F-9E50-3AB315A2F1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6197" y="1228773"/>
                <a:ext cx="2710403" cy="0"/>
              </a:xfrm>
              <a:prstGeom prst="line">
                <a:avLst/>
              </a:prstGeom>
              <a:ln w="19050">
                <a:solidFill>
                  <a:schemeClr val="accent5">
                    <a:lumMod val="50000"/>
                  </a:schemeClr>
                </a:solidFill>
                <a:prstDash val="solid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CDE306F7-DADA-12FE-4EB3-A4FC82DBC544}"/>
                  </a:ext>
                </a:extLst>
              </p:cNvPr>
              <p:cNvSpPr/>
              <p:nvPr/>
            </p:nvSpPr>
            <p:spPr>
              <a:xfrm>
                <a:off x="1276637" y="1163388"/>
                <a:ext cx="1195521" cy="1307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1" u="none" strike="noStrike" kern="1200" cap="none" spc="0" normalizeH="0" baseline="0" noProof="0">
                    <a:ln>
                      <a:noFill/>
                    </a:ln>
                    <a:solidFill>
                      <a:srgbClr val="4A4D4E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Outubro</a:t>
                </a:r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AD001D1E-C156-FEB5-873E-0534B122D4E9}"/>
                </a:ext>
              </a:extLst>
            </p:cNvPr>
            <p:cNvGrpSpPr/>
            <p:nvPr/>
          </p:nvGrpSpPr>
          <p:grpSpPr>
            <a:xfrm>
              <a:off x="7532113" y="1167018"/>
              <a:ext cx="1599563" cy="130770"/>
              <a:chOff x="566197" y="1163388"/>
              <a:chExt cx="2710403" cy="130770"/>
            </a:xfrm>
          </p:grpSpPr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3261F8F5-5B43-7943-E101-E3923AD3D0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6197" y="1228773"/>
                <a:ext cx="2710403" cy="0"/>
              </a:xfrm>
              <a:prstGeom prst="line">
                <a:avLst/>
              </a:prstGeom>
              <a:ln w="19050">
                <a:solidFill>
                  <a:schemeClr val="accent5">
                    <a:lumMod val="50000"/>
                  </a:schemeClr>
                </a:solidFill>
                <a:prstDash val="solid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C404E531-9D1C-39F8-8E45-3F1A9A8B7B7B}"/>
                  </a:ext>
                </a:extLst>
              </p:cNvPr>
              <p:cNvSpPr/>
              <p:nvPr/>
            </p:nvSpPr>
            <p:spPr>
              <a:xfrm>
                <a:off x="1246145" y="1163388"/>
                <a:ext cx="1256503" cy="1307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000" b="1" i="1">
                    <a:solidFill>
                      <a:srgbClr val="4A4D4E"/>
                    </a:solidFill>
                  </a:rPr>
                  <a:t>Novembro</a:t>
                </a:r>
                <a:endParaRPr kumimoji="0" lang="en-GB" sz="1000" b="1" i="1" u="none" strike="noStrike" kern="1200" cap="none" spc="0" normalizeH="0" baseline="0" noProof="0">
                  <a:ln>
                    <a:noFill/>
                  </a:ln>
                  <a:solidFill>
                    <a:srgbClr val="4A4D4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6CA4E768-6F5C-ED55-7A79-BE4DAD8642B8}"/>
                </a:ext>
              </a:extLst>
            </p:cNvPr>
            <p:cNvGrpSpPr/>
            <p:nvPr/>
          </p:nvGrpSpPr>
          <p:grpSpPr>
            <a:xfrm>
              <a:off x="9271843" y="1167018"/>
              <a:ext cx="781380" cy="130770"/>
              <a:chOff x="566197" y="1163388"/>
              <a:chExt cx="2710403" cy="130770"/>
            </a:xfrm>
          </p:grpSpPr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5FF21479-3397-5A54-2F18-66C5C04271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6197" y="1228773"/>
                <a:ext cx="2710403" cy="0"/>
              </a:xfrm>
              <a:prstGeom prst="line">
                <a:avLst/>
              </a:prstGeom>
              <a:ln w="19050">
                <a:solidFill>
                  <a:schemeClr val="accent5">
                    <a:lumMod val="50000"/>
                  </a:schemeClr>
                </a:solidFill>
                <a:prstDash val="solid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3FA605A0-F908-7BE4-6FE1-FB4214AA34AE}"/>
                  </a:ext>
                </a:extLst>
              </p:cNvPr>
              <p:cNvSpPr/>
              <p:nvPr/>
            </p:nvSpPr>
            <p:spPr>
              <a:xfrm>
                <a:off x="1207497" y="1163388"/>
                <a:ext cx="1333799" cy="1307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1" u="none" strike="noStrike" kern="1200" cap="none" spc="0" normalizeH="0" baseline="0" noProof="0">
                    <a:ln>
                      <a:noFill/>
                    </a:ln>
                    <a:solidFill>
                      <a:srgbClr val="4A4D4E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Dez</a:t>
                </a: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0788C0D7-6ED9-EFA5-CB54-B71B4CB5DA96}"/>
                </a:ext>
              </a:extLst>
            </p:cNvPr>
            <p:cNvGrpSpPr/>
            <p:nvPr/>
          </p:nvGrpSpPr>
          <p:grpSpPr>
            <a:xfrm>
              <a:off x="10176339" y="1167018"/>
              <a:ext cx="1297936" cy="130770"/>
              <a:chOff x="566197" y="1163388"/>
              <a:chExt cx="2710403" cy="130770"/>
            </a:xfrm>
          </p:grpSpPr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27FC9E23-B436-BA30-07DC-A4EE2AEA87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6197" y="1228773"/>
                <a:ext cx="2710403" cy="0"/>
              </a:xfrm>
              <a:prstGeom prst="line">
                <a:avLst/>
              </a:prstGeom>
              <a:ln w="19050">
                <a:solidFill>
                  <a:schemeClr val="accent5">
                    <a:lumMod val="50000"/>
                  </a:schemeClr>
                </a:solidFill>
                <a:prstDash val="solid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058E63E5-8900-A7CC-1227-D1D19D65F3B7}"/>
                  </a:ext>
                </a:extLst>
              </p:cNvPr>
              <p:cNvSpPr/>
              <p:nvPr/>
            </p:nvSpPr>
            <p:spPr>
              <a:xfrm>
                <a:off x="861512" y="1163388"/>
                <a:ext cx="2025763" cy="1307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1" u="none" strike="noStrike" kern="1200" cap="none" spc="0" normalizeH="0" baseline="0" noProof="0">
                    <a:ln>
                      <a:noFill/>
                    </a:ln>
                    <a:solidFill>
                      <a:srgbClr val="4A4D4E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Janeiro</a:t>
                </a:r>
              </a:p>
            </p:txBody>
          </p:sp>
        </p:grp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97189B29-0C73-62E8-83B1-EDDF32542975}"/>
              </a:ext>
            </a:extLst>
          </p:cNvPr>
          <p:cNvGrpSpPr/>
          <p:nvPr/>
        </p:nvGrpSpPr>
        <p:grpSpPr>
          <a:xfrm>
            <a:off x="636759" y="1645527"/>
            <a:ext cx="11251648" cy="215584"/>
            <a:chOff x="636759" y="1645527"/>
            <a:chExt cx="11251648" cy="215584"/>
          </a:xfrm>
        </p:grpSpPr>
        <p:sp>
          <p:nvSpPr>
            <p:cNvPr id="29" name="Arrow: Pentagon 28">
              <a:extLst>
                <a:ext uri="{FF2B5EF4-FFF2-40B4-BE49-F238E27FC236}">
                  <a16:creationId xmlns:a16="http://schemas.microsoft.com/office/drawing/2014/main" id="{F03BCC2B-3EA7-298D-D08E-0A1173F53A88}"/>
                </a:ext>
              </a:extLst>
            </p:cNvPr>
            <p:cNvSpPr/>
            <p:nvPr/>
          </p:nvSpPr>
          <p:spPr>
            <a:xfrm>
              <a:off x="636759" y="1663111"/>
              <a:ext cx="11251648" cy="198000"/>
            </a:xfrm>
            <a:prstGeom prst="homePlate">
              <a:avLst/>
            </a:prstGeom>
            <a:gradFill>
              <a:gsLst>
                <a:gs pos="0">
                  <a:srgbClr val="7F7F7F"/>
                </a:gs>
                <a:gs pos="50000">
                  <a:srgbClr val="7F7F7F"/>
                </a:gs>
                <a:gs pos="51000">
                  <a:schemeClr val="bg2">
                    <a:lumMod val="90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906CF1E-2A4A-BC5A-35D0-A8C837D211DA}"/>
                </a:ext>
              </a:extLst>
            </p:cNvPr>
            <p:cNvSpPr/>
            <p:nvPr/>
          </p:nvSpPr>
          <p:spPr>
            <a:xfrm>
              <a:off x="5340228" y="1645527"/>
              <a:ext cx="1621262" cy="1412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900" b="1" i="1">
                  <a:solidFill>
                    <a:schemeClr val="bg1"/>
                  </a:solidFill>
                </a:rPr>
                <a:t>PMO + Embedment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ABE865A-AF29-A602-9E8E-5AB3F19832AC}"/>
              </a:ext>
            </a:extLst>
          </p:cNvPr>
          <p:cNvGrpSpPr/>
          <p:nvPr/>
        </p:nvGrpSpPr>
        <p:grpSpPr>
          <a:xfrm>
            <a:off x="9995351" y="1232403"/>
            <a:ext cx="1509043" cy="3612648"/>
            <a:chOff x="9995351" y="1232403"/>
            <a:chExt cx="1509043" cy="3612648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BA23F0C5-6D71-222B-3EA2-A6B7D5C037B1}"/>
                </a:ext>
              </a:extLst>
            </p:cNvPr>
            <p:cNvGrpSpPr/>
            <p:nvPr/>
          </p:nvGrpSpPr>
          <p:grpSpPr>
            <a:xfrm>
              <a:off x="9995351" y="1232403"/>
              <a:ext cx="252000" cy="3612648"/>
              <a:chOff x="2921689" y="1232403"/>
              <a:chExt cx="252000" cy="3612648"/>
            </a:xfrm>
          </p:grpSpPr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1EB9D902-B0FE-15EE-BCD7-BAA4EB0B01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7689" y="1232403"/>
                <a:ext cx="0" cy="3612648"/>
              </a:xfrm>
              <a:prstGeom prst="line">
                <a:avLst/>
              </a:prstGeom>
              <a:ln w="381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A096CF42-831F-1A3D-66F2-219247F2D7E4}"/>
                  </a:ext>
                </a:extLst>
              </p:cNvPr>
              <p:cNvGrpSpPr/>
              <p:nvPr/>
            </p:nvGrpSpPr>
            <p:grpSpPr>
              <a:xfrm>
                <a:off x="2921689" y="2198481"/>
                <a:ext cx="252000" cy="252000"/>
                <a:chOff x="3104569" y="2353929"/>
                <a:chExt cx="252000" cy="252000"/>
              </a:xfrm>
            </p:grpSpPr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942DC6B1-83C3-EECE-8237-9DF5E7BEAFBD}"/>
                    </a:ext>
                  </a:extLst>
                </p:cNvPr>
                <p:cNvSpPr/>
                <p:nvPr/>
              </p:nvSpPr>
              <p:spPr>
                <a:xfrm>
                  <a:off x="3104569" y="2353929"/>
                  <a:ext cx="252000" cy="252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3" name="Freeform 5">
                  <a:extLst>
                    <a:ext uri="{FF2B5EF4-FFF2-40B4-BE49-F238E27FC236}">
                      <a16:creationId xmlns:a16="http://schemas.microsoft.com/office/drawing/2014/main" id="{987950A8-ADAD-951A-1A33-D2E5A362622C}"/>
                    </a:ext>
                  </a:extLst>
                </p:cNvPr>
                <p:cNvSpPr>
                  <a:spLocks noChangeAspect="1" noEditPoints="1"/>
                </p:cNvSpPr>
                <p:nvPr/>
              </p:nvSpPr>
              <p:spPr bwMode="auto">
                <a:xfrm>
                  <a:off x="3122569" y="2371929"/>
                  <a:ext cx="216000" cy="216000"/>
                </a:xfrm>
                <a:custGeom>
                  <a:avLst/>
                  <a:gdLst>
                    <a:gd name="T0" fmla="*/ 486 w 972"/>
                    <a:gd name="T1" fmla="*/ 0 h 972"/>
                    <a:gd name="T2" fmla="*/ 0 w 972"/>
                    <a:gd name="T3" fmla="*/ 486 h 972"/>
                    <a:gd name="T4" fmla="*/ 486 w 972"/>
                    <a:gd name="T5" fmla="*/ 972 h 972"/>
                    <a:gd name="T6" fmla="*/ 972 w 972"/>
                    <a:gd name="T7" fmla="*/ 486 h 972"/>
                    <a:gd name="T8" fmla="*/ 486 w 972"/>
                    <a:gd name="T9" fmla="*/ 0 h 972"/>
                    <a:gd name="T10" fmla="*/ 754 w 972"/>
                    <a:gd name="T11" fmla="*/ 333 h 972"/>
                    <a:gd name="T12" fmla="*/ 739 w 972"/>
                    <a:gd name="T13" fmla="*/ 338 h 972"/>
                    <a:gd name="T14" fmla="*/ 726 w 972"/>
                    <a:gd name="T15" fmla="*/ 333 h 972"/>
                    <a:gd name="T16" fmla="*/ 697 w 972"/>
                    <a:gd name="T17" fmla="*/ 304 h 972"/>
                    <a:gd name="T18" fmla="*/ 665 w 972"/>
                    <a:gd name="T19" fmla="*/ 335 h 972"/>
                    <a:gd name="T20" fmla="*/ 748 w 972"/>
                    <a:gd name="T21" fmla="*/ 526 h 972"/>
                    <a:gd name="T22" fmla="*/ 486 w 972"/>
                    <a:gd name="T23" fmla="*/ 790 h 972"/>
                    <a:gd name="T24" fmla="*/ 223 w 972"/>
                    <a:gd name="T25" fmla="*/ 526 h 972"/>
                    <a:gd name="T26" fmla="*/ 466 w 972"/>
                    <a:gd name="T27" fmla="*/ 264 h 972"/>
                    <a:gd name="T28" fmla="*/ 466 w 972"/>
                    <a:gd name="T29" fmla="*/ 223 h 972"/>
                    <a:gd name="T30" fmla="*/ 426 w 972"/>
                    <a:gd name="T31" fmla="*/ 223 h 972"/>
                    <a:gd name="T32" fmla="*/ 405 w 972"/>
                    <a:gd name="T33" fmla="*/ 202 h 972"/>
                    <a:gd name="T34" fmla="*/ 426 w 972"/>
                    <a:gd name="T35" fmla="*/ 183 h 972"/>
                    <a:gd name="T36" fmla="*/ 547 w 972"/>
                    <a:gd name="T37" fmla="*/ 183 h 972"/>
                    <a:gd name="T38" fmla="*/ 566 w 972"/>
                    <a:gd name="T39" fmla="*/ 202 h 972"/>
                    <a:gd name="T40" fmla="*/ 547 w 972"/>
                    <a:gd name="T41" fmla="*/ 223 h 972"/>
                    <a:gd name="T42" fmla="*/ 505 w 972"/>
                    <a:gd name="T43" fmla="*/ 223 h 972"/>
                    <a:gd name="T44" fmla="*/ 505 w 972"/>
                    <a:gd name="T45" fmla="*/ 264 h 972"/>
                    <a:gd name="T46" fmla="*/ 635 w 972"/>
                    <a:gd name="T47" fmla="*/ 310 h 972"/>
                    <a:gd name="T48" fmla="*/ 669 w 972"/>
                    <a:gd name="T49" fmla="*/ 276 h 972"/>
                    <a:gd name="T50" fmla="*/ 640 w 972"/>
                    <a:gd name="T51" fmla="*/ 245 h 972"/>
                    <a:gd name="T52" fmla="*/ 640 w 972"/>
                    <a:gd name="T53" fmla="*/ 217 h 972"/>
                    <a:gd name="T54" fmla="*/ 669 w 972"/>
                    <a:gd name="T55" fmla="*/ 217 h 972"/>
                    <a:gd name="T56" fmla="*/ 754 w 972"/>
                    <a:gd name="T57" fmla="*/ 304 h 972"/>
                    <a:gd name="T58" fmla="*/ 754 w 972"/>
                    <a:gd name="T59" fmla="*/ 333 h 972"/>
                    <a:gd name="T60" fmla="*/ 486 w 972"/>
                    <a:gd name="T61" fmla="*/ 304 h 972"/>
                    <a:gd name="T62" fmla="*/ 262 w 972"/>
                    <a:gd name="T63" fmla="*/ 526 h 972"/>
                    <a:gd name="T64" fmla="*/ 486 w 972"/>
                    <a:gd name="T65" fmla="*/ 748 h 972"/>
                    <a:gd name="T66" fmla="*/ 709 w 972"/>
                    <a:gd name="T67" fmla="*/ 526 h 972"/>
                    <a:gd name="T68" fmla="*/ 486 w 972"/>
                    <a:gd name="T69" fmla="*/ 304 h 972"/>
                    <a:gd name="T70" fmla="*/ 505 w 972"/>
                    <a:gd name="T71" fmla="*/ 526 h 972"/>
                    <a:gd name="T72" fmla="*/ 486 w 972"/>
                    <a:gd name="T73" fmla="*/ 547 h 972"/>
                    <a:gd name="T74" fmla="*/ 466 w 972"/>
                    <a:gd name="T75" fmla="*/ 526 h 972"/>
                    <a:gd name="T76" fmla="*/ 466 w 972"/>
                    <a:gd name="T77" fmla="*/ 384 h 972"/>
                    <a:gd name="T78" fmla="*/ 486 w 972"/>
                    <a:gd name="T79" fmla="*/ 365 h 972"/>
                    <a:gd name="T80" fmla="*/ 505 w 972"/>
                    <a:gd name="T81" fmla="*/ 384 h 972"/>
                    <a:gd name="T82" fmla="*/ 505 w 972"/>
                    <a:gd name="T83" fmla="*/ 526 h 9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972" h="972">
                      <a:moveTo>
                        <a:pt x="486" y="0"/>
                      </a:moveTo>
                      <a:cubicBezTo>
                        <a:pt x="217" y="0"/>
                        <a:pt x="0" y="217"/>
                        <a:pt x="0" y="486"/>
                      </a:cubicBezTo>
                      <a:cubicBezTo>
                        <a:pt x="0" y="754"/>
                        <a:pt x="217" y="972"/>
                        <a:pt x="486" y="972"/>
                      </a:cubicBezTo>
                      <a:cubicBezTo>
                        <a:pt x="754" y="972"/>
                        <a:pt x="972" y="754"/>
                        <a:pt x="972" y="486"/>
                      </a:cubicBezTo>
                      <a:cubicBezTo>
                        <a:pt x="972" y="217"/>
                        <a:pt x="754" y="0"/>
                        <a:pt x="486" y="0"/>
                      </a:cubicBezTo>
                      <a:close/>
                      <a:moveTo>
                        <a:pt x="754" y="333"/>
                      </a:moveTo>
                      <a:cubicBezTo>
                        <a:pt x="750" y="336"/>
                        <a:pt x="745" y="338"/>
                        <a:pt x="739" y="338"/>
                      </a:cubicBezTo>
                      <a:cubicBezTo>
                        <a:pt x="735" y="338"/>
                        <a:pt x="729" y="336"/>
                        <a:pt x="726" y="333"/>
                      </a:cubicBezTo>
                      <a:cubicBezTo>
                        <a:pt x="697" y="304"/>
                        <a:pt x="697" y="304"/>
                        <a:pt x="697" y="304"/>
                      </a:cubicBezTo>
                      <a:cubicBezTo>
                        <a:pt x="665" y="335"/>
                        <a:pt x="665" y="335"/>
                        <a:pt x="665" y="335"/>
                      </a:cubicBezTo>
                      <a:cubicBezTo>
                        <a:pt x="716" y="382"/>
                        <a:pt x="748" y="450"/>
                        <a:pt x="748" y="526"/>
                      </a:cubicBezTo>
                      <a:cubicBezTo>
                        <a:pt x="748" y="671"/>
                        <a:pt x="631" y="790"/>
                        <a:pt x="486" y="790"/>
                      </a:cubicBezTo>
                      <a:cubicBezTo>
                        <a:pt x="340" y="790"/>
                        <a:pt x="223" y="671"/>
                        <a:pt x="223" y="526"/>
                      </a:cubicBezTo>
                      <a:cubicBezTo>
                        <a:pt x="223" y="388"/>
                        <a:pt x="331" y="274"/>
                        <a:pt x="466" y="264"/>
                      </a:cubicBezTo>
                      <a:cubicBezTo>
                        <a:pt x="466" y="223"/>
                        <a:pt x="466" y="223"/>
                        <a:pt x="466" y="223"/>
                      </a:cubicBezTo>
                      <a:cubicBezTo>
                        <a:pt x="426" y="223"/>
                        <a:pt x="426" y="223"/>
                        <a:pt x="426" y="223"/>
                      </a:cubicBezTo>
                      <a:cubicBezTo>
                        <a:pt x="414" y="223"/>
                        <a:pt x="405" y="213"/>
                        <a:pt x="405" y="202"/>
                      </a:cubicBezTo>
                      <a:cubicBezTo>
                        <a:pt x="405" y="190"/>
                        <a:pt x="414" y="183"/>
                        <a:pt x="426" y="183"/>
                      </a:cubicBezTo>
                      <a:cubicBezTo>
                        <a:pt x="547" y="183"/>
                        <a:pt x="547" y="183"/>
                        <a:pt x="547" y="183"/>
                      </a:cubicBezTo>
                      <a:cubicBezTo>
                        <a:pt x="559" y="183"/>
                        <a:pt x="566" y="190"/>
                        <a:pt x="566" y="202"/>
                      </a:cubicBezTo>
                      <a:cubicBezTo>
                        <a:pt x="566" y="213"/>
                        <a:pt x="559" y="223"/>
                        <a:pt x="547" y="223"/>
                      </a:cubicBezTo>
                      <a:cubicBezTo>
                        <a:pt x="505" y="223"/>
                        <a:pt x="505" y="223"/>
                        <a:pt x="505" y="223"/>
                      </a:cubicBezTo>
                      <a:cubicBezTo>
                        <a:pt x="505" y="264"/>
                        <a:pt x="505" y="264"/>
                        <a:pt x="505" y="264"/>
                      </a:cubicBezTo>
                      <a:cubicBezTo>
                        <a:pt x="553" y="268"/>
                        <a:pt x="597" y="283"/>
                        <a:pt x="635" y="310"/>
                      </a:cubicBezTo>
                      <a:cubicBezTo>
                        <a:pt x="669" y="276"/>
                        <a:pt x="669" y="276"/>
                        <a:pt x="669" y="276"/>
                      </a:cubicBezTo>
                      <a:cubicBezTo>
                        <a:pt x="640" y="245"/>
                        <a:pt x="640" y="245"/>
                        <a:pt x="640" y="245"/>
                      </a:cubicBezTo>
                      <a:cubicBezTo>
                        <a:pt x="631" y="238"/>
                        <a:pt x="631" y="226"/>
                        <a:pt x="640" y="217"/>
                      </a:cubicBezTo>
                      <a:cubicBezTo>
                        <a:pt x="648" y="209"/>
                        <a:pt x="661" y="209"/>
                        <a:pt x="669" y="217"/>
                      </a:cubicBezTo>
                      <a:cubicBezTo>
                        <a:pt x="754" y="304"/>
                        <a:pt x="754" y="304"/>
                        <a:pt x="754" y="304"/>
                      </a:cubicBezTo>
                      <a:cubicBezTo>
                        <a:pt x="762" y="312"/>
                        <a:pt x="762" y="325"/>
                        <a:pt x="754" y="333"/>
                      </a:cubicBezTo>
                      <a:close/>
                      <a:moveTo>
                        <a:pt x="486" y="304"/>
                      </a:moveTo>
                      <a:cubicBezTo>
                        <a:pt x="363" y="304"/>
                        <a:pt x="262" y="403"/>
                        <a:pt x="262" y="526"/>
                      </a:cubicBezTo>
                      <a:cubicBezTo>
                        <a:pt x="262" y="650"/>
                        <a:pt x="363" y="748"/>
                        <a:pt x="486" y="748"/>
                      </a:cubicBezTo>
                      <a:cubicBezTo>
                        <a:pt x="608" y="748"/>
                        <a:pt x="709" y="650"/>
                        <a:pt x="709" y="526"/>
                      </a:cubicBezTo>
                      <a:cubicBezTo>
                        <a:pt x="709" y="403"/>
                        <a:pt x="608" y="304"/>
                        <a:pt x="486" y="304"/>
                      </a:cubicBezTo>
                      <a:close/>
                      <a:moveTo>
                        <a:pt x="505" y="526"/>
                      </a:moveTo>
                      <a:cubicBezTo>
                        <a:pt x="505" y="538"/>
                        <a:pt x="498" y="547"/>
                        <a:pt x="486" y="547"/>
                      </a:cubicBezTo>
                      <a:cubicBezTo>
                        <a:pt x="475" y="547"/>
                        <a:pt x="466" y="538"/>
                        <a:pt x="466" y="526"/>
                      </a:cubicBezTo>
                      <a:cubicBezTo>
                        <a:pt x="466" y="384"/>
                        <a:pt x="466" y="384"/>
                        <a:pt x="466" y="384"/>
                      </a:cubicBezTo>
                      <a:cubicBezTo>
                        <a:pt x="466" y="373"/>
                        <a:pt x="475" y="365"/>
                        <a:pt x="486" y="365"/>
                      </a:cubicBezTo>
                      <a:cubicBezTo>
                        <a:pt x="498" y="365"/>
                        <a:pt x="505" y="373"/>
                        <a:pt x="505" y="384"/>
                      </a:cubicBezTo>
                      <a:lnTo>
                        <a:pt x="505" y="526"/>
                      </a:lnTo>
                      <a:close/>
                    </a:path>
                  </a:pathLst>
                </a:custGeom>
                <a:solidFill>
                  <a:srgbClr val="86BC25"/>
                </a:solidFill>
                <a:ln w="0">
                  <a:noFill/>
                  <a:prstDash val="solid"/>
                  <a:round/>
                  <a:headEnd/>
                  <a:tailEnd/>
                </a:ln>
                <a:extLs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</p:grpSp>
        </p:grp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285C6208-5A06-03E8-7DC8-EFB822E7B59D}"/>
                </a:ext>
              </a:extLst>
            </p:cNvPr>
            <p:cNvSpPr/>
            <p:nvPr/>
          </p:nvSpPr>
          <p:spPr>
            <a:xfrm>
              <a:off x="10300346" y="2100037"/>
              <a:ext cx="1204048" cy="4486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marL="0" marR="0" lvl="0" indent="0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900" b="1" i="1" u="sng">
                  <a:solidFill>
                    <a:srgbClr val="34342B"/>
                  </a:solidFill>
                </a:rPr>
                <a:t>PARAGEM DO PROJETO:</a:t>
              </a:r>
              <a:r>
                <a:rPr lang="pt-PT" sz="900" i="1">
                  <a:solidFill>
                    <a:srgbClr val="34342B"/>
                  </a:solidFill>
                </a:rPr>
                <a:t> </a:t>
              </a:r>
              <a:r>
                <a:rPr lang="pt-PT" sz="900" b="1" i="1">
                  <a:solidFill>
                    <a:schemeClr val="tx1"/>
                  </a:solidFill>
                </a:rPr>
                <a:t>período crítico de férias em MZ</a:t>
              </a:r>
              <a:r>
                <a:rPr lang="pt-PT" sz="900" i="1">
                  <a:solidFill>
                    <a:srgbClr val="34342B"/>
                  </a:solidFill>
                </a:rPr>
                <a:t> – 14 de Dezembro – 13 de Janeiro</a:t>
              </a:r>
              <a:endParaRPr kumimoji="0" lang="en-GB" sz="900" b="0" i="1" u="none" strike="noStrike" kern="1200" cap="none" spc="0" normalizeH="0" baseline="0" noProof="0">
                <a:ln>
                  <a:noFill/>
                </a:ln>
                <a:solidFill>
                  <a:srgbClr val="34342B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E73AF11E-DF34-2AE7-B726-EDCC2BA6ACE8}"/>
              </a:ext>
            </a:extLst>
          </p:cNvPr>
          <p:cNvGrpSpPr/>
          <p:nvPr/>
        </p:nvGrpSpPr>
        <p:grpSpPr>
          <a:xfrm>
            <a:off x="2162193" y="3045028"/>
            <a:ext cx="893618" cy="263200"/>
            <a:chOff x="2162193" y="3045028"/>
            <a:chExt cx="893618" cy="263200"/>
          </a:xfrm>
        </p:grpSpPr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411DAEA3-55B4-18A4-58B6-B36DC17E9A62}"/>
                </a:ext>
              </a:extLst>
            </p:cNvPr>
            <p:cNvSpPr/>
            <p:nvPr/>
          </p:nvSpPr>
          <p:spPr>
            <a:xfrm>
              <a:off x="2162193" y="3152407"/>
              <a:ext cx="893618" cy="155821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marL="0" marR="0" lvl="0" indent="0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700" i="1">
                  <a:solidFill>
                    <a:srgbClr val="34342B"/>
                  </a:solidFill>
                </a:rPr>
                <a:t>422 horas</a:t>
              </a:r>
              <a:r>
                <a:rPr lang="en-GB" sz="700" i="1" baseline="30000">
                  <a:solidFill>
                    <a:srgbClr val="34342B"/>
                  </a:solidFill>
                </a:rPr>
                <a:t>1</a:t>
              </a:r>
              <a:endParaRPr kumimoji="0" lang="en-GB" sz="700" b="0" i="1" u="none" strike="noStrike" kern="1200" cap="none" spc="0" normalizeH="0" baseline="30000" noProof="0">
                <a:ln>
                  <a:noFill/>
                </a:ln>
                <a:solidFill>
                  <a:srgbClr val="34342B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cxnSp>
          <p:nvCxnSpPr>
            <p:cNvPr id="139" name="Connector: Elbow 138">
              <a:extLst>
                <a:ext uri="{FF2B5EF4-FFF2-40B4-BE49-F238E27FC236}">
                  <a16:creationId xmlns:a16="http://schemas.microsoft.com/office/drawing/2014/main" id="{DF43F7DC-C4C2-F4D3-3B8F-54443CC49A72}"/>
                </a:ext>
              </a:extLst>
            </p:cNvPr>
            <p:cNvCxnSpPr>
              <a:stCxn id="11" idx="1"/>
              <a:endCxn id="133" idx="1"/>
            </p:cNvCxnSpPr>
            <p:nvPr/>
          </p:nvCxnSpPr>
          <p:spPr>
            <a:xfrm rot="10800000" flipV="1">
              <a:off x="2162194" y="3045028"/>
              <a:ext cx="9719" cy="185289"/>
            </a:xfrm>
            <a:prstGeom prst="bentConnector3">
              <a:avLst>
                <a:gd name="adj1" fmla="val 1185575"/>
              </a:avLst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6C932760-5369-7DE8-FC65-00BB8ED26DE0}"/>
              </a:ext>
            </a:extLst>
          </p:cNvPr>
          <p:cNvGrpSpPr/>
          <p:nvPr/>
        </p:nvGrpSpPr>
        <p:grpSpPr>
          <a:xfrm>
            <a:off x="2921689" y="1232403"/>
            <a:ext cx="252000" cy="3799848"/>
            <a:chOff x="2921689" y="1232403"/>
            <a:chExt cx="252000" cy="3799848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636448A-01EB-4B70-B496-21DD64BEAD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40586" y="1232403"/>
              <a:ext cx="0" cy="3799848"/>
            </a:xfrm>
            <a:prstGeom prst="line">
              <a:avLst/>
            </a:prstGeom>
            <a:ln w="381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BAAC89DD-F72D-EA88-2811-D1DC875C28ED}"/>
                </a:ext>
              </a:extLst>
            </p:cNvPr>
            <p:cNvGrpSpPr/>
            <p:nvPr/>
          </p:nvGrpSpPr>
          <p:grpSpPr>
            <a:xfrm>
              <a:off x="2921689" y="2198481"/>
              <a:ext cx="252000" cy="252000"/>
              <a:chOff x="3104569" y="2353929"/>
              <a:chExt cx="252000" cy="252000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5AF98FC-2704-F898-A086-84C2B237F775}"/>
                  </a:ext>
                </a:extLst>
              </p:cNvPr>
              <p:cNvSpPr/>
              <p:nvPr/>
            </p:nvSpPr>
            <p:spPr>
              <a:xfrm>
                <a:off x="3104569" y="2353929"/>
                <a:ext cx="252000" cy="25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8" name="Freeform 5">
                <a:extLst>
                  <a:ext uri="{FF2B5EF4-FFF2-40B4-BE49-F238E27FC236}">
                    <a16:creationId xmlns:a16="http://schemas.microsoft.com/office/drawing/2014/main" id="{67913E05-A563-9B03-9EEE-C7C5E6F8F9C2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3122569" y="2371929"/>
                <a:ext cx="216000" cy="216000"/>
              </a:xfrm>
              <a:custGeom>
                <a:avLst/>
                <a:gdLst>
                  <a:gd name="T0" fmla="*/ 486 w 972"/>
                  <a:gd name="T1" fmla="*/ 0 h 972"/>
                  <a:gd name="T2" fmla="*/ 0 w 972"/>
                  <a:gd name="T3" fmla="*/ 486 h 972"/>
                  <a:gd name="T4" fmla="*/ 486 w 972"/>
                  <a:gd name="T5" fmla="*/ 972 h 972"/>
                  <a:gd name="T6" fmla="*/ 972 w 972"/>
                  <a:gd name="T7" fmla="*/ 486 h 972"/>
                  <a:gd name="T8" fmla="*/ 486 w 972"/>
                  <a:gd name="T9" fmla="*/ 0 h 972"/>
                  <a:gd name="T10" fmla="*/ 754 w 972"/>
                  <a:gd name="T11" fmla="*/ 333 h 972"/>
                  <a:gd name="T12" fmla="*/ 739 w 972"/>
                  <a:gd name="T13" fmla="*/ 338 h 972"/>
                  <a:gd name="T14" fmla="*/ 726 w 972"/>
                  <a:gd name="T15" fmla="*/ 333 h 972"/>
                  <a:gd name="T16" fmla="*/ 697 w 972"/>
                  <a:gd name="T17" fmla="*/ 304 h 972"/>
                  <a:gd name="T18" fmla="*/ 665 w 972"/>
                  <a:gd name="T19" fmla="*/ 335 h 972"/>
                  <a:gd name="T20" fmla="*/ 748 w 972"/>
                  <a:gd name="T21" fmla="*/ 526 h 972"/>
                  <a:gd name="T22" fmla="*/ 486 w 972"/>
                  <a:gd name="T23" fmla="*/ 790 h 972"/>
                  <a:gd name="T24" fmla="*/ 223 w 972"/>
                  <a:gd name="T25" fmla="*/ 526 h 972"/>
                  <a:gd name="T26" fmla="*/ 466 w 972"/>
                  <a:gd name="T27" fmla="*/ 264 h 972"/>
                  <a:gd name="T28" fmla="*/ 466 w 972"/>
                  <a:gd name="T29" fmla="*/ 223 h 972"/>
                  <a:gd name="T30" fmla="*/ 426 w 972"/>
                  <a:gd name="T31" fmla="*/ 223 h 972"/>
                  <a:gd name="T32" fmla="*/ 405 w 972"/>
                  <a:gd name="T33" fmla="*/ 202 h 972"/>
                  <a:gd name="T34" fmla="*/ 426 w 972"/>
                  <a:gd name="T35" fmla="*/ 183 h 972"/>
                  <a:gd name="T36" fmla="*/ 547 w 972"/>
                  <a:gd name="T37" fmla="*/ 183 h 972"/>
                  <a:gd name="T38" fmla="*/ 566 w 972"/>
                  <a:gd name="T39" fmla="*/ 202 h 972"/>
                  <a:gd name="T40" fmla="*/ 547 w 972"/>
                  <a:gd name="T41" fmla="*/ 223 h 972"/>
                  <a:gd name="T42" fmla="*/ 505 w 972"/>
                  <a:gd name="T43" fmla="*/ 223 h 972"/>
                  <a:gd name="T44" fmla="*/ 505 w 972"/>
                  <a:gd name="T45" fmla="*/ 264 h 972"/>
                  <a:gd name="T46" fmla="*/ 635 w 972"/>
                  <a:gd name="T47" fmla="*/ 310 h 972"/>
                  <a:gd name="T48" fmla="*/ 669 w 972"/>
                  <a:gd name="T49" fmla="*/ 276 h 972"/>
                  <a:gd name="T50" fmla="*/ 640 w 972"/>
                  <a:gd name="T51" fmla="*/ 245 h 972"/>
                  <a:gd name="T52" fmla="*/ 640 w 972"/>
                  <a:gd name="T53" fmla="*/ 217 h 972"/>
                  <a:gd name="T54" fmla="*/ 669 w 972"/>
                  <a:gd name="T55" fmla="*/ 217 h 972"/>
                  <a:gd name="T56" fmla="*/ 754 w 972"/>
                  <a:gd name="T57" fmla="*/ 304 h 972"/>
                  <a:gd name="T58" fmla="*/ 754 w 972"/>
                  <a:gd name="T59" fmla="*/ 333 h 972"/>
                  <a:gd name="T60" fmla="*/ 486 w 972"/>
                  <a:gd name="T61" fmla="*/ 304 h 972"/>
                  <a:gd name="T62" fmla="*/ 262 w 972"/>
                  <a:gd name="T63" fmla="*/ 526 h 972"/>
                  <a:gd name="T64" fmla="*/ 486 w 972"/>
                  <a:gd name="T65" fmla="*/ 748 h 972"/>
                  <a:gd name="T66" fmla="*/ 709 w 972"/>
                  <a:gd name="T67" fmla="*/ 526 h 972"/>
                  <a:gd name="T68" fmla="*/ 486 w 972"/>
                  <a:gd name="T69" fmla="*/ 304 h 972"/>
                  <a:gd name="T70" fmla="*/ 505 w 972"/>
                  <a:gd name="T71" fmla="*/ 526 h 972"/>
                  <a:gd name="T72" fmla="*/ 486 w 972"/>
                  <a:gd name="T73" fmla="*/ 547 h 972"/>
                  <a:gd name="T74" fmla="*/ 466 w 972"/>
                  <a:gd name="T75" fmla="*/ 526 h 972"/>
                  <a:gd name="T76" fmla="*/ 466 w 972"/>
                  <a:gd name="T77" fmla="*/ 384 h 972"/>
                  <a:gd name="T78" fmla="*/ 486 w 972"/>
                  <a:gd name="T79" fmla="*/ 365 h 972"/>
                  <a:gd name="T80" fmla="*/ 505 w 972"/>
                  <a:gd name="T81" fmla="*/ 384 h 972"/>
                  <a:gd name="T82" fmla="*/ 505 w 972"/>
                  <a:gd name="T83" fmla="*/ 526 h 9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72" h="972">
                    <a:moveTo>
                      <a:pt x="486" y="0"/>
                    </a:moveTo>
                    <a:cubicBezTo>
                      <a:pt x="217" y="0"/>
                      <a:pt x="0" y="217"/>
                      <a:pt x="0" y="486"/>
                    </a:cubicBezTo>
                    <a:cubicBezTo>
                      <a:pt x="0" y="754"/>
                      <a:pt x="217" y="972"/>
                      <a:pt x="486" y="972"/>
                    </a:cubicBezTo>
                    <a:cubicBezTo>
                      <a:pt x="754" y="972"/>
                      <a:pt x="972" y="754"/>
                      <a:pt x="972" y="486"/>
                    </a:cubicBezTo>
                    <a:cubicBezTo>
                      <a:pt x="972" y="217"/>
                      <a:pt x="754" y="0"/>
                      <a:pt x="486" y="0"/>
                    </a:cubicBezTo>
                    <a:close/>
                    <a:moveTo>
                      <a:pt x="754" y="333"/>
                    </a:moveTo>
                    <a:cubicBezTo>
                      <a:pt x="750" y="336"/>
                      <a:pt x="745" y="338"/>
                      <a:pt x="739" y="338"/>
                    </a:cubicBezTo>
                    <a:cubicBezTo>
                      <a:pt x="735" y="338"/>
                      <a:pt x="729" y="336"/>
                      <a:pt x="726" y="333"/>
                    </a:cubicBezTo>
                    <a:cubicBezTo>
                      <a:pt x="697" y="304"/>
                      <a:pt x="697" y="304"/>
                      <a:pt x="697" y="304"/>
                    </a:cubicBezTo>
                    <a:cubicBezTo>
                      <a:pt x="665" y="335"/>
                      <a:pt x="665" y="335"/>
                      <a:pt x="665" y="335"/>
                    </a:cubicBezTo>
                    <a:cubicBezTo>
                      <a:pt x="716" y="382"/>
                      <a:pt x="748" y="450"/>
                      <a:pt x="748" y="526"/>
                    </a:cubicBezTo>
                    <a:cubicBezTo>
                      <a:pt x="748" y="671"/>
                      <a:pt x="631" y="790"/>
                      <a:pt x="486" y="790"/>
                    </a:cubicBezTo>
                    <a:cubicBezTo>
                      <a:pt x="340" y="790"/>
                      <a:pt x="223" y="671"/>
                      <a:pt x="223" y="526"/>
                    </a:cubicBezTo>
                    <a:cubicBezTo>
                      <a:pt x="223" y="388"/>
                      <a:pt x="331" y="274"/>
                      <a:pt x="466" y="264"/>
                    </a:cubicBezTo>
                    <a:cubicBezTo>
                      <a:pt x="466" y="223"/>
                      <a:pt x="466" y="223"/>
                      <a:pt x="466" y="223"/>
                    </a:cubicBezTo>
                    <a:cubicBezTo>
                      <a:pt x="426" y="223"/>
                      <a:pt x="426" y="223"/>
                      <a:pt x="426" y="223"/>
                    </a:cubicBezTo>
                    <a:cubicBezTo>
                      <a:pt x="414" y="223"/>
                      <a:pt x="405" y="213"/>
                      <a:pt x="405" y="202"/>
                    </a:cubicBezTo>
                    <a:cubicBezTo>
                      <a:pt x="405" y="190"/>
                      <a:pt x="414" y="183"/>
                      <a:pt x="426" y="183"/>
                    </a:cubicBezTo>
                    <a:cubicBezTo>
                      <a:pt x="547" y="183"/>
                      <a:pt x="547" y="183"/>
                      <a:pt x="547" y="183"/>
                    </a:cubicBezTo>
                    <a:cubicBezTo>
                      <a:pt x="559" y="183"/>
                      <a:pt x="566" y="190"/>
                      <a:pt x="566" y="202"/>
                    </a:cubicBezTo>
                    <a:cubicBezTo>
                      <a:pt x="566" y="213"/>
                      <a:pt x="559" y="223"/>
                      <a:pt x="547" y="223"/>
                    </a:cubicBezTo>
                    <a:cubicBezTo>
                      <a:pt x="505" y="223"/>
                      <a:pt x="505" y="223"/>
                      <a:pt x="505" y="223"/>
                    </a:cubicBezTo>
                    <a:cubicBezTo>
                      <a:pt x="505" y="264"/>
                      <a:pt x="505" y="264"/>
                      <a:pt x="505" y="264"/>
                    </a:cubicBezTo>
                    <a:cubicBezTo>
                      <a:pt x="553" y="268"/>
                      <a:pt x="597" y="283"/>
                      <a:pt x="635" y="310"/>
                    </a:cubicBezTo>
                    <a:cubicBezTo>
                      <a:pt x="669" y="276"/>
                      <a:pt x="669" y="276"/>
                      <a:pt x="669" y="276"/>
                    </a:cubicBezTo>
                    <a:cubicBezTo>
                      <a:pt x="640" y="245"/>
                      <a:pt x="640" y="245"/>
                      <a:pt x="640" y="245"/>
                    </a:cubicBezTo>
                    <a:cubicBezTo>
                      <a:pt x="631" y="238"/>
                      <a:pt x="631" y="226"/>
                      <a:pt x="640" y="217"/>
                    </a:cubicBezTo>
                    <a:cubicBezTo>
                      <a:pt x="648" y="209"/>
                      <a:pt x="661" y="209"/>
                      <a:pt x="669" y="217"/>
                    </a:cubicBezTo>
                    <a:cubicBezTo>
                      <a:pt x="754" y="304"/>
                      <a:pt x="754" y="304"/>
                      <a:pt x="754" y="304"/>
                    </a:cubicBezTo>
                    <a:cubicBezTo>
                      <a:pt x="762" y="312"/>
                      <a:pt x="762" y="325"/>
                      <a:pt x="754" y="333"/>
                    </a:cubicBezTo>
                    <a:close/>
                    <a:moveTo>
                      <a:pt x="486" y="304"/>
                    </a:moveTo>
                    <a:cubicBezTo>
                      <a:pt x="363" y="304"/>
                      <a:pt x="262" y="403"/>
                      <a:pt x="262" y="526"/>
                    </a:cubicBezTo>
                    <a:cubicBezTo>
                      <a:pt x="262" y="650"/>
                      <a:pt x="363" y="748"/>
                      <a:pt x="486" y="748"/>
                    </a:cubicBezTo>
                    <a:cubicBezTo>
                      <a:pt x="608" y="748"/>
                      <a:pt x="709" y="650"/>
                      <a:pt x="709" y="526"/>
                    </a:cubicBezTo>
                    <a:cubicBezTo>
                      <a:pt x="709" y="403"/>
                      <a:pt x="608" y="304"/>
                      <a:pt x="486" y="304"/>
                    </a:cubicBezTo>
                    <a:close/>
                    <a:moveTo>
                      <a:pt x="505" y="526"/>
                    </a:moveTo>
                    <a:cubicBezTo>
                      <a:pt x="505" y="538"/>
                      <a:pt x="498" y="547"/>
                      <a:pt x="486" y="547"/>
                    </a:cubicBezTo>
                    <a:cubicBezTo>
                      <a:pt x="475" y="547"/>
                      <a:pt x="466" y="538"/>
                      <a:pt x="466" y="526"/>
                    </a:cubicBezTo>
                    <a:cubicBezTo>
                      <a:pt x="466" y="384"/>
                      <a:pt x="466" y="384"/>
                      <a:pt x="466" y="384"/>
                    </a:cubicBezTo>
                    <a:cubicBezTo>
                      <a:pt x="466" y="373"/>
                      <a:pt x="475" y="365"/>
                      <a:pt x="486" y="365"/>
                    </a:cubicBezTo>
                    <a:cubicBezTo>
                      <a:pt x="498" y="365"/>
                      <a:pt x="505" y="373"/>
                      <a:pt x="505" y="384"/>
                    </a:cubicBezTo>
                    <a:lnTo>
                      <a:pt x="505" y="526"/>
                    </a:lnTo>
                    <a:close/>
                  </a:path>
                </a:pathLst>
              </a:custGeom>
              <a:solidFill>
                <a:srgbClr val="86BC25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</p:grpSp>
      <p:sp>
        <p:nvSpPr>
          <p:cNvPr id="76" name="Diamond 75">
            <a:extLst>
              <a:ext uri="{FF2B5EF4-FFF2-40B4-BE49-F238E27FC236}">
                <a16:creationId xmlns:a16="http://schemas.microsoft.com/office/drawing/2014/main" id="{E0381AF9-D3B3-3B89-2727-035AF1F1E5E1}"/>
              </a:ext>
            </a:extLst>
          </p:cNvPr>
          <p:cNvSpPr/>
          <p:nvPr/>
        </p:nvSpPr>
        <p:spPr>
          <a:xfrm>
            <a:off x="2967551" y="2973882"/>
            <a:ext cx="144000" cy="144000"/>
          </a:xfrm>
          <a:prstGeom prst="diamond">
            <a:avLst/>
          </a:prstGeom>
          <a:solidFill>
            <a:srgbClr val="40749B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700">
              <a:solidFill>
                <a:srgbClr val="575756"/>
              </a:solidFill>
            </a:endParaRPr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B9912CB3-7804-B940-D6EA-8D5178FF07F4}"/>
              </a:ext>
            </a:extLst>
          </p:cNvPr>
          <p:cNvGrpSpPr/>
          <p:nvPr/>
        </p:nvGrpSpPr>
        <p:grpSpPr>
          <a:xfrm>
            <a:off x="5301415" y="3045028"/>
            <a:ext cx="893618" cy="263200"/>
            <a:chOff x="2162193" y="3045028"/>
            <a:chExt cx="893618" cy="263200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E6EB5FED-7A9D-5639-43BB-C2870B21E6A8}"/>
                </a:ext>
              </a:extLst>
            </p:cNvPr>
            <p:cNvSpPr/>
            <p:nvPr/>
          </p:nvSpPr>
          <p:spPr>
            <a:xfrm>
              <a:off x="2162193" y="3152407"/>
              <a:ext cx="893618" cy="155821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marL="0" marR="0" lvl="0" indent="0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700" i="1">
                  <a:solidFill>
                    <a:srgbClr val="34342B"/>
                  </a:solidFill>
                </a:rPr>
                <a:t>633 horas</a:t>
              </a:r>
              <a:r>
                <a:rPr lang="en-GB" sz="700" i="1" baseline="30000">
                  <a:solidFill>
                    <a:srgbClr val="34342B"/>
                  </a:solidFill>
                </a:rPr>
                <a:t>1</a:t>
              </a:r>
              <a:endParaRPr kumimoji="0" lang="en-GB" sz="700" b="0" i="1" u="none" strike="noStrike" kern="1200" cap="none" spc="0" normalizeH="0" baseline="30000" noProof="0">
                <a:ln>
                  <a:noFill/>
                </a:ln>
                <a:solidFill>
                  <a:srgbClr val="34342B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cxnSp>
          <p:nvCxnSpPr>
            <p:cNvPr id="144" name="Connector: Elbow 143">
              <a:extLst>
                <a:ext uri="{FF2B5EF4-FFF2-40B4-BE49-F238E27FC236}">
                  <a16:creationId xmlns:a16="http://schemas.microsoft.com/office/drawing/2014/main" id="{6BDB7886-F368-4577-9104-313E5183632B}"/>
                </a:ext>
              </a:extLst>
            </p:cNvPr>
            <p:cNvCxnSpPr>
              <a:endCxn id="143" idx="1"/>
            </p:cNvCxnSpPr>
            <p:nvPr/>
          </p:nvCxnSpPr>
          <p:spPr>
            <a:xfrm rot="10800000" flipV="1">
              <a:off x="2162194" y="3045028"/>
              <a:ext cx="9719" cy="185289"/>
            </a:xfrm>
            <a:prstGeom prst="bentConnector3">
              <a:avLst>
                <a:gd name="adj1" fmla="val 1185575"/>
              </a:avLst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3D14F34A-0B78-89AF-2F2A-C9B7128FA42E}"/>
              </a:ext>
            </a:extLst>
          </p:cNvPr>
          <p:cNvGrpSpPr/>
          <p:nvPr/>
        </p:nvGrpSpPr>
        <p:grpSpPr>
          <a:xfrm>
            <a:off x="8347042" y="3045028"/>
            <a:ext cx="893618" cy="263200"/>
            <a:chOff x="2162193" y="3045028"/>
            <a:chExt cx="893618" cy="263200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8368EEBD-13F9-2311-393E-50833B7ADE0D}"/>
                </a:ext>
              </a:extLst>
            </p:cNvPr>
            <p:cNvSpPr/>
            <p:nvPr/>
          </p:nvSpPr>
          <p:spPr>
            <a:xfrm>
              <a:off x="2162193" y="3152407"/>
              <a:ext cx="893618" cy="155821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marL="0" marR="0" lvl="0" indent="0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700" i="1">
                  <a:solidFill>
                    <a:srgbClr val="34342B"/>
                  </a:solidFill>
                </a:rPr>
                <a:t>422 horas</a:t>
              </a:r>
              <a:r>
                <a:rPr lang="en-GB" sz="700" i="1" baseline="30000">
                  <a:solidFill>
                    <a:srgbClr val="34342B"/>
                  </a:solidFill>
                </a:rPr>
                <a:t>1</a:t>
              </a:r>
              <a:endParaRPr kumimoji="0" lang="en-GB" sz="700" b="0" i="1" u="none" strike="noStrike" kern="1200" cap="none" spc="0" normalizeH="0" baseline="30000" noProof="0">
                <a:ln>
                  <a:noFill/>
                </a:ln>
                <a:solidFill>
                  <a:srgbClr val="34342B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cxnSp>
          <p:nvCxnSpPr>
            <p:cNvPr id="147" name="Connector: Elbow 146">
              <a:extLst>
                <a:ext uri="{FF2B5EF4-FFF2-40B4-BE49-F238E27FC236}">
                  <a16:creationId xmlns:a16="http://schemas.microsoft.com/office/drawing/2014/main" id="{EDD35C08-DEAA-2D68-9645-19FA7B59DD22}"/>
                </a:ext>
              </a:extLst>
            </p:cNvPr>
            <p:cNvCxnSpPr>
              <a:endCxn id="146" idx="1"/>
            </p:cNvCxnSpPr>
            <p:nvPr/>
          </p:nvCxnSpPr>
          <p:spPr>
            <a:xfrm rot="10800000" flipV="1">
              <a:off x="2162194" y="3045028"/>
              <a:ext cx="9719" cy="185289"/>
            </a:xfrm>
            <a:prstGeom prst="bentConnector3">
              <a:avLst>
                <a:gd name="adj1" fmla="val 1185575"/>
              </a:avLst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16397FBF-857A-C4DC-CC15-8390186F7661}"/>
              </a:ext>
            </a:extLst>
          </p:cNvPr>
          <p:cNvGrpSpPr/>
          <p:nvPr/>
        </p:nvGrpSpPr>
        <p:grpSpPr>
          <a:xfrm>
            <a:off x="4802091" y="3439796"/>
            <a:ext cx="893618" cy="263200"/>
            <a:chOff x="2162193" y="3045028"/>
            <a:chExt cx="893618" cy="263200"/>
          </a:xfrm>
        </p:grpSpPr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55D78B49-6747-C4C7-4855-38F6E386C5D1}"/>
                </a:ext>
              </a:extLst>
            </p:cNvPr>
            <p:cNvSpPr/>
            <p:nvPr/>
          </p:nvSpPr>
          <p:spPr>
            <a:xfrm>
              <a:off x="2162193" y="3152407"/>
              <a:ext cx="893618" cy="155821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marL="0" marR="0" lvl="0" indent="0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700" i="1">
                  <a:solidFill>
                    <a:srgbClr val="34342B"/>
                  </a:solidFill>
                </a:rPr>
                <a:t>1055 horas</a:t>
              </a:r>
              <a:r>
                <a:rPr lang="en-GB" sz="700" i="1" baseline="30000">
                  <a:solidFill>
                    <a:srgbClr val="34342B"/>
                  </a:solidFill>
                </a:rPr>
                <a:t>1</a:t>
              </a:r>
              <a:endParaRPr kumimoji="0" lang="en-GB" sz="700" b="0" i="1" u="none" strike="noStrike" kern="1200" cap="none" spc="0" normalizeH="0" baseline="30000" noProof="0">
                <a:ln>
                  <a:noFill/>
                </a:ln>
                <a:solidFill>
                  <a:srgbClr val="34342B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cxnSp>
          <p:nvCxnSpPr>
            <p:cNvPr id="154" name="Connector: Elbow 153">
              <a:extLst>
                <a:ext uri="{FF2B5EF4-FFF2-40B4-BE49-F238E27FC236}">
                  <a16:creationId xmlns:a16="http://schemas.microsoft.com/office/drawing/2014/main" id="{12BBC8B8-D75F-9FD1-F848-3C58C62AA590}"/>
                </a:ext>
              </a:extLst>
            </p:cNvPr>
            <p:cNvCxnSpPr>
              <a:endCxn id="153" idx="1"/>
            </p:cNvCxnSpPr>
            <p:nvPr/>
          </p:nvCxnSpPr>
          <p:spPr>
            <a:xfrm rot="10800000" flipV="1">
              <a:off x="2162194" y="3045028"/>
              <a:ext cx="9719" cy="185289"/>
            </a:xfrm>
            <a:prstGeom prst="bentConnector3">
              <a:avLst>
                <a:gd name="adj1" fmla="val 1185575"/>
              </a:avLst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2B8FDB7E-7400-71C6-5B62-446781BB5D00}"/>
              </a:ext>
            </a:extLst>
          </p:cNvPr>
          <p:cNvGrpSpPr/>
          <p:nvPr/>
        </p:nvGrpSpPr>
        <p:grpSpPr>
          <a:xfrm>
            <a:off x="7905483" y="3439796"/>
            <a:ext cx="893618" cy="263200"/>
            <a:chOff x="2162193" y="3045028"/>
            <a:chExt cx="893618" cy="263200"/>
          </a:xfrm>
        </p:grpSpPr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32220495-0E5B-3081-240E-3DBC7BAF6FB3}"/>
                </a:ext>
              </a:extLst>
            </p:cNvPr>
            <p:cNvSpPr/>
            <p:nvPr/>
          </p:nvSpPr>
          <p:spPr>
            <a:xfrm>
              <a:off x="2162193" y="3152407"/>
              <a:ext cx="893618" cy="155821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marL="0" marR="0" lvl="0" indent="0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700" i="1">
                  <a:solidFill>
                    <a:srgbClr val="34342B"/>
                  </a:solidFill>
                </a:rPr>
                <a:t>211 horas</a:t>
              </a:r>
              <a:r>
                <a:rPr lang="en-GB" sz="700" i="1" baseline="30000">
                  <a:solidFill>
                    <a:srgbClr val="34342B"/>
                  </a:solidFill>
                </a:rPr>
                <a:t>1</a:t>
              </a:r>
              <a:endParaRPr kumimoji="0" lang="en-GB" sz="700" b="0" i="1" u="none" strike="noStrike" kern="1200" cap="none" spc="0" normalizeH="0" baseline="30000" noProof="0">
                <a:ln>
                  <a:noFill/>
                </a:ln>
                <a:solidFill>
                  <a:srgbClr val="34342B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cxnSp>
          <p:nvCxnSpPr>
            <p:cNvPr id="161" name="Connector: Elbow 160">
              <a:extLst>
                <a:ext uri="{FF2B5EF4-FFF2-40B4-BE49-F238E27FC236}">
                  <a16:creationId xmlns:a16="http://schemas.microsoft.com/office/drawing/2014/main" id="{E4831F72-B7D7-B3A9-A107-A1C1C9AE624E}"/>
                </a:ext>
              </a:extLst>
            </p:cNvPr>
            <p:cNvCxnSpPr>
              <a:endCxn id="160" idx="1"/>
            </p:cNvCxnSpPr>
            <p:nvPr/>
          </p:nvCxnSpPr>
          <p:spPr>
            <a:xfrm rot="10800000" flipV="1">
              <a:off x="2162194" y="3045028"/>
              <a:ext cx="9719" cy="185289"/>
            </a:xfrm>
            <a:prstGeom prst="bentConnector3">
              <a:avLst>
                <a:gd name="adj1" fmla="val 1185575"/>
              </a:avLst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ECD79155-BF9D-2C47-38DF-E422E9A0F9DB}"/>
              </a:ext>
            </a:extLst>
          </p:cNvPr>
          <p:cNvGrpSpPr/>
          <p:nvPr/>
        </p:nvGrpSpPr>
        <p:grpSpPr>
          <a:xfrm>
            <a:off x="9218215" y="3773043"/>
            <a:ext cx="893618" cy="263200"/>
            <a:chOff x="2162193" y="3045028"/>
            <a:chExt cx="893618" cy="263200"/>
          </a:xfrm>
        </p:grpSpPr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427132A5-CEAF-E730-A53F-059253021DC6}"/>
                </a:ext>
              </a:extLst>
            </p:cNvPr>
            <p:cNvSpPr/>
            <p:nvPr/>
          </p:nvSpPr>
          <p:spPr>
            <a:xfrm>
              <a:off x="2162193" y="3152407"/>
              <a:ext cx="893618" cy="155821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marL="0" marR="0" lvl="0" indent="0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700" i="1">
                  <a:solidFill>
                    <a:srgbClr val="34342B"/>
                  </a:solidFill>
                </a:rPr>
                <a:t>1055 horas</a:t>
              </a:r>
              <a:r>
                <a:rPr lang="en-GB" sz="700" i="1" baseline="30000">
                  <a:solidFill>
                    <a:srgbClr val="34342B"/>
                  </a:solidFill>
                </a:rPr>
                <a:t>1</a:t>
              </a:r>
              <a:endParaRPr kumimoji="0" lang="en-GB" sz="700" b="0" i="1" u="none" strike="noStrike" kern="1200" cap="none" spc="0" normalizeH="0" baseline="30000" noProof="0">
                <a:ln>
                  <a:noFill/>
                </a:ln>
                <a:solidFill>
                  <a:srgbClr val="34342B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cxnSp>
          <p:nvCxnSpPr>
            <p:cNvPr id="164" name="Connector: Elbow 163">
              <a:extLst>
                <a:ext uri="{FF2B5EF4-FFF2-40B4-BE49-F238E27FC236}">
                  <a16:creationId xmlns:a16="http://schemas.microsoft.com/office/drawing/2014/main" id="{83EF4156-74B2-3334-834F-DFA4D163EEB2}"/>
                </a:ext>
              </a:extLst>
            </p:cNvPr>
            <p:cNvCxnSpPr>
              <a:endCxn id="163" idx="1"/>
            </p:cNvCxnSpPr>
            <p:nvPr/>
          </p:nvCxnSpPr>
          <p:spPr>
            <a:xfrm rot="10800000" flipV="1">
              <a:off x="2162194" y="3045028"/>
              <a:ext cx="9719" cy="185289"/>
            </a:xfrm>
            <a:prstGeom prst="bentConnector3">
              <a:avLst>
                <a:gd name="adj1" fmla="val 1185575"/>
              </a:avLst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EE3F07DD-2192-63F5-6B44-B068EFC3F1C9}"/>
              </a:ext>
            </a:extLst>
          </p:cNvPr>
          <p:cNvGrpSpPr/>
          <p:nvPr/>
        </p:nvGrpSpPr>
        <p:grpSpPr>
          <a:xfrm>
            <a:off x="8356762" y="4212174"/>
            <a:ext cx="893618" cy="263200"/>
            <a:chOff x="2162193" y="3045028"/>
            <a:chExt cx="893618" cy="263200"/>
          </a:xfrm>
        </p:grpSpPr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3FA060D2-D1BD-7589-4FDF-77E18518989E}"/>
                </a:ext>
              </a:extLst>
            </p:cNvPr>
            <p:cNvSpPr/>
            <p:nvPr/>
          </p:nvSpPr>
          <p:spPr>
            <a:xfrm>
              <a:off x="2162193" y="3152407"/>
              <a:ext cx="893618" cy="155821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marL="0" marR="0" lvl="0" indent="0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700" i="1">
                  <a:solidFill>
                    <a:srgbClr val="34342B"/>
                  </a:solidFill>
                </a:rPr>
                <a:t>1055 horas</a:t>
              </a:r>
              <a:r>
                <a:rPr lang="en-GB" sz="700" i="1" baseline="30000">
                  <a:solidFill>
                    <a:srgbClr val="34342B"/>
                  </a:solidFill>
                </a:rPr>
                <a:t>1</a:t>
              </a:r>
              <a:endParaRPr kumimoji="0" lang="en-GB" sz="700" b="0" i="1" u="none" strike="noStrike" kern="1200" cap="none" spc="0" normalizeH="0" baseline="30000" noProof="0">
                <a:ln>
                  <a:noFill/>
                </a:ln>
                <a:solidFill>
                  <a:srgbClr val="34342B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cxnSp>
          <p:nvCxnSpPr>
            <p:cNvPr id="167" name="Connector: Elbow 166">
              <a:extLst>
                <a:ext uri="{FF2B5EF4-FFF2-40B4-BE49-F238E27FC236}">
                  <a16:creationId xmlns:a16="http://schemas.microsoft.com/office/drawing/2014/main" id="{572B3020-29BB-6C69-2BA3-FBBE8A066716}"/>
                </a:ext>
              </a:extLst>
            </p:cNvPr>
            <p:cNvCxnSpPr>
              <a:endCxn id="166" idx="1"/>
            </p:cNvCxnSpPr>
            <p:nvPr/>
          </p:nvCxnSpPr>
          <p:spPr>
            <a:xfrm rot="10800000" flipV="1">
              <a:off x="2162194" y="3045028"/>
              <a:ext cx="9719" cy="185289"/>
            </a:xfrm>
            <a:prstGeom prst="bentConnector3">
              <a:avLst>
                <a:gd name="adj1" fmla="val 1185575"/>
              </a:avLst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9" name="Rectangle 168">
            <a:extLst>
              <a:ext uri="{FF2B5EF4-FFF2-40B4-BE49-F238E27FC236}">
                <a16:creationId xmlns:a16="http://schemas.microsoft.com/office/drawing/2014/main" id="{D5BD7B83-5759-4F37-CCCC-41C24680F75F}"/>
              </a:ext>
            </a:extLst>
          </p:cNvPr>
          <p:cNvSpPr/>
          <p:nvPr/>
        </p:nvSpPr>
        <p:spPr>
          <a:xfrm>
            <a:off x="4393282" y="6161071"/>
            <a:ext cx="7139529" cy="245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800" b="1">
                <a:solidFill>
                  <a:schemeClr val="tx1"/>
                </a:solidFill>
              </a:rPr>
              <a:t>Nota: </a:t>
            </a:r>
            <a:r>
              <a:rPr lang="pt-PT" sz="800">
                <a:solidFill>
                  <a:schemeClr val="tx1"/>
                </a:solidFill>
              </a:rPr>
              <a:t>1) Considera horas de 2 </a:t>
            </a:r>
            <a:r>
              <a:rPr lang="pt-PT" sz="800" i="1">
                <a:solidFill>
                  <a:schemeClr val="tx1"/>
                </a:solidFill>
              </a:rPr>
              <a:t>FTE</a:t>
            </a:r>
            <a:r>
              <a:rPr lang="pt-PT" sz="800">
                <a:solidFill>
                  <a:schemeClr val="tx1"/>
                </a:solidFill>
              </a:rPr>
              <a:t> da EDM (executor de processos + </a:t>
            </a:r>
            <a:r>
              <a:rPr lang="pt-PT" sz="800" i="1">
                <a:solidFill>
                  <a:schemeClr val="tx1"/>
                </a:solidFill>
              </a:rPr>
              <a:t>backup</a:t>
            </a:r>
            <a:r>
              <a:rPr lang="pt-PT" sz="800">
                <a:solidFill>
                  <a:schemeClr val="tx1"/>
                </a:solidFill>
              </a:rPr>
              <a:t>) e recursos da Deloitte para garantir o </a:t>
            </a:r>
            <a:r>
              <a:rPr lang="pt-PT" sz="800" i="1">
                <a:solidFill>
                  <a:schemeClr val="tx1"/>
                </a:solidFill>
              </a:rPr>
              <a:t>embedment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5AA8F60B-FA43-83BE-A78F-F66A9A195491}"/>
              </a:ext>
            </a:extLst>
          </p:cNvPr>
          <p:cNvSpPr/>
          <p:nvPr/>
        </p:nvSpPr>
        <p:spPr>
          <a:xfrm>
            <a:off x="11371838" y="1914808"/>
            <a:ext cx="144000" cy="144000"/>
          </a:xfrm>
          <a:prstGeom prst="diamond">
            <a:avLst/>
          </a:prstGeom>
          <a:solidFill>
            <a:schemeClr val="accent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700">
              <a:solidFill>
                <a:srgbClr val="575756"/>
              </a:solidFill>
            </a:endParaRPr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98BE07D4-B4C0-364D-68FA-AFBA6E745371}"/>
              </a:ext>
            </a:extLst>
          </p:cNvPr>
          <p:cNvSpPr/>
          <p:nvPr/>
        </p:nvSpPr>
        <p:spPr>
          <a:xfrm>
            <a:off x="1206325" y="1917638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700">
              <a:solidFill>
                <a:srgbClr val="575756"/>
              </a:solidFill>
            </a:endParaRPr>
          </a:p>
        </p:txBody>
      </p:sp>
      <p:sp>
        <p:nvSpPr>
          <p:cNvPr id="21" name="Diamond 20">
            <a:extLst>
              <a:ext uri="{FF2B5EF4-FFF2-40B4-BE49-F238E27FC236}">
                <a16:creationId xmlns:a16="http://schemas.microsoft.com/office/drawing/2014/main" id="{C7D3E8A2-BEED-9BF4-76C7-708CD8518026}"/>
              </a:ext>
            </a:extLst>
          </p:cNvPr>
          <p:cNvSpPr/>
          <p:nvPr/>
        </p:nvSpPr>
        <p:spPr>
          <a:xfrm>
            <a:off x="1661942" y="1910733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700">
              <a:solidFill>
                <a:srgbClr val="575756"/>
              </a:solidFill>
            </a:endParaRPr>
          </a:p>
        </p:txBody>
      </p:sp>
      <p:sp>
        <p:nvSpPr>
          <p:cNvPr id="35" name="Diamond 34">
            <a:extLst>
              <a:ext uri="{FF2B5EF4-FFF2-40B4-BE49-F238E27FC236}">
                <a16:creationId xmlns:a16="http://schemas.microsoft.com/office/drawing/2014/main" id="{80BE8B67-A960-65AD-4FC8-3946636FAA15}"/>
              </a:ext>
            </a:extLst>
          </p:cNvPr>
          <p:cNvSpPr/>
          <p:nvPr/>
        </p:nvSpPr>
        <p:spPr>
          <a:xfrm>
            <a:off x="2537725" y="1914506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700">
              <a:solidFill>
                <a:srgbClr val="575756"/>
              </a:solidFill>
            </a:endParaRPr>
          </a:p>
        </p:txBody>
      </p:sp>
      <p:sp>
        <p:nvSpPr>
          <p:cNvPr id="36" name="Diamond 35">
            <a:extLst>
              <a:ext uri="{FF2B5EF4-FFF2-40B4-BE49-F238E27FC236}">
                <a16:creationId xmlns:a16="http://schemas.microsoft.com/office/drawing/2014/main" id="{D7C076BD-63F7-2100-F6DC-B9FAEFC12091}"/>
              </a:ext>
            </a:extLst>
          </p:cNvPr>
          <p:cNvSpPr/>
          <p:nvPr/>
        </p:nvSpPr>
        <p:spPr>
          <a:xfrm>
            <a:off x="3404280" y="1917400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700">
              <a:solidFill>
                <a:srgbClr val="575756"/>
              </a:solidFill>
            </a:endParaRPr>
          </a:p>
        </p:txBody>
      </p:sp>
      <p:sp>
        <p:nvSpPr>
          <p:cNvPr id="37" name="Diamond 36">
            <a:extLst>
              <a:ext uri="{FF2B5EF4-FFF2-40B4-BE49-F238E27FC236}">
                <a16:creationId xmlns:a16="http://schemas.microsoft.com/office/drawing/2014/main" id="{18A44F47-A02C-BA96-161A-94231356FC60}"/>
              </a:ext>
            </a:extLst>
          </p:cNvPr>
          <p:cNvSpPr/>
          <p:nvPr/>
        </p:nvSpPr>
        <p:spPr>
          <a:xfrm>
            <a:off x="4301223" y="1912589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700">
              <a:solidFill>
                <a:srgbClr val="575756"/>
              </a:solidFill>
            </a:endParaRPr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A1A68955-52B7-B430-DF19-1844AA7B703C}"/>
              </a:ext>
            </a:extLst>
          </p:cNvPr>
          <p:cNvSpPr/>
          <p:nvPr/>
        </p:nvSpPr>
        <p:spPr>
          <a:xfrm>
            <a:off x="4744202" y="1907418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700">
              <a:solidFill>
                <a:srgbClr val="575756"/>
              </a:solidFill>
            </a:endParaRPr>
          </a:p>
        </p:txBody>
      </p:sp>
      <p:sp>
        <p:nvSpPr>
          <p:cNvPr id="40" name="Diamond 39">
            <a:extLst>
              <a:ext uri="{FF2B5EF4-FFF2-40B4-BE49-F238E27FC236}">
                <a16:creationId xmlns:a16="http://schemas.microsoft.com/office/drawing/2014/main" id="{09EE42C0-408B-08D6-22A1-E1077A0D7FF1}"/>
              </a:ext>
            </a:extLst>
          </p:cNvPr>
          <p:cNvSpPr/>
          <p:nvPr/>
        </p:nvSpPr>
        <p:spPr>
          <a:xfrm>
            <a:off x="5187462" y="1911075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700">
              <a:solidFill>
                <a:srgbClr val="575756"/>
              </a:solidFill>
            </a:endParaRPr>
          </a:p>
        </p:txBody>
      </p:sp>
      <p:sp>
        <p:nvSpPr>
          <p:cNvPr id="41" name="Diamond 40">
            <a:extLst>
              <a:ext uri="{FF2B5EF4-FFF2-40B4-BE49-F238E27FC236}">
                <a16:creationId xmlns:a16="http://schemas.microsoft.com/office/drawing/2014/main" id="{C685CFD1-134D-03AA-C527-B4557A12B6E1}"/>
              </a:ext>
            </a:extLst>
          </p:cNvPr>
          <p:cNvSpPr/>
          <p:nvPr/>
        </p:nvSpPr>
        <p:spPr>
          <a:xfrm>
            <a:off x="6079621" y="1905937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700">
              <a:solidFill>
                <a:srgbClr val="575756"/>
              </a:solidFill>
            </a:endParaRPr>
          </a:p>
        </p:txBody>
      </p:sp>
      <p:sp>
        <p:nvSpPr>
          <p:cNvPr id="42" name="Diamond 41">
            <a:extLst>
              <a:ext uri="{FF2B5EF4-FFF2-40B4-BE49-F238E27FC236}">
                <a16:creationId xmlns:a16="http://schemas.microsoft.com/office/drawing/2014/main" id="{E689D5D4-ADA1-9DAF-C559-8272F43ED906}"/>
              </a:ext>
            </a:extLst>
          </p:cNvPr>
          <p:cNvSpPr/>
          <p:nvPr/>
        </p:nvSpPr>
        <p:spPr>
          <a:xfrm>
            <a:off x="6514483" y="1907418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700">
              <a:solidFill>
                <a:srgbClr val="575756"/>
              </a:solidFill>
            </a:endParaRPr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AA33BDC9-B4CD-4350-2DA4-F57D087433FD}"/>
              </a:ext>
            </a:extLst>
          </p:cNvPr>
          <p:cNvSpPr/>
          <p:nvPr/>
        </p:nvSpPr>
        <p:spPr>
          <a:xfrm>
            <a:off x="6965860" y="1909730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700">
              <a:solidFill>
                <a:srgbClr val="575756"/>
              </a:solidFill>
            </a:endParaRPr>
          </a:p>
        </p:txBody>
      </p:sp>
      <p:sp>
        <p:nvSpPr>
          <p:cNvPr id="46" name="Diamond 45">
            <a:extLst>
              <a:ext uri="{FF2B5EF4-FFF2-40B4-BE49-F238E27FC236}">
                <a16:creationId xmlns:a16="http://schemas.microsoft.com/office/drawing/2014/main" id="{2125FF6B-5740-E50E-67B6-863CD792EB17}"/>
              </a:ext>
            </a:extLst>
          </p:cNvPr>
          <p:cNvSpPr/>
          <p:nvPr/>
        </p:nvSpPr>
        <p:spPr>
          <a:xfrm>
            <a:off x="7840132" y="1912589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700">
              <a:solidFill>
                <a:srgbClr val="575756"/>
              </a:solidFill>
            </a:endParaRPr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366591A2-4E0D-5DD9-3A9B-B9F5FADD9930}"/>
              </a:ext>
            </a:extLst>
          </p:cNvPr>
          <p:cNvSpPr/>
          <p:nvPr/>
        </p:nvSpPr>
        <p:spPr>
          <a:xfrm>
            <a:off x="8283189" y="1906303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700">
              <a:solidFill>
                <a:srgbClr val="575756"/>
              </a:solidFill>
            </a:endParaRPr>
          </a:p>
        </p:txBody>
      </p:sp>
      <p:sp>
        <p:nvSpPr>
          <p:cNvPr id="49" name="Diamond 48">
            <a:extLst>
              <a:ext uri="{FF2B5EF4-FFF2-40B4-BE49-F238E27FC236}">
                <a16:creationId xmlns:a16="http://schemas.microsoft.com/office/drawing/2014/main" id="{99240B5E-37EB-70C4-EC9A-5EBC734C2E75}"/>
              </a:ext>
            </a:extLst>
          </p:cNvPr>
          <p:cNvSpPr/>
          <p:nvPr/>
        </p:nvSpPr>
        <p:spPr>
          <a:xfrm>
            <a:off x="8710120" y="1910242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700">
              <a:solidFill>
                <a:srgbClr val="575756"/>
              </a:solidFill>
            </a:endParaRPr>
          </a:p>
        </p:txBody>
      </p:sp>
      <p:sp>
        <p:nvSpPr>
          <p:cNvPr id="53" name="Diamond 52">
            <a:extLst>
              <a:ext uri="{FF2B5EF4-FFF2-40B4-BE49-F238E27FC236}">
                <a16:creationId xmlns:a16="http://schemas.microsoft.com/office/drawing/2014/main" id="{2F36C3CC-7556-B2FF-14A2-5810F45751DB}"/>
              </a:ext>
            </a:extLst>
          </p:cNvPr>
          <p:cNvSpPr/>
          <p:nvPr/>
        </p:nvSpPr>
        <p:spPr>
          <a:xfrm>
            <a:off x="9593634" y="1912589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700">
              <a:solidFill>
                <a:srgbClr val="575756"/>
              </a:solidFill>
            </a:endParaRPr>
          </a:p>
        </p:txBody>
      </p:sp>
      <p:sp>
        <p:nvSpPr>
          <p:cNvPr id="54" name="Diamond 53">
            <a:extLst>
              <a:ext uri="{FF2B5EF4-FFF2-40B4-BE49-F238E27FC236}">
                <a16:creationId xmlns:a16="http://schemas.microsoft.com/office/drawing/2014/main" id="{0272A053-AB01-C51C-F424-719E9763C1BE}"/>
              </a:ext>
            </a:extLst>
          </p:cNvPr>
          <p:cNvSpPr/>
          <p:nvPr/>
        </p:nvSpPr>
        <p:spPr>
          <a:xfrm>
            <a:off x="10477148" y="1907521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700">
              <a:solidFill>
                <a:srgbClr val="575756"/>
              </a:solidFill>
            </a:endParaRPr>
          </a:p>
        </p:txBody>
      </p:sp>
      <p:sp>
        <p:nvSpPr>
          <p:cNvPr id="57" name="Diamond 56">
            <a:extLst>
              <a:ext uri="{FF2B5EF4-FFF2-40B4-BE49-F238E27FC236}">
                <a16:creationId xmlns:a16="http://schemas.microsoft.com/office/drawing/2014/main" id="{45E48747-4478-FEBA-9C14-F92CA8F3959F}"/>
              </a:ext>
            </a:extLst>
          </p:cNvPr>
          <p:cNvSpPr/>
          <p:nvPr/>
        </p:nvSpPr>
        <p:spPr>
          <a:xfrm>
            <a:off x="10928712" y="1909627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700">
              <a:solidFill>
                <a:srgbClr val="575756"/>
              </a:solidFill>
            </a:endParaRPr>
          </a:p>
        </p:txBody>
      </p:sp>
      <p:sp>
        <p:nvSpPr>
          <p:cNvPr id="61" name="Diamond 60">
            <a:extLst>
              <a:ext uri="{FF2B5EF4-FFF2-40B4-BE49-F238E27FC236}">
                <a16:creationId xmlns:a16="http://schemas.microsoft.com/office/drawing/2014/main" id="{00E79993-87C3-C29F-8D28-27F34B616753}"/>
              </a:ext>
            </a:extLst>
          </p:cNvPr>
          <p:cNvSpPr/>
          <p:nvPr/>
        </p:nvSpPr>
        <p:spPr>
          <a:xfrm>
            <a:off x="11786375" y="1912589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700">
              <a:solidFill>
                <a:srgbClr val="575756"/>
              </a:solidFill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F228041-CF00-F4BA-1E9B-7613060053E6}"/>
              </a:ext>
            </a:extLst>
          </p:cNvPr>
          <p:cNvGrpSpPr/>
          <p:nvPr/>
        </p:nvGrpSpPr>
        <p:grpSpPr>
          <a:xfrm>
            <a:off x="4075417" y="6435775"/>
            <a:ext cx="3529193" cy="216000"/>
            <a:chOff x="4378692" y="6410645"/>
            <a:chExt cx="3529193" cy="216000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AEA39D8-8B60-0AAB-7091-350A8EF19EEC}"/>
                </a:ext>
              </a:extLst>
            </p:cNvPr>
            <p:cNvSpPr/>
            <p:nvPr/>
          </p:nvSpPr>
          <p:spPr>
            <a:xfrm>
              <a:off x="4378692" y="6455685"/>
              <a:ext cx="468095" cy="1259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b="1">
                  <a:solidFill>
                    <a:schemeClr val="tx1"/>
                  </a:solidFill>
                </a:rPr>
                <a:t>Key: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8298FE30-CE08-EC4E-6670-AD3F3F4C1A1E}"/>
                </a:ext>
              </a:extLst>
            </p:cNvPr>
            <p:cNvSpPr/>
            <p:nvPr/>
          </p:nvSpPr>
          <p:spPr>
            <a:xfrm>
              <a:off x="4845593" y="6455685"/>
              <a:ext cx="1825792" cy="1259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i="1">
                  <a:solidFill>
                    <a:schemeClr val="tx1"/>
                  </a:solidFill>
                </a:rPr>
                <a:t>SteerCo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AFBFB155-8B6E-71C1-1D89-76570B934C00}"/>
                </a:ext>
              </a:extLst>
            </p:cNvPr>
            <p:cNvSpPr/>
            <p:nvPr/>
          </p:nvSpPr>
          <p:spPr>
            <a:xfrm>
              <a:off x="5493027" y="6455685"/>
              <a:ext cx="1610113" cy="1259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i="1">
                  <a:solidFill>
                    <a:schemeClr val="tx1"/>
                  </a:solidFill>
                </a:rPr>
                <a:t>Milestones</a:t>
              </a:r>
            </a:p>
          </p:txBody>
        </p:sp>
        <p:sp>
          <p:nvSpPr>
            <p:cNvPr id="78" name="Diamond 77">
              <a:extLst>
                <a:ext uri="{FF2B5EF4-FFF2-40B4-BE49-F238E27FC236}">
                  <a16:creationId xmlns:a16="http://schemas.microsoft.com/office/drawing/2014/main" id="{F95649B5-FC09-20A9-03E4-86108DACC5B6}"/>
                </a:ext>
              </a:extLst>
            </p:cNvPr>
            <p:cNvSpPr/>
            <p:nvPr/>
          </p:nvSpPr>
          <p:spPr>
            <a:xfrm>
              <a:off x="4708452" y="6410645"/>
              <a:ext cx="216000" cy="216000"/>
            </a:xfrm>
            <a:prstGeom prst="diamond">
              <a:avLst/>
            </a:prstGeom>
            <a:solidFill>
              <a:schemeClr val="accent2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700">
                <a:solidFill>
                  <a:srgbClr val="575756"/>
                </a:solidFill>
              </a:endParaRPr>
            </a:p>
          </p:txBody>
        </p:sp>
        <p:sp>
          <p:nvSpPr>
            <p:cNvPr id="99" name="Diamond 98">
              <a:extLst>
                <a:ext uri="{FF2B5EF4-FFF2-40B4-BE49-F238E27FC236}">
                  <a16:creationId xmlns:a16="http://schemas.microsoft.com/office/drawing/2014/main" id="{F46EE7DC-8A35-9F29-4785-CE331EC7DA31}"/>
                </a:ext>
              </a:extLst>
            </p:cNvPr>
            <p:cNvSpPr/>
            <p:nvPr/>
          </p:nvSpPr>
          <p:spPr>
            <a:xfrm>
              <a:off x="5325135" y="6410645"/>
              <a:ext cx="216000" cy="216000"/>
            </a:xfrm>
            <a:prstGeom prst="diamond">
              <a:avLst/>
            </a:prstGeom>
            <a:solidFill>
              <a:srgbClr val="40749B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700">
                <a:solidFill>
                  <a:srgbClr val="575756"/>
                </a:solidFill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F35D4CE1-B554-BE5E-6043-5281A6F18EA6}"/>
                </a:ext>
              </a:extLst>
            </p:cNvPr>
            <p:cNvSpPr/>
            <p:nvPr/>
          </p:nvSpPr>
          <p:spPr>
            <a:xfrm>
              <a:off x="6297772" y="6455685"/>
              <a:ext cx="1610113" cy="1259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>
                  <a:solidFill>
                    <a:schemeClr val="tx1"/>
                  </a:solidFill>
                </a:rPr>
                <a:t>Reunião de </a:t>
              </a:r>
              <a:r>
                <a:rPr lang="en-GB" sz="900" i="1">
                  <a:solidFill>
                    <a:schemeClr val="tx1"/>
                  </a:solidFill>
                </a:rPr>
                <a:t>Status</a:t>
              </a:r>
              <a:r>
                <a:rPr lang="en-GB" sz="900">
                  <a:solidFill>
                    <a:schemeClr val="tx1"/>
                  </a:solidFill>
                </a:rPr>
                <a:t> do </a:t>
              </a:r>
              <a:r>
                <a:rPr lang="pt-PT" sz="900">
                  <a:solidFill>
                    <a:schemeClr val="tx1"/>
                  </a:solidFill>
                </a:rPr>
                <a:t>Projeto</a:t>
              </a:r>
              <a:endParaRPr lang="en-GB" sz="900">
                <a:solidFill>
                  <a:schemeClr val="tx1"/>
                </a:solidFill>
              </a:endParaRPr>
            </a:p>
          </p:txBody>
        </p:sp>
        <p:sp>
          <p:nvSpPr>
            <p:cNvPr id="116" name="Diamond 115">
              <a:extLst>
                <a:ext uri="{FF2B5EF4-FFF2-40B4-BE49-F238E27FC236}">
                  <a16:creationId xmlns:a16="http://schemas.microsoft.com/office/drawing/2014/main" id="{A7065B6B-3778-AB6F-4332-B48CBB18813F}"/>
                </a:ext>
              </a:extLst>
            </p:cNvPr>
            <p:cNvSpPr/>
            <p:nvPr/>
          </p:nvSpPr>
          <p:spPr>
            <a:xfrm>
              <a:off x="6129880" y="6410645"/>
              <a:ext cx="216000" cy="216000"/>
            </a:xfrm>
            <a:prstGeom prst="diamond">
              <a:avLst/>
            </a:prstGeom>
            <a:solidFill>
              <a:schemeClr val="accent6">
                <a:lumMod val="75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700">
                <a:solidFill>
                  <a:srgbClr val="575756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2630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17679EF-5DE1-49A3-A136-13A798ED40C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17679EF-5DE1-49A3-A136-13A798ED40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5">
            <a:extLst>
              <a:ext uri="{FF2B5EF4-FFF2-40B4-BE49-F238E27FC236}">
                <a16:creationId xmlns:a16="http://schemas.microsoft.com/office/drawing/2014/main" id="{C6DF79F9-E963-44DE-83EF-A2821E7BA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23" y="349517"/>
            <a:ext cx="10698480" cy="420189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pt-PT" sz="2800" b="1">
                <a:ea typeface="Verdana"/>
              </a:rPr>
              <a:t>Replaneamento da Fase 1 &amp; 2 | </a:t>
            </a:r>
            <a:r>
              <a:rPr lang="pt-PT" sz="2800">
                <a:ea typeface="Verdana"/>
              </a:rPr>
              <a:t>Plano de Procurement &amp; Logística - Nível 2</a:t>
            </a:r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131F0449-6E34-41A1-B16C-81401C10C2A5}"/>
              </a:ext>
            </a:extLst>
          </p:cNvPr>
          <p:cNvSpPr txBox="1">
            <a:spLocks/>
          </p:cNvSpPr>
          <p:nvPr/>
        </p:nvSpPr>
        <p:spPr>
          <a:xfrm>
            <a:off x="461822" y="769707"/>
            <a:ext cx="11426585" cy="7714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600">
                <a:ea typeface="Verdana"/>
              </a:rPr>
              <a:t>Abaixo mais detalhes sobre as atividade de Procurement necessárias para restruturação e </a:t>
            </a:r>
            <a:r>
              <a:rPr lang="pt-PT" sz="1600" i="1">
                <a:ea typeface="Verdana"/>
              </a:rPr>
              <a:t>embedment</a:t>
            </a:r>
            <a:endParaRPr lang="en-ZA" sz="1800" i="1">
              <a:ea typeface="Verdan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5864AC-D71B-1EF5-E415-92F3A668D2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212629"/>
              </p:ext>
            </p:extLst>
          </p:nvPr>
        </p:nvGraphicFramePr>
        <p:xfrm>
          <a:off x="303593" y="1346919"/>
          <a:ext cx="11584787" cy="49703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328">
                  <a:extLst>
                    <a:ext uri="{9D8B030D-6E8A-4147-A177-3AD203B41FA5}">
                      <a16:colId xmlns:a16="http://schemas.microsoft.com/office/drawing/2014/main" val="620005219"/>
                    </a:ext>
                  </a:extLst>
                </a:gridCol>
                <a:gridCol w="359784">
                  <a:extLst>
                    <a:ext uri="{9D8B030D-6E8A-4147-A177-3AD203B41FA5}">
                      <a16:colId xmlns:a16="http://schemas.microsoft.com/office/drawing/2014/main" val="3619358262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2619770351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3166678203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2313141890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4165277009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3597230632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63557699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3123628666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1562696834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945839103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482060751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2050613483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823468893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3535432487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3838773965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2751945772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1597414066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3756699648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2750429187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2999127045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542369285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933181328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1880500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2327927337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402339590"/>
                    </a:ext>
                  </a:extLst>
                </a:gridCol>
                <a:gridCol w="442027">
                  <a:extLst>
                    <a:ext uri="{9D8B030D-6E8A-4147-A177-3AD203B41FA5}">
                      <a16:colId xmlns:a16="http://schemas.microsoft.com/office/drawing/2014/main" val="1551379888"/>
                    </a:ext>
                  </a:extLst>
                </a:gridCol>
              </a:tblGrid>
              <a:tr h="307938"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noProof="0">
                          <a:latin typeface="+mn-lt"/>
                        </a:rPr>
                        <a:t>01/07</a:t>
                      </a:r>
                    </a:p>
                  </a:txBody>
                  <a:tcPr marL="36000" marR="36000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noProof="0">
                          <a:latin typeface="+mn-lt"/>
                        </a:rPr>
                        <a:t>08/07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noProof="0">
                          <a:latin typeface="+mn-lt"/>
                        </a:rPr>
                        <a:t>15/07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noProof="0">
                          <a:latin typeface="+mn-lt"/>
                        </a:rPr>
                        <a:t>22/07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noProof="0">
                          <a:latin typeface="+mn-lt"/>
                        </a:rPr>
                        <a:t>29/07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noProof="0">
                          <a:latin typeface="+mn-lt"/>
                        </a:rPr>
                        <a:t>05/08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noProof="0">
                          <a:latin typeface="+mn-lt"/>
                        </a:rPr>
                        <a:t>26/08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noProof="0">
                          <a:latin typeface="+mn-lt"/>
                        </a:rPr>
                        <a:t>02/09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noProof="0">
                          <a:latin typeface="+mn-lt"/>
                        </a:rPr>
                        <a:t>09/09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noProof="0">
                          <a:latin typeface="+mn-lt"/>
                        </a:rPr>
                        <a:t>16/09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noProof="0">
                          <a:latin typeface="+mn-lt"/>
                        </a:rPr>
                        <a:t>23/09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noProof="0">
                          <a:latin typeface="+mn-lt"/>
                        </a:rPr>
                        <a:t>30/09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noProof="0">
                          <a:latin typeface="+mn-lt"/>
                        </a:rPr>
                        <a:t>07/10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noProof="0">
                          <a:latin typeface="+mn-lt"/>
                        </a:rPr>
                        <a:t>14/10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noProof="0">
                          <a:latin typeface="+mn-lt"/>
                        </a:rPr>
                        <a:t>21/10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noProof="0">
                          <a:latin typeface="+mn-lt"/>
                        </a:rPr>
                        <a:t>28/10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04/11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11/11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18/11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25/11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02/12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09/12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13/01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20/01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27/01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03/02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843202"/>
                  </a:ext>
                </a:extLst>
              </a:tr>
              <a:tr h="817215">
                <a:tc rowSpan="2"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1" kern="1200" noProof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PMO</a:t>
                      </a:r>
                    </a:p>
                  </a:txBody>
                  <a:tcPr marL="72000" marR="72000" marT="72000" marB="72000" vert="vert27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gridSpan="6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05874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1" kern="1200" noProof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Xxxxxx</a:t>
                      </a:r>
                      <a:endParaRPr lang="en-GB" sz="800" b="1" kern="1200" noProof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72000" marB="72000" vert="vert27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6" v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4383101"/>
                  </a:ext>
                </a:extLst>
              </a:tr>
              <a:tr h="2484000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Procurement </a:t>
                      </a:r>
                    </a:p>
                  </a:txBody>
                  <a:tcPr marL="72000" marR="72000" marT="36000" marB="36000" vert="vert27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833319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Logística</a:t>
                      </a:r>
                    </a:p>
                  </a:txBody>
                  <a:tcPr marL="72000" marR="72000" marT="36000" marB="36000" vert="vert27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4570332"/>
                  </a:ext>
                </a:extLst>
              </a:tr>
            </a:tbl>
          </a:graphicData>
        </a:graphic>
      </p:graphicFrame>
      <p:sp>
        <p:nvSpPr>
          <p:cNvPr id="30" name="Arrow: Pentagon 29">
            <a:extLst>
              <a:ext uri="{FF2B5EF4-FFF2-40B4-BE49-F238E27FC236}">
                <a16:creationId xmlns:a16="http://schemas.microsoft.com/office/drawing/2014/main" id="{CF77C79E-EBEB-194C-E615-767B71B3382F}"/>
              </a:ext>
            </a:extLst>
          </p:cNvPr>
          <p:cNvSpPr/>
          <p:nvPr/>
        </p:nvSpPr>
        <p:spPr>
          <a:xfrm>
            <a:off x="500959" y="1884160"/>
            <a:ext cx="529101" cy="198000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Config.</a:t>
            </a:r>
          </a:p>
        </p:txBody>
      </p:sp>
      <p:sp>
        <p:nvSpPr>
          <p:cNvPr id="51" name="Diamond 50">
            <a:extLst>
              <a:ext uri="{FF2B5EF4-FFF2-40B4-BE49-F238E27FC236}">
                <a16:creationId xmlns:a16="http://schemas.microsoft.com/office/drawing/2014/main" id="{C6FE4774-0B05-2364-FD9F-04CAAF074693}"/>
              </a:ext>
            </a:extLst>
          </p:cNvPr>
          <p:cNvSpPr/>
          <p:nvPr/>
        </p:nvSpPr>
        <p:spPr>
          <a:xfrm>
            <a:off x="2096805" y="1914808"/>
            <a:ext cx="144000" cy="144000"/>
          </a:xfrm>
          <a:prstGeom prst="diamond">
            <a:avLst/>
          </a:prstGeom>
          <a:solidFill>
            <a:schemeClr val="accent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56" name="Diamond 55">
            <a:extLst>
              <a:ext uri="{FF2B5EF4-FFF2-40B4-BE49-F238E27FC236}">
                <a16:creationId xmlns:a16="http://schemas.microsoft.com/office/drawing/2014/main" id="{55D27448-DBEF-9763-74C9-98BDDFEB8760}"/>
              </a:ext>
            </a:extLst>
          </p:cNvPr>
          <p:cNvSpPr/>
          <p:nvPr/>
        </p:nvSpPr>
        <p:spPr>
          <a:xfrm>
            <a:off x="9150613" y="1914808"/>
            <a:ext cx="144000" cy="144000"/>
          </a:xfrm>
          <a:prstGeom prst="diamond">
            <a:avLst/>
          </a:prstGeom>
          <a:solidFill>
            <a:schemeClr val="accent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58" name="Diamond 57">
            <a:extLst>
              <a:ext uri="{FF2B5EF4-FFF2-40B4-BE49-F238E27FC236}">
                <a16:creationId xmlns:a16="http://schemas.microsoft.com/office/drawing/2014/main" id="{54352F14-1D7B-EF9C-806E-51956D5E2533}"/>
              </a:ext>
            </a:extLst>
          </p:cNvPr>
          <p:cNvSpPr/>
          <p:nvPr/>
        </p:nvSpPr>
        <p:spPr>
          <a:xfrm>
            <a:off x="7387161" y="1914808"/>
            <a:ext cx="144000" cy="144000"/>
          </a:xfrm>
          <a:prstGeom prst="diamond">
            <a:avLst/>
          </a:prstGeom>
          <a:solidFill>
            <a:schemeClr val="accent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0B8AC99A-9485-0721-E255-976E0AF7C2DC}"/>
              </a:ext>
            </a:extLst>
          </p:cNvPr>
          <p:cNvSpPr/>
          <p:nvPr/>
        </p:nvSpPr>
        <p:spPr>
          <a:xfrm>
            <a:off x="3860257" y="1914808"/>
            <a:ext cx="144000" cy="144000"/>
          </a:xfrm>
          <a:prstGeom prst="diamond">
            <a:avLst/>
          </a:prstGeom>
          <a:solidFill>
            <a:schemeClr val="accent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22" name="Diamond 21">
            <a:extLst>
              <a:ext uri="{FF2B5EF4-FFF2-40B4-BE49-F238E27FC236}">
                <a16:creationId xmlns:a16="http://schemas.microsoft.com/office/drawing/2014/main" id="{C7DF2215-6C30-7072-E9C3-13AB521E12E4}"/>
              </a:ext>
            </a:extLst>
          </p:cNvPr>
          <p:cNvSpPr/>
          <p:nvPr/>
        </p:nvSpPr>
        <p:spPr>
          <a:xfrm>
            <a:off x="5623709" y="1914808"/>
            <a:ext cx="144000" cy="144000"/>
          </a:xfrm>
          <a:prstGeom prst="diamond">
            <a:avLst/>
          </a:prstGeom>
          <a:solidFill>
            <a:schemeClr val="accent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C799D400-1CAC-89A9-2BE5-92562FC68D4C}"/>
              </a:ext>
            </a:extLst>
          </p:cNvPr>
          <p:cNvCxnSpPr>
            <a:cxnSpLocks/>
            <a:endCxn id="113" idx="0"/>
          </p:cNvCxnSpPr>
          <p:nvPr/>
        </p:nvCxnSpPr>
        <p:spPr>
          <a:xfrm>
            <a:off x="1720158" y="1660525"/>
            <a:ext cx="2680" cy="68888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Diamond 112">
            <a:extLst>
              <a:ext uri="{FF2B5EF4-FFF2-40B4-BE49-F238E27FC236}">
                <a16:creationId xmlns:a16="http://schemas.microsoft.com/office/drawing/2014/main" id="{B63F1FB2-C5B8-C8D0-8747-8BA5528228C4}"/>
              </a:ext>
            </a:extLst>
          </p:cNvPr>
          <p:cNvSpPr/>
          <p:nvPr/>
        </p:nvSpPr>
        <p:spPr>
          <a:xfrm>
            <a:off x="1650838" y="2349405"/>
            <a:ext cx="144000" cy="144000"/>
          </a:xfrm>
          <a:prstGeom prst="diamond">
            <a:avLst/>
          </a:prstGeom>
          <a:solidFill>
            <a:srgbClr val="40749B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BEC5AF0A-244D-30BB-C8B3-C9E6F75EFEB1}"/>
              </a:ext>
            </a:extLst>
          </p:cNvPr>
          <p:cNvSpPr/>
          <p:nvPr/>
        </p:nvSpPr>
        <p:spPr>
          <a:xfrm>
            <a:off x="1829049" y="2151262"/>
            <a:ext cx="999961" cy="502813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800" i="1">
                <a:solidFill>
                  <a:srgbClr val="34342B"/>
                </a:solidFill>
              </a:rPr>
              <a:t>Comunicar Estratégia de SC (19 de Julho) para iniciar com o embedment de planeamento em 26 de Julho</a:t>
            </a:r>
            <a:endParaRPr kumimoji="0" lang="en-GB" sz="800" b="0" i="1" u="none" strike="noStrike" kern="1200" cap="none" spc="0" normalizeH="0" baseline="0" noProof="0">
              <a:ln>
                <a:noFill/>
              </a:ln>
              <a:solidFill>
                <a:srgbClr val="34342B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7" name="Arrow: Pentagon 116">
            <a:extLst>
              <a:ext uri="{FF2B5EF4-FFF2-40B4-BE49-F238E27FC236}">
                <a16:creationId xmlns:a16="http://schemas.microsoft.com/office/drawing/2014/main" id="{B91713DA-0A99-37CA-A385-A5113E79A805}"/>
              </a:ext>
            </a:extLst>
          </p:cNvPr>
          <p:cNvSpPr/>
          <p:nvPr/>
        </p:nvSpPr>
        <p:spPr>
          <a:xfrm>
            <a:off x="818810" y="3234893"/>
            <a:ext cx="1346901" cy="185841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700" b="1" i="1" err="1">
                <a:solidFill>
                  <a:schemeClr val="bg1"/>
                </a:solidFill>
              </a:rPr>
              <a:t>Squad</a:t>
            </a:r>
            <a:r>
              <a:rPr lang="pt-PT" sz="700" b="1">
                <a:solidFill>
                  <a:schemeClr val="bg1"/>
                </a:solidFill>
              </a:rPr>
              <a:t> 1 Desenho</a:t>
            </a:r>
          </a:p>
        </p:txBody>
      </p:sp>
      <p:sp>
        <p:nvSpPr>
          <p:cNvPr id="118" name="Arrow: Pentagon 117">
            <a:extLst>
              <a:ext uri="{FF2B5EF4-FFF2-40B4-BE49-F238E27FC236}">
                <a16:creationId xmlns:a16="http://schemas.microsoft.com/office/drawing/2014/main" id="{D7E95B5D-34B0-3458-41D3-F51617BAF786}"/>
              </a:ext>
            </a:extLst>
          </p:cNvPr>
          <p:cNvSpPr/>
          <p:nvPr/>
        </p:nvSpPr>
        <p:spPr>
          <a:xfrm>
            <a:off x="2171912" y="3234893"/>
            <a:ext cx="879023" cy="187200"/>
          </a:xfrm>
          <a:prstGeom prst="homePlate">
            <a:avLst/>
          </a:prstGeom>
          <a:solidFill>
            <a:schemeClr val="bg2">
              <a:lumMod val="75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700" b="1" i="1">
                <a:solidFill>
                  <a:schemeClr val="bg1"/>
                </a:solidFill>
              </a:rPr>
              <a:t>Squad</a:t>
            </a:r>
            <a:r>
              <a:rPr lang="pt-PT" sz="700" b="1">
                <a:solidFill>
                  <a:schemeClr val="bg1"/>
                </a:solidFill>
              </a:rPr>
              <a:t> 1 </a:t>
            </a:r>
            <a:r>
              <a:rPr lang="pt-PT" sz="700" b="1" i="1">
                <a:solidFill>
                  <a:schemeClr val="bg1"/>
                </a:solidFill>
              </a:rPr>
              <a:t>Embed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53236AFA-652A-2DA6-A769-5C3BFB7AB4AA}"/>
              </a:ext>
            </a:extLst>
          </p:cNvPr>
          <p:cNvSpPr/>
          <p:nvPr/>
        </p:nvSpPr>
        <p:spPr>
          <a:xfrm>
            <a:off x="818812" y="3067020"/>
            <a:ext cx="2232124" cy="155821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700" i="1">
                <a:solidFill>
                  <a:srgbClr val="34342B"/>
                </a:solidFill>
              </a:rPr>
              <a:t>Priorização do Planeamento de Procurement </a:t>
            </a:r>
            <a:endParaRPr kumimoji="0" lang="en-GB" sz="700" b="0" i="1" u="none" strike="noStrike" kern="1200" cap="none" spc="0" normalizeH="0" baseline="0" noProof="0">
              <a:ln>
                <a:noFill/>
              </a:ln>
              <a:solidFill>
                <a:srgbClr val="34342B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20" name="Arrow: Pentagon 119">
            <a:extLst>
              <a:ext uri="{FF2B5EF4-FFF2-40B4-BE49-F238E27FC236}">
                <a16:creationId xmlns:a16="http://schemas.microsoft.com/office/drawing/2014/main" id="{D7E7F970-A129-99AC-8ECC-E5E804AF4093}"/>
              </a:ext>
            </a:extLst>
          </p:cNvPr>
          <p:cNvSpPr/>
          <p:nvPr/>
        </p:nvSpPr>
        <p:spPr>
          <a:xfrm>
            <a:off x="3067289" y="3234893"/>
            <a:ext cx="2194799" cy="186042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700" b="1" i="1">
                <a:solidFill>
                  <a:schemeClr val="bg1"/>
                </a:solidFill>
              </a:rPr>
              <a:t>Squad</a:t>
            </a:r>
            <a:r>
              <a:rPr lang="pt-PT" sz="700" b="1">
                <a:solidFill>
                  <a:schemeClr val="bg1"/>
                </a:solidFill>
              </a:rPr>
              <a:t> 1 Desenho</a:t>
            </a:r>
          </a:p>
        </p:txBody>
      </p:sp>
      <p:sp>
        <p:nvSpPr>
          <p:cNvPr id="121" name="Arrow: Pentagon 120">
            <a:extLst>
              <a:ext uri="{FF2B5EF4-FFF2-40B4-BE49-F238E27FC236}">
                <a16:creationId xmlns:a16="http://schemas.microsoft.com/office/drawing/2014/main" id="{76785DDC-8E3F-C05F-5509-C49719EC4339}"/>
              </a:ext>
            </a:extLst>
          </p:cNvPr>
          <p:cNvSpPr/>
          <p:nvPr/>
        </p:nvSpPr>
        <p:spPr>
          <a:xfrm>
            <a:off x="5268288" y="3233735"/>
            <a:ext cx="1286422" cy="187200"/>
          </a:xfrm>
          <a:prstGeom prst="homePlate">
            <a:avLst/>
          </a:prstGeom>
          <a:solidFill>
            <a:schemeClr val="bg2">
              <a:lumMod val="75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700" b="1" i="1">
                <a:solidFill>
                  <a:schemeClr val="bg1"/>
                </a:solidFill>
              </a:rPr>
              <a:t>Squad</a:t>
            </a:r>
            <a:r>
              <a:rPr lang="pt-PT" sz="700" b="1">
                <a:solidFill>
                  <a:schemeClr val="bg1"/>
                </a:solidFill>
              </a:rPr>
              <a:t> 1 </a:t>
            </a:r>
            <a:r>
              <a:rPr lang="pt-PT" sz="700" b="1" i="1">
                <a:solidFill>
                  <a:schemeClr val="bg1"/>
                </a:solidFill>
              </a:rPr>
              <a:t>Embed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C29A4D4-E713-B5E1-74F2-C3295B2AF87E}"/>
              </a:ext>
            </a:extLst>
          </p:cNvPr>
          <p:cNvSpPr/>
          <p:nvPr/>
        </p:nvSpPr>
        <p:spPr>
          <a:xfrm>
            <a:off x="3067289" y="3067020"/>
            <a:ext cx="2232124" cy="155821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700" i="1">
                <a:solidFill>
                  <a:srgbClr val="34342B"/>
                </a:solidFill>
              </a:rPr>
              <a:t>Gestão de Fornecedores</a:t>
            </a:r>
            <a:endParaRPr kumimoji="0" lang="en-GB" sz="700" b="0" i="1" u="none" strike="noStrike" kern="1200" cap="none" spc="0" normalizeH="0" baseline="0" noProof="0">
              <a:ln>
                <a:noFill/>
              </a:ln>
              <a:solidFill>
                <a:srgbClr val="34342B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24" name="Arrow: Pentagon 123">
            <a:extLst>
              <a:ext uri="{FF2B5EF4-FFF2-40B4-BE49-F238E27FC236}">
                <a16:creationId xmlns:a16="http://schemas.microsoft.com/office/drawing/2014/main" id="{E5FB698A-9817-8A48-8858-8705AC0096E5}"/>
              </a:ext>
            </a:extLst>
          </p:cNvPr>
          <p:cNvSpPr/>
          <p:nvPr/>
        </p:nvSpPr>
        <p:spPr>
          <a:xfrm>
            <a:off x="6591253" y="3234043"/>
            <a:ext cx="1740642" cy="1872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700" b="1" i="1">
                <a:solidFill>
                  <a:schemeClr val="bg1"/>
                </a:solidFill>
              </a:rPr>
              <a:t>Squad</a:t>
            </a:r>
            <a:r>
              <a:rPr lang="pt-PT" sz="700" b="1">
                <a:solidFill>
                  <a:schemeClr val="bg1"/>
                </a:solidFill>
              </a:rPr>
              <a:t> 1 Desenho</a:t>
            </a:r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D263709B-B250-5BD0-7E12-79E3B8501476}"/>
              </a:ext>
            </a:extLst>
          </p:cNvPr>
          <p:cNvSpPr/>
          <p:nvPr/>
        </p:nvSpPr>
        <p:spPr>
          <a:xfrm>
            <a:off x="6482724" y="3256622"/>
            <a:ext cx="144000" cy="144000"/>
          </a:xfrm>
          <a:prstGeom prst="diamond">
            <a:avLst/>
          </a:prstGeom>
          <a:solidFill>
            <a:srgbClr val="40749B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126" name="Arrow: Pentagon 125">
            <a:extLst>
              <a:ext uri="{FF2B5EF4-FFF2-40B4-BE49-F238E27FC236}">
                <a16:creationId xmlns:a16="http://schemas.microsoft.com/office/drawing/2014/main" id="{856961CC-D0FD-4BD3-5BD7-00A8388CAD1A}"/>
              </a:ext>
            </a:extLst>
          </p:cNvPr>
          <p:cNvSpPr/>
          <p:nvPr/>
        </p:nvSpPr>
        <p:spPr>
          <a:xfrm>
            <a:off x="8356522" y="3234043"/>
            <a:ext cx="872670" cy="187200"/>
          </a:xfrm>
          <a:prstGeom prst="homePlate">
            <a:avLst/>
          </a:prstGeom>
          <a:solidFill>
            <a:schemeClr val="bg2">
              <a:lumMod val="75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700" b="1" i="1">
                <a:solidFill>
                  <a:schemeClr val="bg1"/>
                </a:solidFill>
              </a:rPr>
              <a:t>Squad</a:t>
            </a:r>
            <a:r>
              <a:rPr lang="pt-PT" sz="700" b="1">
                <a:solidFill>
                  <a:schemeClr val="bg1"/>
                </a:solidFill>
              </a:rPr>
              <a:t> 1 </a:t>
            </a:r>
            <a:r>
              <a:rPr lang="pt-PT" sz="700" b="1" i="1">
                <a:solidFill>
                  <a:schemeClr val="bg1"/>
                </a:solidFill>
              </a:rPr>
              <a:t>Embed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A0231303-84F3-FFA9-F486-330D81DB1077}"/>
              </a:ext>
            </a:extLst>
          </p:cNvPr>
          <p:cNvSpPr/>
          <p:nvPr/>
        </p:nvSpPr>
        <p:spPr>
          <a:xfrm>
            <a:off x="6591253" y="3067020"/>
            <a:ext cx="2232124" cy="155821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700" i="1">
                <a:solidFill>
                  <a:srgbClr val="34342B"/>
                </a:solidFill>
              </a:rPr>
              <a:t>Gestão de Contratos</a:t>
            </a:r>
            <a:endParaRPr kumimoji="0" lang="en-GB" sz="700" b="0" i="1" u="none" strike="noStrike" kern="1200" cap="none" spc="0" normalizeH="0" baseline="0" noProof="0">
              <a:ln>
                <a:noFill/>
              </a:ln>
              <a:solidFill>
                <a:srgbClr val="34342B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96" name="Arrow: Pentagon 195">
            <a:extLst>
              <a:ext uri="{FF2B5EF4-FFF2-40B4-BE49-F238E27FC236}">
                <a16:creationId xmlns:a16="http://schemas.microsoft.com/office/drawing/2014/main" id="{A5EDC35B-39E3-DEB2-E1B1-7036E24F7DE5}"/>
              </a:ext>
            </a:extLst>
          </p:cNvPr>
          <p:cNvSpPr/>
          <p:nvPr/>
        </p:nvSpPr>
        <p:spPr>
          <a:xfrm>
            <a:off x="818810" y="4211091"/>
            <a:ext cx="3993773" cy="1872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700" b="1" i="1">
                <a:solidFill>
                  <a:schemeClr val="bg1"/>
                </a:solidFill>
              </a:rPr>
              <a:t>Squad</a:t>
            </a:r>
            <a:r>
              <a:rPr lang="pt-PT" sz="700" b="1">
                <a:solidFill>
                  <a:schemeClr val="bg1"/>
                </a:solidFill>
              </a:rPr>
              <a:t> 2 Desenho</a:t>
            </a:r>
          </a:p>
        </p:txBody>
      </p:sp>
      <p:sp>
        <p:nvSpPr>
          <p:cNvPr id="197" name="Arrow: Pentagon 196">
            <a:extLst>
              <a:ext uri="{FF2B5EF4-FFF2-40B4-BE49-F238E27FC236}">
                <a16:creationId xmlns:a16="http://schemas.microsoft.com/office/drawing/2014/main" id="{1FCF48E2-57A2-502E-11E4-362088EA5B35}"/>
              </a:ext>
            </a:extLst>
          </p:cNvPr>
          <p:cNvSpPr/>
          <p:nvPr/>
        </p:nvSpPr>
        <p:spPr>
          <a:xfrm>
            <a:off x="4812583" y="4210559"/>
            <a:ext cx="2194799" cy="188265"/>
          </a:xfrm>
          <a:prstGeom prst="homePlate">
            <a:avLst/>
          </a:prstGeom>
          <a:solidFill>
            <a:schemeClr val="bg2">
              <a:lumMod val="75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700" b="1" i="1">
                <a:solidFill>
                  <a:schemeClr val="bg1"/>
                </a:solidFill>
              </a:rPr>
              <a:t>Squad</a:t>
            </a:r>
            <a:r>
              <a:rPr lang="pt-PT" sz="700" b="1">
                <a:solidFill>
                  <a:schemeClr val="bg1"/>
                </a:solidFill>
              </a:rPr>
              <a:t> 2 </a:t>
            </a:r>
            <a:r>
              <a:rPr lang="pt-PT" sz="700" b="1" i="1">
                <a:solidFill>
                  <a:schemeClr val="bg1"/>
                </a:solidFill>
              </a:rPr>
              <a:t>Embed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219002EA-F86A-AF55-F4AC-7F1CB5943EF9}"/>
              </a:ext>
            </a:extLst>
          </p:cNvPr>
          <p:cNvSpPr/>
          <p:nvPr/>
        </p:nvSpPr>
        <p:spPr>
          <a:xfrm>
            <a:off x="800149" y="4035896"/>
            <a:ext cx="2232124" cy="155821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700" i="1">
                <a:solidFill>
                  <a:srgbClr val="34342B"/>
                </a:solidFill>
              </a:rPr>
              <a:t>Procurement Operacional</a:t>
            </a:r>
            <a:endParaRPr kumimoji="0" lang="en-GB" sz="700" b="0" i="1" u="none" strike="noStrike" kern="1200" cap="none" spc="0" normalizeH="0" baseline="0" noProof="0">
              <a:ln>
                <a:noFill/>
              </a:ln>
              <a:solidFill>
                <a:srgbClr val="34342B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99" name="Arrow: Pentagon 198">
            <a:extLst>
              <a:ext uri="{FF2B5EF4-FFF2-40B4-BE49-F238E27FC236}">
                <a16:creationId xmlns:a16="http://schemas.microsoft.com/office/drawing/2014/main" id="{4C7FBF9D-4180-23B2-0962-E9A3F6D1826B}"/>
              </a:ext>
            </a:extLst>
          </p:cNvPr>
          <p:cNvSpPr/>
          <p:nvPr/>
        </p:nvSpPr>
        <p:spPr>
          <a:xfrm>
            <a:off x="7007382" y="4211091"/>
            <a:ext cx="872670" cy="187200"/>
          </a:xfrm>
          <a:prstGeom prst="homePlate">
            <a:avLst/>
          </a:prstGeom>
          <a:solidFill>
            <a:srgbClr val="EABAA5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700" b="1" i="1">
                <a:solidFill>
                  <a:schemeClr val="bg1"/>
                </a:solidFill>
              </a:rPr>
              <a:t>Squad</a:t>
            </a:r>
            <a:r>
              <a:rPr lang="pt-PT" sz="700" b="1">
                <a:solidFill>
                  <a:schemeClr val="bg1"/>
                </a:solidFill>
              </a:rPr>
              <a:t> 2 </a:t>
            </a:r>
            <a:r>
              <a:rPr lang="pt-PT" sz="700" b="1" i="1">
                <a:solidFill>
                  <a:schemeClr val="bg1"/>
                </a:solidFill>
              </a:rPr>
              <a:t>Embed</a:t>
            </a:r>
          </a:p>
        </p:txBody>
      </p:sp>
      <p:sp>
        <p:nvSpPr>
          <p:cNvPr id="200" name="Arrow: Pentagon 199">
            <a:extLst>
              <a:ext uri="{FF2B5EF4-FFF2-40B4-BE49-F238E27FC236}">
                <a16:creationId xmlns:a16="http://schemas.microsoft.com/office/drawing/2014/main" id="{9EBF0604-FA73-5F43-3E09-EC96CB4A81E3}"/>
              </a:ext>
            </a:extLst>
          </p:cNvPr>
          <p:cNvSpPr/>
          <p:nvPr/>
        </p:nvSpPr>
        <p:spPr>
          <a:xfrm>
            <a:off x="7901670" y="4211091"/>
            <a:ext cx="457045" cy="187200"/>
          </a:xfrm>
          <a:prstGeom prst="homePlate">
            <a:avLst/>
          </a:prstGeom>
          <a:solidFill>
            <a:schemeClr val="bg2">
              <a:lumMod val="75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700" b="1" i="1">
                <a:solidFill>
                  <a:schemeClr val="bg1"/>
                </a:solidFill>
              </a:rPr>
              <a:t>Squad</a:t>
            </a:r>
            <a:r>
              <a:rPr lang="pt-PT" sz="700" b="1">
                <a:solidFill>
                  <a:schemeClr val="bg1"/>
                </a:solidFill>
              </a:rPr>
              <a:t> 2 </a:t>
            </a:r>
            <a:r>
              <a:rPr lang="pt-PT" sz="700" b="1" i="1">
                <a:solidFill>
                  <a:schemeClr val="bg1"/>
                </a:solidFill>
              </a:rPr>
              <a:t>Embed</a:t>
            </a:r>
          </a:p>
        </p:txBody>
      </p:sp>
      <p:sp>
        <p:nvSpPr>
          <p:cNvPr id="201" name="Diamond 200">
            <a:extLst>
              <a:ext uri="{FF2B5EF4-FFF2-40B4-BE49-F238E27FC236}">
                <a16:creationId xmlns:a16="http://schemas.microsoft.com/office/drawing/2014/main" id="{82FB65C2-1271-CF5C-CFCC-AEE7DD052720}"/>
              </a:ext>
            </a:extLst>
          </p:cNvPr>
          <p:cNvSpPr/>
          <p:nvPr/>
        </p:nvSpPr>
        <p:spPr>
          <a:xfrm>
            <a:off x="8296967" y="4232691"/>
            <a:ext cx="144000" cy="144000"/>
          </a:xfrm>
          <a:prstGeom prst="diamond">
            <a:avLst/>
          </a:prstGeom>
          <a:solidFill>
            <a:srgbClr val="40749B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202" name="Diamond 201">
            <a:extLst>
              <a:ext uri="{FF2B5EF4-FFF2-40B4-BE49-F238E27FC236}">
                <a16:creationId xmlns:a16="http://schemas.microsoft.com/office/drawing/2014/main" id="{7235C784-DD1A-E7F9-4645-35A4126311AA}"/>
              </a:ext>
            </a:extLst>
          </p:cNvPr>
          <p:cNvSpPr/>
          <p:nvPr/>
        </p:nvSpPr>
        <p:spPr>
          <a:xfrm>
            <a:off x="6924573" y="4232691"/>
            <a:ext cx="144000" cy="144000"/>
          </a:xfrm>
          <a:prstGeom prst="diamond">
            <a:avLst/>
          </a:prstGeom>
          <a:solidFill>
            <a:srgbClr val="40749B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FC199151-269B-4631-E804-6C7303349871}"/>
              </a:ext>
            </a:extLst>
          </p:cNvPr>
          <p:cNvSpPr/>
          <p:nvPr/>
        </p:nvSpPr>
        <p:spPr>
          <a:xfrm>
            <a:off x="7007382" y="4035896"/>
            <a:ext cx="948594" cy="155821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700" i="1">
                <a:solidFill>
                  <a:srgbClr val="34342B"/>
                </a:solidFill>
              </a:rPr>
              <a:t>Monitoria &amp; Controle</a:t>
            </a:r>
            <a:endParaRPr kumimoji="0" lang="en-GB" sz="700" b="0" i="1" u="none" strike="noStrike" kern="1200" cap="none" spc="0" normalizeH="0" baseline="0" noProof="0">
              <a:ln>
                <a:noFill/>
              </a:ln>
              <a:solidFill>
                <a:srgbClr val="34342B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C842E62B-C915-1E10-C726-A992E2B0CD3C}"/>
              </a:ext>
            </a:extLst>
          </p:cNvPr>
          <p:cNvGrpSpPr/>
          <p:nvPr/>
        </p:nvGrpSpPr>
        <p:grpSpPr>
          <a:xfrm>
            <a:off x="8358715" y="5886387"/>
            <a:ext cx="2258359" cy="187200"/>
            <a:chOff x="8358715" y="5639135"/>
            <a:chExt cx="2258359" cy="187200"/>
          </a:xfrm>
        </p:grpSpPr>
        <p:sp>
          <p:nvSpPr>
            <p:cNvPr id="194" name="Arrow: Pentagon 193">
              <a:extLst>
                <a:ext uri="{FF2B5EF4-FFF2-40B4-BE49-F238E27FC236}">
                  <a16:creationId xmlns:a16="http://schemas.microsoft.com/office/drawing/2014/main" id="{8D72407E-570D-AF2B-BEDF-450CD8340068}"/>
                </a:ext>
              </a:extLst>
            </p:cNvPr>
            <p:cNvSpPr/>
            <p:nvPr/>
          </p:nvSpPr>
          <p:spPr>
            <a:xfrm>
              <a:off x="8358715" y="5639135"/>
              <a:ext cx="2224786" cy="187200"/>
            </a:xfrm>
            <a:prstGeom prst="homePlate">
              <a:avLst/>
            </a:prstGeom>
            <a:solidFill>
              <a:schemeClr val="bg2">
                <a:lumMod val="75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PT" sz="700" b="1" i="1">
                  <a:solidFill>
                    <a:schemeClr val="bg1"/>
                  </a:solidFill>
                </a:rPr>
                <a:t>Squad</a:t>
              </a:r>
              <a:r>
                <a:rPr lang="pt-PT" sz="700" b="1">
                  <a:solidFill>
                    <a:schemeClr val="bg1"/>
                  </a:solidFill>
                </a:rPr>
                <a:t> 2 </a:t>
              </a:r>
              <a:r>
                <a:rPr lang="pt-PT" sz="700" b="1" i="1">
                  <a:solidFill>
                    <a:schemeClr val="bg1"/>
                  </a:solidFill>
                </a:rPr>
                <a:t>Embed</a:t>
              </a:r>
              <a:r>
                <a:rPr lang="pt-PT" sz="700" b="1">
                  <a:solidFill>
                    <a:schemeClr val="bg1"/>
                  </a:solidFill>
                </a:rPr>
                <a:t> (13 processos)</a:t>
              </a:r>
            </a:p>
          </p:txBody>
        </p:sp>
        <p:sp>
          <p:nvSpPr>
            <p:cNvPr id="195" name="Diamond 194">
              <a:extLst>
                <a:ext uri="{FF2B5EF4-FFF2-40B4-BE49-F238E27FC236}">
                  <a16:creationId xmlns:a16="http://schemas.microsoft.com/office/drawing/2014/main" id="{C00745FF-08C4-6673-984F-B340ECA69B5C}"/>
                </a:ext>
              </a:extLst>
            </p:cNvPr>
            <p:cNvSpPr/>
            <p:nvPr/>
          </p:nvSpPr>
          <p:spPr>
            <a:xfrm>
              <a:off x="10473074" y="5657924"/>
              <a:ext cx="144000" cy="144000"/>
            </a:xfrm>
            <a:prstGeom prst="diamond">
              <a:avLst/>
            </a:prstGeom>
            <a:solidFill>
              <a:srgbClr val="40749B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PT" sz="700">
                <a:solidFill>
                  <a:srgbClr val="575756"/>
                </a:solidFill>
              </a:endParaRP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AEC35948-1C60-726D-468F-9CA2487850B1}"/>
              </a:ext>
            </a:extLst>
          </p:cNvPr>
          <p:cNvGrpSpPr/>
          <p:nvPr/>
        </p:nvGrpSpPr>
        <p:grpSpPr>
          <a:xfrm>
            <a:off x="818810" y="3479339"/>
            <a:ext cx="901348" cy="344442"/>
            <a:chOff x="818810" y="3223034"/>
            <a:chExt cx="901348" cy="344442"/>
          </a:xfrm>
        </p:grpSpPr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B515E462-ABA5-8792-36A8-EB8E76C918F4}"/>
                </a:ext>
              </a:extLst>
            </p:cNvPr>
            <p:cNvCxnSpPr/>
            <p:nvPr/>
          </p:nvCxnSpPr>
          <p:spPr>
            <a:xfrm>
              <a:off x="818810" y="3223034"/>
              <a:ext cx="901348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687C4B24-0024-2C95-CC5A-2065E2F3A0D9}"/>
                </a:ext>
              </a:extLst>
            </p:cNvPr>
            <p:cNvSpPr/>
            <p:nvPr/>
          </p:nvSpPr>
          <p:spPr>
            <a:xfrm>
              <a:off x="836396" y="3257885"/>
              <a:ext cx="866178" cy="309591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marL="0" marR="0" lvl="0" indent="0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800" i="1">
                  <a:solidFill>
                    <a:srgbClr val="34342B"/>
                  </a:solidFill>
                </a:rPr>
                <a:t>2 semanas para fluxos de atividade</a:t>
              </a:r>
              <a:endParaRPr kumimoji="0" lang="en-GB" sz="800" b="0" i="1" u="none" strike="noStrike" kern="1200" cap="none" spc="0" normalizeH="0" baseline="0" noProof="0">
                <a:ln>
                  <a:noFill/>
                </a:ln>
                <a:solidFill>
                  <a:srgbClr val="34342B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CE0FD12F-12F3-8FE6-FE39-E6A6D74AB38C}"/>
              </a:ext>
            </a:extLst>
          </p:cNvPr>
          <p:cNvGrpSpPr/>
          <p:nvPr/>
        </p:nvGrpSpPr>
        <p:grpSpPr>
          <a:xfrm>
            <a:off x="1720158" y="3558631"/>
            <a:ext cx="445553" cy="345457"/>
            <a:chOff x="1720158" y="3293954"/>
            <a:chExt cx="445553" cy="345457"/>
          </a:xfrm>
        </p:grpSpPr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FA361B6D-A2F8-E576-DDDF-D5DA15ADE913}"/>
                </a:ext>
              </a:extLst>
            </p:cNvPr>
            <p:cNvCxnSpPr>
              <a:cxnSpLocks/>
            </p:cNvCxnSpPr>
            <p:nvPr/>
          </p:nvCxnSpPr>
          <p:spPr>
            <a:xfrm>
              <a:off x="1720158" y="3293954"/>
              <a:ext cx="4455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6B906253-91A6-C0F5-4BFB-2628522EDAE6}"/>
                </a:ext>
              </a:extLst>
            </p:cNvPr>
            <p:cNvSpPr/>
            <p:nvPr/>
          </p:nvSpPr>
          <p:spPr>
            <a:xfrm>
              <a:off x="1741576" y="3329820"/>
              <a:ext cx="424135" cy="309591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marL="0" marR="0" lvl="0" indent="0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800" i="1">
                  <a:solidFill>
                    <a:srgbClr val="34342B"/>
                  </a:solidFill>
                </a:rPr>
                <a:t>1-semana manuais e KS</a:t>
              </a:r>
              <a:endParaRPr kumimoji="0" lang="en-GB" sz="800" b="0" i="1" u="none" strike="noStrike" kern="1200" cap="none" spc="0" normalizeH="0" baseline="0" noProof="0">
                <a:ln>
                  <a:noFill/>
                </a:ln>
                <a:solidFill>
                  <a:srgbClr val="34342B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00779E7-5B3E-F911-C4D4-8EC216B93698}"/>
              </a:ext>
            </a:extLst>
          </p:cNvPr>
          <p:cNvGrpSpPr/>
          <p:nvPr/>
        </p:nvGrpSpPr>
        <p:grpSpPr>
          <a:xfrm>
            <a:off x="2165711" y="3638937"/>
            <a:ext cx="885224" cy="370032"/>
            <a:chOff x="2165711" y="3382632"/>
            <a:chExt cx="885224" cy="370032"/>
          </a:xfrm>
        </p:grpSpPr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DFBE8F76-6E6C-BAC8-6626-5E4E442CF85D}"/>
                </a:ext>
              </a:extLst>
            </p:cNvPr>
            <p:cNvCxnSpPr>
              <a:cxnSpLocks/>
            </p:cNvCxnSpPr>
            <p:nvPr/>
          </p:nvCxnSpPr>
          <p:spPr>
            <a:xfrm>
              <a:off x="2165711" y="3382632"/>
              <a:ext cx="885224" cy="0"/>
            </a:xfrm>
            <a:prstGeom prst="line">
              <a:avLst/>
            </a:prstGeom>
            <a:ln>
              <a:solidFill>
                <a:srgbClr val="40749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AFDD0E6A-41F0-23BF-A225-943308450C37}"/>
                </a:ext>
              </a:extLst>
            </p:cNvPr>
            <p:cNvSpPr/>
            <p:nvPr/>
          </p:nvSpPr>
          <p:spPr>
            <a:xfrm>
              <a:off x="2184188" y="3443073"/>
              <a:ext cx="866747" cy="309591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marL="0" marR="0" lvl="0" indent="0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800" i="1">
                  <a:solidFill>
                    <a:srgbClr val="34342B"/>
                  </a:solidFill>
                </a:rPr>
                <a:t>2 semanas para embedment</a:t>
              </a:r>
              <a:endParaRPr kumimoji="0" lang="en-GB" sz="800" b="0" i="1" u="none" strike="noStrike" kern="1200" cap="none" spc="0" normalizeH="0" baseline="0" noProof="0">
                <a:ln>
                  <a:noFill/>
                </a:ln>
                <a:solidFill>
                  <a:srgbClr val="34342B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0229C70A-6040-88A9-701A-8BD7FE30AFF7}"/>
              </a:ext>
            </a:extLst>
          </p:cNvPr>
          <p:cNvGrpSpPr/>
          <p:nvPr/>
        </p:nvGrpSpPr>
        <p:grpSpPr>
          <a:xfrm>
            <a:off x="3053515" y="3479339"/>
            <a:ext cx="1878015" cy="344442"/>
            <a:chOff x="818810" y="3223034"/>
            <a:chExt cx="901348" cy="344442"/>
          </a:xfrm>
        </p:grpSpPr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8B3FCA0F-36EE-2EB3-895F-47428EB11E1F}"/>
                </a:ext>
              </a:extLst>
            </p:cNvPr>
            <p:cNvCxnSpPr/>
            <p:nvPr/>
          </p:nvCxnSpPr>
          <p:spPr>
            <a:xfrm>
              <a:off x="818810" y="3223034"/>
              <a:ext cx="901348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09FE83BF-87A7-802C-9693-76A296098A40}"/>
                </a:ext>
              </a:extLst>
            </p:cNvPr>
            <p:cNvSpPr/>
            <p:nvPr/>
          </p:nvSpPr>
          <p:spPr>
            <a:xfrm>
              <a:off x="836396" y="3257885"/>
              <a:ext cx="866178" cy="309591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marL="0" marR="0" lvl="0" indent="0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800" i="1">
                  <a:solidFill>
                    <a:srgbClr val="34342B"/>
                  </a:solidFill>
                </a:rPr>
                <a:t>4.5 semanas para fluxos de atividade</a:t>
              </a:r>
              <a:endParaRPr kumimoji="0" lang="en-GB" sz="800" b="0" i="1" u="none" strike="noStrike" kern="1200" cap="none" spc="0" normalizeH="0" baseline="0" noProof="0">
                <a:ln>
                  <a:noFill/>
                </a:ln>
                <a:solidFill>
                  <a:srgbClr val="34342B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D73DB0BD-E52B-293E-7D83-57D1559AA7E5}"/>
              </a:ext>
            </a:extLst>
          </p:cNvPr>
          <p:cNvGrpSpPr/>
          <p:nvPr/>
        </p:nvGrpSpPr>
        <p:grpSpPr>
          <a:xfrm>
            <a:off x="4894893" y="3558631"/>
            <a:ext cx="347486" cy="439515"/>
            <a:chOff x="1678733" y="3293954"/>
            <a:chExt cx="486978" cy="345457"/>
          </a:xfrm>
        </p:grpSpPr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E8254A7B-A37A-1DC3-F673-328171C23455}"/>
                </a:ext>
              </a:extLst>
            </p:cNvPr>
            <p:cNvCxnSpPr>
              <a:cxnSpLocks/>
            </p:cNvCxnSpPr>
            <p:nvPr/>
          </p:nvCxnSpPr>
          <p:spPr>
            <a:xfrm>
              <a:off x="1720158" y="3293954"/>
              <a:ext cx="4455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A0178352-6AE0-A678-58F1-4B93CD3E1993}"/>
                </a:ext>
              </a:extLst>
            </p:cNvPr>
            <p:cNvSpPr/>
            <p:nvPr/>
          </p:nvSpPr>
          <p:spPr>
            <a:xfrm>
              <a:off x="1678733" y="3329820"/>
              <a:ext cx="486978" cy="309591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marL="0" marR="0" lvl="0" indent="0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800" i="1">
                  <a:solidFill>
                    <a:srgbClr val="34342B"/>
                  </a:solidFill>
                </a:rPr>
                <a:t>0.5 semana para KS</a:t>
              </a:r>
              <a:endParaRPr kumimoji="0" lang="en-GB" sz="800" b="0" i="1" u="none" strike="noStrike" kern="1200" cap="none" spc="0" normalizeH="0" baseline="0" noProof="0">
                <a:ln>
                  <a:noFill/>
                </a:ln>
                <a:solidFill>
                  <a:srgbClr val="34342B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6BB7F5C7-EFF7-08A9-D5AE-CE604E2DA232}"/>
              </a:ext>
            </a:extLst>
          </p:cNvPr>
          <p:cNvGrpSpPr/>
          <p:nvPr/>
        </p:nvGrpSpPr>
        <p:grpSpPr>
          <a:xfrm>
            <a:off x="6600487" y="3479339"/>
            <a:ext cx="1300079" cy="370032"/>
            <a:chOff x="2165711" y="3382632"/>
            <a:chExt cx="885224" cy="370032"/>
          </a:xfrm>
        </p:grpSpPr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616CEE86-A6BA-3927-6E5F-7740E60BC3C3}"/>
                </a:ext>
              </a:extLst>
            </p:cNvPr>
            <p:cNvCxnSpPr>
              <a:cxnSpLocks/>
            </p:cNvCxnSpPr>
            <p:nvPr/>
          </p:nvCxnSpPr>
          <p:spPr>
            <a:xfrm>
              <a:off x="2165711" y="3382632"/>
              <a:ext cx="885224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A396F85C-63FC-23B8-388E-68E6E092CD9F}"/>
                </a:ext>
              </a:extLst>
            </p:cNvPr>
            <p:cNvSpPr/>
            <p:nvPr/>
          </p:nvSpPr>
          <p:spPr>
            <a:xfrm>
              <a:off x="2184188" y="3443073"/>
              <a:ext cx="866747" cy="309591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marL="0" marR="0" lvl="0" indent="0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800" i="1">
                  <a:solidFill>
                    <a:srgbClr val="34342B"/>
                  </a:solidFill>
                </a:rPr>
                <a:t>3 semanas para fluxos de atividade</a:t>
              </a:r>
              <a:endParaRPr kumimoji="0" lang="en-GB" sz="800" b="0" i="1" u="none" strike="noStrike" kern="1200" cap="none" spc="0" normalizeH="0" baseline="0" noProof="0">
                <a:ln>
                  <a:noFill/>
                </a:ln>
                <a:solidFill>
                  <a:srgbClr val="34342B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52971141-C7CF-C16F-78A2-D8EA6400762C}"/>
              </a:ext>
            </a:extLst>
          </p:cNvPr>
          <p:cNvGrpSpPr/>
          <p:nvPr/>
        </p:nvGrpSpPr>
        <p:grpSpPr>
          <a:xfrm>
            <a:off x="7893119" y="3558631"/>
            <a:ext cx="445553" cy="345457"/>
            <a:chOff x="1720158" y="3293954"/>
            <a:chExt cx="445553" cy="345457"/>
          </a:xfrm>
        </p:grpSpPr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CFD5D665-217C-1B1C-11F4-A32DFB3E4710}"/>
                </a:ext>
              </a:extLst>
            </p:cNvPr>
            <p:cNvCxnSpPr>
              <a:cxnSpLocks/>
            </p:cNvCxnSpPr>
            <p:nvPr/>
          </p:nvCxnSpPr>
          <p:spPr>
            <a:xfrm>
              <a:off x="1720158" y="3293954"/>
              <a:ext cx="4455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D9FC5F20-AD39-9318-CAD9-EEA94281C19A}"/>
                </a:ext>
              </a:extLst>
            </p:cNvPr>
            <p:cNvSpPr/>
            <p:nvPr/>
          </p:nvSpPr>
          <p:spPr>
            <a:xfrm>
              <a:off x="1741576" y="3329820"/>
              <a:ext cx="424135" cy="309591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marL="0" marR="0" lvl="0" indent="0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800" i="1">
                  <a:solidFill>
                    <a:srgbClr val="34342B"/>
                  </a:solidFill>
                </a:rPr>
                <a:t>1-semana manuais e KS</a:t>
              </a:r>
              <a:endParaRPr kumimoji="0" lang="en-GB" sz="800" b="0" i="1" u="none" strike="noStrike" kern="1200" cap="none" spc="0" normalizeH="0" baseline="0" noProof="0">
                <a:ln>
                  <a:noFill/>
                </a:ln>
                <a:solidFill>
                  <a:srgbClr val="34342B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39A61498-6B7E-A19E-48C8-2D1ABAB681AC}"/>
              </a:ext>
            </a:extLst>
          </p:cNvPr>
          <p:cNvGrpSpPr/>
          <p:nvPr/>
        </p:nvGrpSpPr>
        <p:grpSpPr>
          <a:xfrm>
            <a:off x="8356779" y="3638937"/>
            <a:ext cx="885224" cy="370032"/>
            <a:chOff x="2165711" y="3382632"/>
            <a:chExt cx="885224" cy="370032"/>
          </a:xfrm>
        </p:grpSpPr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A17F0A4-9605-EB8E-E51A-C10C77541B8D}"/>
                </a:ext>
              </a:extLst>
            </p:cNvPr>
            <p:cNvCxnSpPr>
              <a:cxnSpLocks/>
            </p:cNvCxnSpPr>
            <p:nvPr/>
          </p:nvCxnSpPr>
          <p:spPr>
            <a:xfrm>
              <a:off x="2165711" y="3382632"/>
              <a:ext cx="885224" cy="0"/>
            </a:xfrm>
            <a:prstGeom prst="line">
              <a:avLst/>
            </a:prstGeom>
            <a:ln>
              <a:solidFill>
                <a:srgbClr val="40749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56E9B252-F7F1-78A8-87D5-A57925199E65}"/>
                </a:ext>
              </a:extLst>
            </p:cNvPr>
            <p:cNvSpPr/>
            <p:nvPr/>
          </p:nvSpPr>
          <p:spPr>
            <a:xfrm>
              <a:off x="2184188" y="3443073"/>
              <a:ext cx="866747" cy="309591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marL="0" marR="0" lvl="0" indent="0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800" i="1">
                  <a:solidFill>
                    <a:srgbClr val="34342B"/>
                  </a:solidFill>
                </a:rPr>
                <a:t>2 semanas para </a:t>
              </a:r>
              <a:r>
                <a:rPr lang="pt-PT" sz="800" i="1" err="1">
                  <a:solidFill>
                    <a:srgbClr val="34342B"/>
                  </a:solidFill>
                </a:rPr>
                <a:t>embedment</a:t>
              </a:r>
              <a:endParaRPr kumimoji="0" lang="en-GB" sz="800" b="0" i="1" u="none" strike="noStrike" kern="1200" cap="none" spc="0" normalizeH="0" baseline="0" noProof="0">
                <a:ln>
                  <a:noFill/>
                </a:ln>
                <a:solidFill>
                  <a:srgbClr val="34342B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57F1DBF1-DF06-AFD8-803F-8E458AD3216C}"/>
              </a:ext>
            </a:extLst>
          </p:cNvPr>
          <p:cNvGrpSpPr/>
          <p:nvPr/>
        </p:nvGrpSpPr>
        <p:grpSpPr>
          <a:xfrm>
            <a:off x="818810" y="4482765"/>
            <a:ext cx="3119447" cy="344442"/>
            <a:chOff x="818810" y="3223034"/>
            <a:chExt cx="901348" cy="344442"/>
          </a:xfrm>
        </p:grpSpPr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ACC8731-217D-6CF7-99F0-61017EAF4C00}"/>
                </a:ext>
              </a:extLst>
            </p:cNvPr>
            <p:cNvCxnSpPr/>
            <p:nvPr/>
          </p:nvCxnSpPr>
          <p:spPr>
            <a:xfrm>
              <a:off x="818810" y="3223034"/>
              <a:ext cx="901348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BCDF566D-2AF8-2742-283B-9895AA8F90D0}"/>
                </a:ext>
              </a:extLst>
            </p:cNvPr>
            <p:cNvSpPr/>
            <p:nvPr/>
          </p:nvSpPr>
          <p:spPr>
            <a:xfrm>
              <a:off x="836396" y="3257885"/>
              <a:ext cx="866178" cy="309591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marL="0" marR="0" lvl="0" indent="0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800" i="1">
                  <a:solidFill>
                    <a:srgbClr val="34342B"/>
                  </a:solidFill>
                </a:rPr>
                <a:t>7 semanas para fluxos de atividade</a:t>
              </a:r>
              <a:endParaRPr kumimoji="0" lang="en-GB" sz="800" b="0" i="1" u="none" strike="noStrike" kern="1200" cap="none" spc="0" normalizeH="0" baseline="0" noProof="0">
                <a:ln>
                  <a:noFill/>
                </a:ln>
                <a:solidFill>
                  <a:srgbClr val="34342B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150E8600-92D1-BC5F-F96C-627C47D98B6E}"/>
              </a:ext>
            </a:extLst>
          </p:cNvPr>
          <p:cNvGrpSpPr/>
          <p:nvPr/>
        </p:nvGrpSpPr>
        <p:grpSpPr>
          <a:xfrm>
            <a:off x="3932858" y="4562053"/>
            <a:ext cx="445553" cy="345457"/>
            <a:chOff x="1720158" y="3293954"/>
            <a:chExt cx="445553" cy="345457"/>
          </a:xfrm>
        </p:grpSpPr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B75344C8-C144-FE8B-8AC4-AB3F857DA63A}"/>
                </a:ext>
              </a:extLst>
            </p:cNvPr>
            <p:cNvCxnSpPr>
              <a:cxnSpLocks/>
            </p:cNvCxnSpPr>
            <p:nvPr/>
          </p:nvCxnSpPr>
          <p:spPr>
            <a:xfrm>
              <a:off x="1720158" y="3293954"/>
              <a:ext cx="4455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048A902A-9C44-BC24-B7D1-4E484FEFC493}"/>
                </a:ext>
              </a:extLst>
            </p:cNvPr>
            <p:cNvSpPr/>
            <p:nvPr/>
          </p:nvSpPr>
          <p:spPr>
            <a:xfrm>
              <a:off x="1741576" y="3329820"/>
              <a:ext cx="424135" cy="309591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marL="0" marR="0" lvl="0" indent="0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800" i="1">
                  <a:solidFill>
                    <a:srgbClr val="34342B"/>
                  </a:solidFill>
                </a:rPr>
                <a:t>1-semana manuais </a:t>
              </a:r>
              <a:endParaRPr kumimoji="0" lang="en-GB" sz="800" b="0" i="1" u="none" strike="noStrike" kern="1200" cap="none" spc="0" normalizeH="0" baseline="0" noProof="0">
                <a:ln>
                  <a:noFill/>
                </a:ln>
                <a:solidFill>
                  <a:srgbClr val="34342B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FD78A8A4-EB71-593D-9A42-C0795C976D2F}"/>
              </a:ext>
            </a:extLst>
          </p:cNvPr>
          <p:cNvGrpSpPr/>
          <p:nvPr/>
        </p:nvGrpSpPr>
        <p:grpSpPr>
          <a:xfrm>
            <a:off x="4374963" y="4644560"/>
            <a:ext cx="445553" cy="345457"/>
            <a:chOff x="1720158" y="3293954"/>
            <a:chExt cx="445553" cy="345457"/>
          </a:xfrm>
        </p:grpSpPr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440D801D-48C2-C69D-5F10-8FC97DAF353B}"/>
                </a:ext>
              </a:extLst>
            </p:cNvPr>
            <p:cNvCxnSpPr>
              <a:cxnSpLocks/>
            </p:cNvCxnSpPr>
            <p:nvPr/>
          </p:nvCxnSpPr>
          <p:spPr>
            <a:xfrm>
              <a:off x="1720158" y="3293954"/>
              <a:ext cx="4455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97797642-9136-5CAE-951E-4EB19CB5A67E}"/>
                </a:ext>
              </a:extLst>
            </p:cNvPr>
            <p:cNvSpPr/>
            <p:nvPr/>
          </p:nvSpPr>
          <p:spPr>
            <a:xfrm>
              <a:off x="1741576" y="3329820"/>
              <a:ext cx="424135" cy="309591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marL="0" marR="0" lvl="0" indent="0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800" i="1">
                  <a:solidFill>
                    <a:srgbClr val="34342B"/>
                  </a:solidFill>
                </a:rPr>
                <a:t>1 semana para KS</a:t>
              </a:r>
              <a:endParaRPr kumimoji="0" lang="en-GB" sz="800" b="0" i="1" u="none" strike="noStrike" kern="1200" cap="none" spc="0" normalizeH="0" baseline="0" noProof="0">
                <a:ln>
                  <a:noFill/>
                </a:ln>
                <a:solidFill>
                  <a:srgbClr val="34342B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43A09F3B-6D92-B6D3-9BDE-0BED83542676}"/>
              </a:ext>
            </a:extLst>
          </p:cNvPr>
          <p:cNvGrpSpPr/>
          <p:nvPr/>
        </p:nvGrpSpPr>
        <p:grpSpPr>
          <a:xfrm>
            <a:off x="4835075" y="4644560"/>
            <a:ext cx="2172307" cy="370032"/>
            <a:chOff x="2165711" y="3382632"/>
            <a:chExt cx="885224" cy="370032"/>
          </a:xfrm>
        </p:grpSpPr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B7E4B641-1403-3795-11AB-DA62B01869C1}"/>
                </a:ext>
              </a:extLst>
            </p:cNvPr>
            <p:cNvCxnSpPr>
              <a:cxnSpLocks/>
            </p:cNvCxnSpPr>
            <p:nvPr/>
          </p:nvCxnSpPr>
          <p:spPr>
            <a:xfrm>
              <a:off x="2165711" y="3382632"/>
              <a:ext cx="885224" cy="0"/>
            </a:xfrm>
            <a:prstGeom prst="line">
              <a:avLst/>
            </a:prstGeom>
            <a:ln>
              <a:solidFill>
                <a:srgbClr val="40749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61076201-B38C-83A7-5708-629FA15D81F5}"/>
                </a:ext>
              </a:extLst>
            </p:cNvPr>
            <p:cNvSpPr/>
            <p:nvPr/>
          </p:nvSpPr>
          <p:spPr>
            <a:xfrm>
              <a:off x="2184188" y="3443073"/>
              <a:ext cx="866747" cy="309591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marL="0" marR="0" lvl="0" indent="0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800" i="1">
                  <a:solidFill>
                    <a:srgbClr val="34342B"/>
                  </a:solidFill>
                </a:rPr>
                <a:t>5 semanas para embedment</a:t>
              </a:r>
              <a:endParaRPr kumimoji="0" lang="en-GB" sz="800" b="0" i="1" u="none" strike="noStrike" kern="1200" cap="none" spc="0" normalizeH="0" baseline="0" noProof="0">
                <a:ln>
                  <a:noFill/>
                </a:ln>
                <a:solidFill>
                  <a:srgbClr val="34342B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144" name="Star: 5 Points 143">
            <a:extLst>
              <a:ext uri="{FF2B5EF4-FFF2-40B4-BE49-F238E27FC236}">
                <a16:creationId xmlns:a16="http://schemas.microsoft.com/office/drawing/2014/main" id="{B946C361-7EC4-329B-1F0B-960C01181A14}"/>
              </a:ext>
            </a:extLst>
          </p:cNvPr>
          <p:cNvSpPr/>
          <p:nvPr/>
        </p:nvSpPr>
        <p:spPr>
          <a:xfrm>
            <a:off x="2172743" y="3561474"/>
            <a:ext cx="144000" cy="144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5" name="Star: 5 Points 144">
            <a:extLst>
              <a:ext uri="{FF2B5EF4-FFF2-40B4-BE49-F238E27FC236}">
                <a16:creationId xmlns:a16="http://schemas.microsoft.com/office/drawing/2014/main" id="{9AE6A633-4493-2FB9-C87D-0FE2B115F121}"/>
              </a:ext>
            </a:extLst>
          </p:cNvPr>
          <p:cNvSpPr/>
          <p:nvPr/>
        </p:nvSpPr>
        <p:spPr>
          <a:xfrm>
            <a:off x="1857812" y="3462689"/>
            <a:ext cx="144000" cy="144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6" name="Star: 5 Points 145">
            <a:extLst>
              <a:ext uri="{FF2B5EF4-FFF2-40B4-BE49-F238E27FC236}">
                <a16:creationId xmlns:a16="http://schemas.microsoft.com/office/drawing/2014/main" id="{8FBC6520-9F3A-D1F9-BAD8-9FBD639A2734}"/>
              </a:ext>
            </a:extLst>
          </p:cNvPr>
          <p:cNvSpPr/>
          <p:nvPr/>
        </p:nvSpPr>
        <p:spPr>
          <a:xfrm>
            <a:off x="4880417" y="3489348"/>
            <a:ext cx="144000" cy="144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8" name="Star: 5 Points 147">
            <a:extLst>
              <a:ext uri="{FF2B5EF4-FFF2-40B4-BE49-F238E27FC236}">
                <a16:creationId xmlns:a16="http://schemas.microsoft.com/office/drawing/2014/main" id="{A64E305B-F8CF-8B20-D3A3-547A7E926AD8}"/>
              </a:ext>
            </a:extLst>
          </p:cNvPr>
          <p:cNvSpPr/>
          <p:nvPr/>
        </p:nvSpPr>
        <p:spPr>
          <a:xfrm>
            <a:off x="8043895" y="3467780"/>
            <a:ext cx="144000" cy="144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9" name="Star: 5 Points 148">
            <a:extLst>
              <a:ext uri="{FF2B5EF4-FFF2-40B4-BE49-F238E27FC236}">
                <a16:creationId xmlns:a16="http://schemas.microsoft.com/office/drawing/2014/main" id="{C5835A10-1BCA-0035-D3EC-76AE8296B459}"/>
              </a:ext>
            </a:extLst>
          </p:cNvPr>
          <p:cNvSpPr/>
          <p:nvPr/>
        </p:nvSpPr>
        <p:spPr>
          <a:xfrm>
            <a:off x="8335215" y="3566937"/>
            <a:ext cx="144000" cy="144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0" name="Star: 5 Points 149">
            <a:extLst>
              <a:ext uri="{FF2B5EF4-FFF2-40B4-BE49-F238E27FC236}">
                <a16:creationId xmlns:a16="http://schemas.microsoft.com/office/drawing/2014/main" id="{774B2AB8-1233-D510-D890-E63E61EB3D4C}"/>
              </a:ext>
            </a:extLst>
          </p:cNvPr>
          <p:cNvSpPr/>
          <p:nvPr/>
        </p:nvSpPr>
        <p:spPr>
          <a:xfrm>
            <a:off x="4341804" y="4571545"/>
            <a:ext cx="144000" cy="144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1" name="Star: 5 Points 150">
            <a:extLst>
              <a:ext uri="{FF2B5EF4-FFF2-40B4-BE49-F238E27FC236}">
                <a16:creationId xmlns:a16="http://schemas.microsoft.com/office/drawing/2014/main" id="{DF5ED228-EE79-D80D-9562-67E94241DB25}"/>
              </a:ext>
            </a:extLst>
          </p:cNvPr>
          <p:cNvSpPr/>
          <p:nvPr/>
        </p:nvSpPr>
        <p:spPr>
          <a:xfrm>
            <a:off x="4795016" y="4571545"/>
            <a:ext cx="144000" cy="144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ABCA3995-B0A1-CEE1-1DFA-2565D902527B}"/>
              </a:ext>
            </a:extLst>
          </p:cNvPr>
          <p:cNvGrpSpPr/>
          <p:nvPr/>
        </p:nvGrpSpPr>
        <p:grpSpPr>
          <a:xfrm>
            <a:off x="7027988" y="4482765"/>
            <a:ext cx="678210" cy="344442"/>
            <a:chOff x="818810" y="3223034"/>
            <a:chExt cx="901348" cy="344442"/>
          </a:xfrm>
        </p:grpSpPr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F52AA854-3219-01B0-D27E-84AEBD81E882}"/>
                </a:ext>
              </a:extLst>
            </p:cNvPr>
            <p:cNvCxnSpPr/>
            <p:nvPr/>
          </p:nvCxnSpPr>
          <p:spPr>
            <a:xfrm>
              <a:off x="818810" y="3223034"/>
              <a:ext cx="901348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E2D3799D-6B2E-24EA-6716-776F3766E1E8}"/>
                </a:ext>
              </a:extLst>
            </p:cNvPr>
            <p:cNvSpPr/>
            <p:nvPr/>
          </p:nvSpPr>
          <p:spPr>
            <a:xfrm>
              <a:off x="836396" y="3257885"/>
              <a:ext cx="866178" cy="309591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marL="0" marR="0" lvl="0" indent="0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800" i="1">
                  <a:solidFill>
                    <a:srgbClr val="34342B"/>
                  </a:solidFill>
                </a:rPr>
                <a:t>1.8 semanas para fluxos     de atividade</a:t>
              </a:r>
              <a:endParaRPr kumimoji="0" lang="en-GB" sz="800" b="0" i="1" u="none" strike="noStrike" kern="1200" cap="none" spc="0" normalizeH="0" baseline="0" noProof="0">
                <a:ln>
                  <a:noFill/>
                </a:ln>
                <a:solidFill>
                  <a:srgbClr val="34342B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EE4845C5-E94E-03A3-CCFE-70DF4D336BA6}"/>
              </a:ext>
            </a:extLst>
          </p:cNvPr>
          <p:cNvGrpSpPr/>
          <p:nvPr/>
        </p:nvGrpSpPr>
        <p:grpSpPr>
          <a:xfrm>
            <a:off x="7558768" y="4638282"/>
            <a:ext cx="406780" cy="393884"/>
            <a:chOff x="1637654" y="3269524"/>
            <a:chExt cx="874484" cy="309591"/>
          </a:xfrm>
        </p:grpSpPr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88C19DD7-DFBE-EB76-532A-AA1B139EF162}"/>
                </a:ext>
              </a:extLst>
            </p:cNvPr>
            <p:cNvCxnSpPr>
              <a:cxnSpLocks/>
            </p:cNvCxnSpPr>
            <p:nvPr/>
          </p:nvCxnSpPr>
          <p:spPr>
            <a:xfrm>
              <a:off x="1720158" y="3293954"/>
              <a:ext cx="4455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44E0C1B0-FA36-DED0-61A5-241374588BE4}"/>
                </a:ext>
              </a:extLst>
            </p:cNvPr>
            <p:cNvSpPr/>
            <p:nvPr/>
          </p:nvSpPr>
          <p:spPr>
            <a:xfrm>
              <a:off x="1637654" y="3269524"/>
              <a:ext cx="874484" cy="309591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marL="0" marR="0" lvl="0" indent="0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800" i="1">
                  <a:solidFill>
                    <a:srgbClr val="34342B"/>
                  </a:solidFill>
                </a:rPr>
                <a:t>0.2 semanas para KS</a:t>
              </a:r>
              <a:endParaRPr kumimoji="0" lang="en-GB" sz="800" b="0" i="1" u="none" strike="noStrike" kern="1200" cap="none" spc="0" normalizeH="0" baseline="0" noProof="0">
                <a:ln>
                  <a:noFill/>
                </a:ln>
                <a:solidFill>
                  <a:srgbClr val="34342B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98125E34-2C52-C545-20F1-57FC72C4132C}"/>
              </a:ext>
            </a:extLst>
          </p:cNvPr>
          <p:cNvGrpSpPr/>
          <p:nvPr/>
        </p:nvGrpSpPr>
        <p:grpSpPr>
          <a:xfrm>
            <a:off x="7911239" y="4644560"/>
            <a:ext cx="763684" cy="345457"/>
            <a:chOff x="1720158" y="3293954"/>
            <a:chExt cx="559960" cy="345457"/>
          </a:xfrm>
        </p:grpSpPr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A3FAF83F-8FC3-69E5-6C83-5EB95576571E}"/>
                </a:ext>
              </a:extLst>
            </p:cNvPr>
            <p:cNvCxnSpPr>
              <a:cxnSpLocks/>
            </p:cNvCxnSpPr>
            <p:nvPr/>
          </p:nvCxnSpPr>
          <p:spPr>
            <a:xfrm>
              <a:off x="1720158" y="3293954"/>
              <a:ext cx="445553" cy="0"/>
            </a:xfrm>
            <a:prstGeom prst="line">
              <a:avLst/>
            </a:prstGeom>
            <a:ln>
              <a:solidFill>
                <a:srgbClr val="40749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51A827CC-ED15-9806-256A-A4CD31171C02}"/>
                </a:ext>
              </a:extLst>
            </p:cNvPr>
            <p:cNvSpPr/>
            <p:nvPr/>
          </p:nvSpPr>
          <p:spPr>
            <a:xfrm>
              <a:off x="1741576" y="3329820"/>
              <a:ext cx="538542" cy="309591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marL="0" marR="0" lvl="0" indent="0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800" i="1">
                  <a:solidFill>
                    <a:srgbClr val="34342B"/>
                  </a:solidFill>
                </a:rPr>
                <a:t>1 semana para embedment</a:t>
              </a:r>
              <a:endParaRPr kumimoji="0" lang="en-GB" sz="800" b="0" i="1" u="none" strike="noStrike" kern="1200" cap="none" spc="0" normalizeH="0" baseline="0" noProof="0">
                <a:ln>
                  <a:noFill/>
                </a:ln>
                <a:solidFill>
                  <a:srgbClr val="34342B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155" name="Star: 5 Points 154">
            <a:extLst>
              <a:ext uri="{FF2B5EF4-FFF2-40B4-BE49-F238E27FC236}">
                <a16:creationId xmlns:a16="http://schemas.microsoft.com/office/drawing/2014/main" id="{09C9CF4A-BF87-BDE5-E386-3414DB17F81E}"/>
              </a:ext>
            </a:extLst>
          </p:cNvPr>
          <p:cNvSpPr/>
          <p:nvPr/>
        </p:nvSpPr>
        <p:spPr>
          <a:xfrm>
            <a:off x="7668812" y="4499545"/>
            <a:ext cx="144000" cy="144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6" name="Star: 5 Points 155">
            <a:extLst>
              <a:ext uri="{FF2B5EF4-FFF2-40B4-BE49-F238E27FC236}">
                <a16:creationId xmlns:a16="http://schemas.microsoft.com/office/drawing/2014/main" id="{5BF20496-44B5-3BF9-1F7A-18E6E1E4782D}"/>
              </a:ext>
            </a:extLst>
          </p:cNvPr>
          <p:cNvSpPr/>
          <p:nvPr/>
        </p:nvSpPr>
        <p:spPr>
          <a:xfrm>
            <a:off x="7878578" y="4571705"/>
            <a:ext cx="144000" cy="144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57" name="Connector: Elbow 156">
            <a:extLst>
              <a:ext uri="{FF2B5EF4-FFF2-40B4-BE49-F238E27FC236}">
                <a16:creationId xmlns:a16="http://schemas.microsoft.com/office/drawing/2014/main" id="{3CE0C459-7B83-728C-29C7-9ECE245FBE17}"/>
              </a:ext>
            </a:extLst>
          </p:cNvPr>
          <p:cNvCxnSpPr>
            <a:cxnSpLocks/>
            <a:stCxn id="127" idx="3"/>
            <a:endCxn id="160" idx="0"/>
          </p:cNvCxnSpPr>
          <p:nvPr/>
        </p:nvCxnSpPr>
        <p:spPr>
          <a:xfrm>
            <a:off x="9292962" y="3328622"/>
            <a:ext cx="1001823" cy="200032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88CFD45-B9F4-78AC-E951-2459E54CB705}"/>
              </a:ext>
            </a:extLst>
          </p:cNvPr>
          <p:cNvGrpSpPr/>
          <p:nvPr/>
        </p:nvGrpSpPr>
        <p:grpSpPr>
          <a:xfrm>
            <a:off x="9229192" y="5328947"/>
            <a:ext cx="2275203" cy="187200"/>
            <a:chOff x="9229192" y="5326138"/>
            <a:chExt cx="2275203" cy="187200"/>
          </a:xfrm>
        </p:grpSpPr>
        <p:sp>
          <p:nvSpPr>
            <p:cNvPr id="160" name="Arrow: Pentagon 159">
              <a:extLst>
                <a:ext uri="{FF2B5EF4-FFF2-40B4-BE49-F238E27FC236}">
                  <a16:creationId xmlns:a16="http://schemas.microsoft.com/office/drawing/2014/main" id="{6DF9167D-2E2F-A840-08DE-7314460F79BB}"/>
                </a:ext>
              </a:extLst>
            </p:cNvPr>
            <p:cNvSpPr/>
            <p:nvPr/>
          </p:nvSpPr>
          <p:spPr>
            <a:xfrm>
              <a:off x="9229192" y="5326138"/>
              <a:ext cx="2224786" cy="187200"/>
            </a:xfrm>
            <a:prstGeom prst="homePlate">
              <a:avLst/>
            </a:prstGeom>
            <a:solidFill>
              <a:schemeClr val="bg2">
                <a:lumMod val="75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PT" sz="700" b="1" i="1">
                  <a:solidFill>
                    <a:schemeClr val="bg1"/>
                  </a:solidFill>
                </a:rPr>
                <a:t>Squad</a:t>
              </a:r>
              <a:r>
                <a:rPr lang="pt-PT" sz="700" b="1">
                  <a:solidFill>
                    <a:schemeClr val="bg1"/>
                  </a:solidFill>
                </a:rPr>
                <a:t> 1 </a:t>
              </a:r>
              <a:r>
                <a:rPr lang="pt-PT" sz="700" b="1" i="1">
                  <a:solidFill>
                    <a:schemeClr val="bg1"/>
                  </a:solidFill>
                </a:rPr>
                <a:t>Embed</a:t>
              </a:r>
              <a:r>
                <a:rPr lang="pt-PT" sz="700" b="1">
                  <a:solidFill>
                    <a:schemeClr val="bg1"/>
                  </a:solidFill>
                </a:rPr>
                <a:t> (13 processos)</a:t>
              </a:r>
            </a:p>
          </p:txBody>
        </p:sp>
        <p:sp>
          <p:nvSpPr>
            <p:cNvPr id="161" name="Diamond 160">
              <a:extLst>
                <a:ext uri="{FF2B5EF4-FFF2-40B4-BE49-F238E27FC236}">
                  <a16:creationId xmlns:a16="http://schemas.microsoft.com/office/drawing/2014/main" id="{6CBC6F4C-0B72-3623-BD19-40C7E519DC25}"/>
                </a:ext>
              </a:extLst>
            </p:cNvPr>
            <p:cNvSpPr/>
            <p:nvPr/>
          </p:nvSpPr>
          <p:spPr>
            <a:xfrm>
              <a:off x="11360395" y="5347738"/>
              <a:ext cx="144000" cy="144000"/>
            </a:xfrm>
            <a:prstGeom prst="diamond">
              <a:avLst/>
            </a:prstGeom>
            <a:solidFill>
              <a:srgbClr val="40749B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PT" sz="700">
                <a:solidFill>
                  <a:srgbClr val="575756"/>
                </a:solidFill>
              </a:endParaRPr>
            </a:p>
          </p:txBody>
        </p:sp>
      </p:grpSp>
      <p:sp>
        <p:nvSpPr>
          <p:cNvPr id="127" name="Diamond 126">
            <a:extLst>
              <a:ext uri="{FF2B5EF4-FFF2-40B4-BE49-F238E27FC236}">
                <a16:creationId xmlns:a16="http://schemas.microsoft.com/office/drawing/2014/main" id="{B7EB3EA4-C2C8-F2C7-7E97-9BCF3D3572F2}"/>
              </a:ext>
            </a:extLst>
          </p:cNvPr>
          <p:cNvSpPr/>
          <p:nvPr/>
        </p:nvSpPr>
        <p:spPr>
          <a:xfrm>
            <a:off x="9148962" y="3256622"/>
            <a:ext cx="144000" cy="144000"/>
          </a:xfrm>
          <a:prstGeom prst="diamond">
            <a:avLst/>
          </a:prstGeom>
          <a:solidFill>
            <a:srgbClr val="40749B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cxnSp>
        <p:nvCxnSpPr>
          <p:cNvPr id="158" name="Connector: Elbow 157">
            <a:extLst>
              <a:ext uri="{FF2B5EF4-FFF2-40B4-BE49-F238E27FC236}">
                <a16:creationId xmlns:a16="http://schemas.microsoft.com/office/drawing/2014/main" id="{DBF45D49-119D-2D4A-A152-CD4C1252583B}"/>
              </a:ext>
            </a:extLst>
          </p:cNvPr>
          <p:cNvCxnSpPr>
            <a:cxnSpLocks/>
            <a:stCxn id="201" idx="3"/>
            <a:endCxn id="194" idx="0"/>
          </p:cNvCxnSpPr>
          <p:nvPr/>
        </p:nvCxnSpPr>
        <p:spPr>
          <a:xfrm>
            <a:off x="8440967" y="4304691"/>
            <a:ext cx="983341" cy="158169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Rectangle 203">
            <a:extLst>
              <a:ext uri="{FF2B5EF4-FFF2-40B4-BE49-F238E27FC236}">
                <a16:creationId xmlns:a16="http://schemas.microsoft.com/office/drawing/2014/main" id="{4D3D9539-4A49-F6AC-A175-BA94ADF7D260}"/>
              </a:ext>
            </a:extLst>
          </p:cNvPr>
          <p:cNvSpPr/>
          <p:nvPr/>
        </p:nvSpPr>
        <p:spPr>
          <a:xfrm>
            <a:off x="3226683" y="2100037"/>
            <a:ext cx="2201183" cy="530248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900" b="1" i="1" u="sng">
                <a:solidFill>
                  <a:srgbClr val="34342B"/>
                </a:solidFill>
              </a:rPr>
              <a:t>PARAGEM DO PROJETO</a:t>
            </a:r>
            <a:r>
              <a:rPr lang="pt-PT" sz="900" i="1">
                <a:solidFill>
                  <a:srgbClr val="34342B"/>
                </a:solidFill>
              </a:rPr>
              <a:t>: </a:t>
            </a:r>
            <a:r>
              <a:rPr lang="pt-PT" sz="900" b="1">
                <a:solidFill>
                  <a:schemeClr val="tx1"/>
                </a:solidFill>
              </a:rPr>
              <a:t>equipa e especialistas de PT reduzida </a:t>
            </a:r>
            <a:r>
              <a:rPr lang="pt-PT" sz="900" i="1">
                <a:solidFill>
                  <a:srgbClr val="34342B"/>
                </a:solidFill>
              </a:rPr>
              <a:t>– 3 semanas em Agosto, priorizando o fim do planeamento do embedment (data final - 09 de Agosto)</a:t>
            </a:r>
            <a:endParaRPr kumimoji="0" lang="en-GB" sz="900" b="0" i="1" u="none" strike="noStrike" kern="1200" cap="none" spc="0" normalizeH="0" baseline="0" noProof="0">
              <a:ln>
                <a:noFill/>
              </a:ln>
              <a:solidFill>
                <a:srgbClr val="34342B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ED783FE3-4EED-65B8-A184-CDE8A0C622F5}"/>
              </a:ext>
            </a:extLst>
          </p:cNvPr>
          <p:cNvSpPr/>
          <p:nvPr/>
        </p:nvSpPr>
        <p:spPr>
          <a:xfrm>
            <a:off x="10300346" y="2100037"/>
            <a:ext cx="1204048" cy="448604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900" b="1" i="1" u="sng">
                <a:solidFill>
                  <a:srgbClr val="34342B"/>
                </a:solidFill>
              </a:rPr>
              <a:t>PARAGEM DO PROJETO:</a:t>
            </a:r>
            <a:r>
              <a:rPr lang="pt-PT" sz="900" i="1">
                <a:solidFill>
                  <a:srgbClr val="34342B"/>
                </a:solidFill>
              </a:rPr>
              <a:t> </a:t>
            </a:r>
            <a:r>
              <a:rPr lang="pt-PT" sz="900" b="1" i="1">
                <a:solidFill>
                  <a:schemeClr val="tx1"/>
                </a:solidFill>
              </a:rPr>
              <a:t>período crítico de férias em MZ</a:t>
            </a:r>
            <a:r>
              <a:rPr lang="pt-PT" sz="900" i="1">
                <a:solidFill>
                  <a:srgbClr val="34342B"/>
                </a:solidFill>
              </a:rPr>
              <a:t> – 14 de Dezembro – 13 de Janeiro</a:t>
            </a:r>
            <a:endParaRPr kumimoji="0" lang="en-GB" sz="900" b="0" i="1" u="none" strike="noStrike" kern="1200" cap="none" spc="0" normalizeH="0" baseline="0" noProof="0">
              <a:ln>
                <a:noFill/>
              </a:ln>
              <a:solidFill>
                <a:srgbClr val="34342B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9" name="Diamond 68">
            <a:extLst>
              <a:ext uri="{FF2B5EF4-FFF2-40B4-BE49-F238E27FC236}">
                <a16:creationId xmlns:a16="http://schemas.microsoft.com/office/drawing/2014/main" id="{10B228B0-2F77-6BA7-B6DA-97A50F5B2676}"/>
              </a:ext>
            </a:extLst>
          </p:cNvPr>
          <p:cNvSpPr/>
          <p:nvPr/>
        </p:nvSpPr>
        <p:spPr>
          <a:xfrm>
            <a:off x="11371838" y="1914808"/>
            <a:ext cx="144000" cy="144000"/>
          </a:xfrm>
          <a:prstGeom prst="diamond">
            <a:avLst/>
          </a:prstGeom>
          <a:solidFill>
            <a:schemeClr val="accent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910FC513-E66A-8294-4010-9FAAA5DF881A}"/>
              </a:ext>
            </a:extLst>
          </p:cNvPr>
          <p:cNvGrpSpPr/>
          <p:nvPr/>
        </p:nvGrpSpPr>
        <p:grpSpPr>
          <a:xfrm>
            <a:off x="515036" y="1167018"/>
            <a:ext cx="10959239" cy="130770"/>
            <a:chOff x="515036" y="1167018"/>
            <a:chExt cx="10959239" cy="130770"/>
          </a:xfrm>
        </p:grpSpPr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DD2187CB-79E4-77F2-F828-4971DA8B7BBA}"/>
                </a:ext>
              </a:extLst>
            </p:cNvPr>
            <p:cNvGrpSpPr/>
            <p:nvPr/>
          </p:nvGrpSpPr>
          <p:grpSpPr>
            <a:xfrm>
              <a:off x="515036" y="1167018"/>
              <a:ext cx="1599563" cy="130770"/>
              <a:chOff x="566197" y="1163388"/>
              <a:chExt cx="2710403" cy="130770"/>
            </a:xfrm>
          </p:grpSpPr>
          <p:cxnSp>
            <p:nvCxnSpPr>
              <p:cNvPr id="233" name="Straight Connector 232">
                <a:extLst>
                  <a:ext uri="{FF2B5EF4-FFF2-40B4-BE49-F238E27FC236}">
                    <a16:creationId xmlns:a16="http://schemas.microsoft.com/office/drawing/2014/main" id="{5D8A01A5-C366-D5D4-8822-D70A403A91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6197" y="1228773"/>
                <a:ext cx="2710403" cy="0"/>
              </a:xfrm>
              <a:prstGeom prst="line">
                <a:avLst/>
              </a:prstGeom>
              <a:ln w="19050">
                <a:solidFill>
                  <a:schemeClr val="accent5">
                    <a:lumMod val="50000"/>
                  </a:schemeClr>
                </a:solidFill>
                <a:prstDash val="solid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47D68440-66D6-A1B8-17C4-92566C06D2E6}"/>
                  </a:ext>
                </a:extLst>
              </p:cNvPr>
              <p:cNvSpPr/>
              <p:nvPr/>
            </p:nvSpPr>
            <p:spPr>
              <a:xfrm>
                <a:off x="1276637" y="1163388"/>
                <a:ext cx="1195521" cy="1307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000" b="1" i="1" u="none" strike="noStrike" kern="1200" cap="none" spc="0" normalizeH="0" baseline="0" noProof="0">
                    <a:ln>
                      <a:noFill/>
                    </a:ln>
                    <a:solidFill>
                      <a:srgbClr val="4A4D4E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Julho</a:t>
                </a:r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596890D8-84AE-2D4D-F39C-40C3133B3026}"/>
                </a:ext>
              </a:extLst>
            </p:cNvPr>
            <p:cNvGrpSpPr/>
            <p:nvPr/>
          </p:nvGrpSpPr>
          <p:grpSpPr>
            <a:xfrm>
              <a:off x="2157288" y="1167018"/>
              <a:ext cx="1297936" cy="130770"/>
              <a:chOff x="566197" y="1163388"/>
              <a:chExt cx="2710403" cy="130770"/>
            </a:xfrm>
          </p:grpSpPr>
          <p:cxnSp>
            <p:nvCxnSpPr>
              <p:cNvPr id="231" name="Straight Connector 230">
                <a:extLst>
                  <a:ext uri="{FF2B5EF4-FFF2-40B4-BE49-F238E27FC236}">
                    <a16:creationId xmlns:a16="http://schemas.microsoft.com/office/drawing/2014/main" id="{1855D8A7-8CCD-81CB-370D-8BFE7DB882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6197" y="1228773"/>
                <a:ext cx="2710403" cy="0"/>
              </a:xfrm>
              <a:prstGeom prst="line">
                <a:avLst/>
              </a:prstGeom>
              <a:ln w="19050">
                <a:solidFill>
                  <a:schemeClr val="accent5">
                    <a:lumMod val="50000"/>
                  </a:schemeClr>
                </a:solidFill>
                <a:prstDash val="solid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CBFA782D-69E4-D3C9-A80C-9F635474BC85}"/>
                  </a:ext>
                </a:extLst>
              </p:cNvPr>
              <p:cNvSpPr/>
              <p:nvPr/>
            </p:nvSpPr>
            <p:spPr>
              <a:xfrm>
                <a:off x="861512" y="1163388"/>
                <a:ext cx="2025763" cy="1307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000" b="1" i="1" u="none" strike="noStrike" kern="1200" cap="none" spc="0" normalizeH="0" baseline="0" noProof="0">
                    <a:ln>
                      <a:noFill/>
                    </a:ln>
                    <a:solidFill>
                      <a:srgbClr val="4A4D4E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Agosto</a:t>
                </a:r>
              </a:p>
            </p:txBody>
          </p:sp>
        </p:grpSp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3DFC10CF-E659-D0D7-78B1-F33F34625B5A}"/>
                </a:ext>
              </a:extLst>
            </p:cNvPr>
            <p:cNvGrpSpPr/>
            <p:nvPr/>
          </p:nvGrpSpPr>
          <p:grpSpPr>
            <a:xfrm>
              <a:off x="3530534" y="1167018"/>
              <a:ext cx="2134625" cy="130770"/>
              <a:chOff x="566197" y="1163388"/>
              <a:chExt cx="2710403" cy="130770"/>
            </a:xfrm>
          </p:grpSpPr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FC57C08D-72ED-1576-7C8A-A769DAF6A2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6197" y="1228773"/>
                <a:ext cx="2710403" cy="0"/>
              </a:xfrm>
              <a:prstGeom prst="line">
                <a:avLst/>
              </a:prstGeom>
              <a:ln w="19050">
                <a:solidFill>
                  <a:schemeClr val="accent5">
                    <a:lumMod val="50000"/>
                  </a:schemeClr>
                </a:solidFill>
                <a:prstDash val="solid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58FD56B6-BCDF-3B4C-A44A-8BC862FD1286}"/>
                  </a:ext>
                </a:extLst>
              </p:cNvPr>
              <p:cNvSpPr/>
              <p:nvPr/>
            </p:nvSpPr>
            <p:spPr>
              <a:xfrm>
                <a:off x="966523" y="1163388"/>
                <a:ext cx="1815739" cy="1307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000" b="1" i="1" u="none" strike="noStrike" kern="1200" cap="none" spc="0" normalizeH="0" baseline="0" noProof="0">
                    <a:ln>
                      <a:noFill/>
                    </a:ln>
                    <a:solidFill>
                      <a:srgbClr val="4A4D4E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Setembro</a:t>
                </a:r>
              </a:p>
            </p:txBody>
          </p:sp>
        </p:grpSp>
        <p:grpSp>
          <p:nvGrpSpPr>
            <p:cNvPr id="217" name="Group 216">
              <a:extLst>
                <a:ext uri="{FF2B5EF4-FFF2-40B4-BE49-F238E27FC236}">
                  <a16:creationId xmlns:a16="http://schemas.microsoft.com/office/drawing/2014/main" id="{43AC372F-39CC-50CE-9C1B-ACF2112C80FA}"/>
                </a:ext>
              </a:extLst>
            </p:cNvPr>
            <p:cNvGrpSpPr/>
            <p:nvPr/>
          </p:nvGrpSpPr>
          <p:grpSpPr>
            <a:xfrm>
              <a:off x="5741630" y="1167018"/>
              <a:ext cx="1599563" cy="130770"/>
              <a:chOff x="566197" y="1163388"/>
              <a:chExt cx="2710403" cy="130770"/>
            </a:xfrm>
          </p:grpSpPr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3DA73D83-5B4E-D9BC-BA2B-511AFEF2E6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6197" y="1228773"/>
                <a:ext cx="2710403" cy="0"/>
              </a:xfrm>
              <a:prstGeom prst="line">
                <a:avLst/>
              </a:prstGeom>
              <a:ln w="19050">
                <a:solidFill>
                  <a:schemeClr val="accent5">
                    <a:lumMod val="50000"/>
                  </a:schemeClr>
                </a:solidFill>
                <a:prstDash val="solid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68A46A38-A97C-DF75-D093-4325ADCC6A1C}"/>
                  </a:ext>
                </a:extLst>
              </p:cNvPr>
              <p:cNvSpPr/>
              <p:nvPr/>
            </p:nvSpPr>
            <p:spPr>
              <a:xfrm>
                <a:off x="1276637" y="1163388"/>
                <a:ext cx="1195521" cy="1307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000" b="1" i="1" u="none" strike="noStrike" kern="1200" cap="none" spc="0" normalizeH="0" baseline="0" noProof="0">
                    <a:ln>
                      <a:noFill/>
                    </a:ln>
                    <a:solidFill>
                      <a:srgbClr val="4A4D4E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Outubro</a:t>
                </a:r>
                <a:endParaRPr kumimoji="0" lang="pt-PT" sz="1000" b="1" i="1" u="none" strike="noStrike" kern="1200" cap="none" spc="0" normalizeH="0" baseline="0">
                  <a:ln>
                    <a:noFill/>
                  </a:ln>
                  <a:solidFill>
                    <a:srgbClr val="4A4D4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B721AE66-9E02-E99B-9216-971D60C4D95F}"/>
                </a:ext>
              </a:extLst>
            </p:cNvPr>
            <p:cNvGrpSpPr/>
            <p:nvPr/>
          </p:nvGrpSpPr>
          <p:grpSpPr>
            <a:xfrm>
              <a:off x="7532113" y="1167018"/>
              <a:ext cx="1599563" cy="130770"/>
              <a:chOff x="566197" y="1163388"/>
              <a:chExt cx="2710403" cy="130770"/>
            </a:xfrm>
          </p:grpSpPr>
          <p:cxnSp>
            <p:nvCxnSpPr>
              <p:cNvPr id="225" name="Straight Connector 224">
                <a:extLst>
                  <a:ext uri="{FF2B5EF4-FFF2-40B4-BE49-F238E27FC236}">
                    <a16:creationId xmlns:a16="http://schemas.microsoft.com/office/drawing/2014/main" id="{EFAB180C-0D63-970D-0B86-5625685F6B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6197" y="1228773"/>
                <a:ext cx="2710403" cy="0"/>
              </a:xfrm>
              <a:prstGeom prst="line">
                <a:avLst/>
              </a:prstGeom>
              <a:ln w="19050">
                <a:solidFill>
                  <a:schemeClr val="accent5">
                    <a:lumMod val="50000"/>
                  </a:schemeClr>
                </a:solidFill>
                <a:prstDash val="solid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CB037E85-39DA-B825-C1DA-5A67041E489A}"/>
                  </a:ext>
                </a:extLst>
              </p:cNvPr>
              <p:cNvSpPr/>
              <p:nvPr/>
            </p:nvSpPr>
            <p:spPr>
              <a:xfrm>
                <a:off x="1246145" y="1163388"/>
                <a:ext cx="1256503" cy="1307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000" b="1" i="1" u="none" strike="noStrike" kern="1200" cap="none" spc="0" normalizeH="0" baseline="0" noProof="0">
                    <a:ln>
                      <a:noFill/>
                    </a:ln>
                    <a:solidFill>
                      <a:srgbClr val="4A4D4E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Novembro</a:t>
                </a:r>
              </a:p>
            </p:txBody>
          </p:sp>
        </p:grpSp>
        <p:grpSp>
          <p:nvGrpSpPr>
            <p:cNvPr id="219" name="Group 218">
              <a:extLst>
                <a:ext uri="{FF2B5EF4-FFF2-40B4-BE49-F238E27FC236}">
                  <a16:creationId xmlns:a16="http://schemas.microsoft.com/office/drawing/2014/main" id="{D1222856-2B55-3747-3EB9-6D52AB4B6FAF}"/>
                </a:ext>
              </a:extLst>
            </p:cNvPr>
            <p:cNvGrpSpPr/>
            <p:nvPr/>
          </p:nvGrpSpPr>
          <p:grpSpPr>
            <a:xfrm>
              <a:off x="9271843" y="1167018"/>
              <a:ext cx="781380" cy="130770"/>
              <a:chOff x="566197" y="1163388"/>
              <a:chExt cx="2710403" cy="130770"/>
            </a:xfrm>
          </p:grpSpPr>
          <p:cxnSp>
            <p:nvCxnSpPr>
              <p:cNvPr id="223" name="Straight Connector 222">
                <a:extLst>
                  <a:ext uri="{FF2B5EF4-FFF2-40B4-BE49-F238E27FC236}">
                    <a16:creationId xmlns:a16="http://schemas.microsoft.com/office/drawing/2014/main" id="{DF4856A1-DB05-E275-F7E8-E5681E4047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6197" y="1228773"/>
                <a:ext cx="2710403" cy="0"/>
              </a:xfrm>
              <a:prstGeom prst="line">
                <a:avLst/>
              </a:prstGeom>
              <a:ln w="19050">
                <a:solidFill>
                  <a:schemeClr val="accent5">
                    <a:lumMod val="50000"/>
                  </a:schemeClr>
                </a:solidFill>
                <a:prstDash val="solid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CEA1D0F3-2136-5820-7C33-41C289968438}"/>
                  </a:ext>
                </a:extLst>
              </p:cNvPr>
              <p:cNvSpPr/>
              <p:nvPr/>
            </p:nvSpPr>
            <p:spPr>
              <a:xfrm>
                <a:off x="1207497" y="1163388"/>
                <a:ext cx="1333799" cy="1307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000" b="1" i="1" u="none" strike="noStrike" kern="1200" cap="none" spc="0" normalizeH="0" baseline="0" noProof="0">
                    <a:ln>
                      <a:noFill/>
                    </a:ln>
                    <a:solidFill>
                      <a:srgbClr val="4A4D4E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Dez</a:t>
                </a:r>
              </a:p>
            </p:txBody>
          </p:sp>
        </p:grp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75D26BA2-0D12-4AEA-52A5-5E187AEAB1BA}"/>
                </a:ext>
              </a:extLst>
            </p:cNvPr>
            <p:cNvGrpSpPr/>
            <p:nvPr/>
          </p:nvGrpSpPr>
          <p:grpSpPr>
            <a:xfrm>
              <a:off x="10176339" y="1167018"/>
              <a:ext cx="1297936" cy="130770"/>
              <a:chOff x="566197" y="1163388"/>
              <a:chExt cx="2710403" cy="130770"/>
            </a:xfrm>
          </p:grpSpPr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47FA2A88-7F01-28A8-722C-069722DD16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6197" y="1228773"/>
                <a:ext cx="2710403" cy="0"/>
              </a:xfrm>
              <a:prstGeom prst="line">
                <a:avLst/>
              </a:prstGeom>
              <a:ln w="19050">
                <a:solidFill>
                  <a:schemeClr val="accent5">
                    <a:lumMod val="50000"/>
                  </a:schemeClr>
                </a:solidFill>
                <a:prstDash val="solid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44735BB3-8A6E-3D6A-FAF2-247A7A7283D2}"/>
                  </a:ext>
                </a:extLst>
              </p:cNvPr>
              <p:cNvSpPr/>
              <p:nvPr/>
            </p:nvSpPr>
            <p:spPr>
              <a:xfrm>
                <a:off x="861512" y="1163388"/>
                <a:ext cx="2025763" cy="1307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000" b="1" i="1" u="none" strike="noStrike" kern="1200" cap="none" spc="0" normalizeH="0" baseline="0" noProof="0">
                    <a:ln>
                      <a:noFill/>
                    </a:ln>
                    <a:solidFill>
                      <a:srgbClr val="4A4D4E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Janeiro</a:t>
                </a:r>
              </a:p>
            </p:txBody>
          </p:sp>
        </p:grpSp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4DB71D1C-C003-2BC8-EE13-29947ADD0BF5}"/>
              </a:ext>
            </a:extLst>
          </p:cNvPr>
          <p:cNvGrpSpPr/>
          <p:nvPr/>
        </p:nvGrpSpPr>
        <p:grpSpPr>
          <a:xfrm>
            <a:off x="636759" y="1645527"/>
            <a:ext cx="11251648" cy="215584"/>
            <a:chOff x="636759" y="1645527"/>
            <a:chExt cx="11251648" cy="215584"/>
          </a:xfrm>
        </p:grpSpPr>
        <p:sp>
          <p:nvSpPr>
            <p:cNvPr id="251" name="Arrow: Pentagon 250">
              <a:extLst>
                <a:ext uri="{FF2B5EF4-FFF2-40B4-BE49-F238E27FC236}">
                  <a16:creationId xmlns:a16="http://schemas.microsoft.com/office/drawing/2014/main" id="{F9B84D92-4562-E372-799A-032D795A9B82}"/>
                </a:ext>
              </a:extLst>
            </p:cNvPr>
            <p:cNvSpPr/>
            <p:nvPr/>
          </p:nvSpPr>
          <p:spPr>
            <a:xfrm>
              <a:off x="636759" y="1663111"/>
              <a:ext cx="11251648" cy="198000"/>
            </a:xfrm>
            <a:prstGeom prst="homePlate">
              <a:avLst/>
            </a:prstGeom>
            <a:gradFill>
              <a:gsLst>
                <a:gs pos="0">
                  <a:srgbClr val="7F7F7F"/>
                </a:gs>
                <a:gs pos="50000">
                  <a:srgbClr val="7F7F7F"/>
                </a:gs>
                <a:gs pos="51000">
                  <a:schemeClr val="bg2">
                    <a:lumMod val="90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7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0325E38C-CDBF-87F9-35DF-D537BD95D467}"/>
                </a:ext>
              </a:extLst>
            </p:cNvPr>
            <p:cNvSpPr/>
            <p:nvPr/>
          </p:nvSpPr>
          <p:spPr>
            <a:xfrm>
              <a:off x="5340228" y="1645527"/>
              <a:ext cx="1621262" cy="1412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900" b="1">
                  <a:solidFill>
                    <a:schemeClr val="bg1"/>
                  </a:solidFill>
                </a:rPr>
                <a:t>PMO + Embedment</a:t>
              </a:r>
            </a:p>
          </p:txBody>
        </p:sp>
      </p:grp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636448A-01EB-4B70-B496-21DD64BEAD1E}"/>
              </a:ext>
            </a:extLst>
          </p:cNvPr>
          <p:cNvCxnSpPr>
            <a:cxnSpLocks/>
          </p:cNvCxnSpPr>
          <p:nvPr/>
        </p:nvCxnSpPr>
        <p:spPr>
          <a:xfrm>
            <a:off x="3047689" y="1232402"/>
            <a:ext cx="0" cy="508680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AAC89DD-F72D-EA88-2811-D1DC875C28ED}"/>
              </a:ext>
            </a:extLst>
          </p:cNvPr>
          <p:cNvGrpSpPr/>
          <p:nvPr/>
        </p:nvGrpSpPr>
        <p:grpSpPr>
          <a:xfrm>
            <a:off x="2921689" y="2198481"/>
            <a:ext cx="252000" cy="252000"/>
            <a:chOff x="3104569" y="2353929"/>
            <a:chExt cx="252000" cy="252000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95AF98FC-2704-F898-A086-84C2B237F775}"/>
                </a:ext>
              </a:extLst>
            </p:cNvPr>
            <p:cNvSpPr/>
            <p:nvPr/>
          </p:nvSpPr>
          <p:spPr>
            <a:xfrm>
              <a:off x="3104569" y="2353929"/>
              <a:ext cx="252000" cy="25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8" name="Freeform 5">
              <a:extLst>
                <a:ext uri="{FF2B5EF4-FFF2-40B4-BE49-F238E27FC236}">
                  <a16:creationId xmlns:a16="http://schemas.microsoft.com/office/drawing/2014/main" id="{67913E05-A563-9B03-9EEE-C7C5E6F8F9C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122569" y="2371929"/>
              <a:ext cx="216000" cy="216000"/>
            </a:xfrm>
            <a:custGeom>
              <a:avLst/>
              <a:gdLst>
                <a:gd name="T0" fmla="*/ 486 w 972"/>
                <a:gd name="T1" fmla="*/ 0 h 972"/>
                <a:gd name="T2" fmla="*/ 0 w 972"/>
                <a:gd name="T3" fmla="*/ 486 h 972"/>
                <a:gd name="T4" fmla="*/ 486 w 972"/>
                <a:gd name="T5" fmla="*/ 972 h 972"/>
                <a:gd name="T6" fmla="*/ 972 w 972"/>
                <a:gd name="T7" fmla="*/ 486 h 972"/>
                <a:gd name="T8" fmla="*/ 486 w 972"/>
                <a:gd name="T9" fmla="*/ 0 h 972"/>
                <a:gd name="T10" fmla="*/ 754 w 972"/>
                <a:gd name="T11" fmla="*/ 333 h 972"/>
                <a:gd name="T12" fmla="*/ 739 w 972"/>
                <a:gd name="T13" fmla="*/ 338 h 972"/>
                <a:gd name="T14" fmla="*/ 726 w 972"/>
                <a:gd name="T15" fmla="*/ 333 h 972"/>
                <a:gd name="T16" fmla="*/ 697 w 972"/>
                <a:gd name="T17" fmla="*/ 304 h 972"/>
                <a:gd name="T18" fmla="*/ 665 w 972"/>
                <a:gd name="T19" fmla="*/ 335 h 972"/>
                <a:gd name="T20" fmla="*/ 748 w 972"/>
                <a:gd name="T21" fmla="*/ 526 h 972"/>
                <a:gd name="T22" fmla="*/ 486 w 972"/>
                <a:gd name="T23" fmla="*/ 790 h 972"/>
                <a:gd name="T24" fmla="*/ 223 w 972"/>
                <a:gd name="T25" fmla="*/ 526 h 972"/>
                <a:gd name="T26" fmla="*/ 466 w 972"/>
                <a:gd name="T27" fmla="*/ 264 h 972"/>
                <a:gd name="T28" fmla="*/ 466 w 972"/>
                <a:gd name="T29" fmla="*/ 223 h 972"/>
                <a:gd name="T30" fmla="*/ 426 w 972"/>
                <a:gd name="T31" fmla="*/ 223 h 972"/>
                <a:gd name="T32" fmla="*/ 405 w 972"/>
                <a:gd name="T33" fmla="*/ 202 h 972"/>
                <a:gd name="T34" fmla="*/ 426 w 972"/>
                <a:gd name="T35" fmla="*/ 183 h 972"/>
                <a:gd name="T36" fmla="*/ 547 w 972"/>
                <a:gd name="T37" fmla="*/ 183 h 972"/>
                <a:gd name="T38" fmla="*/ 566 w 972"/>
                <a:gd name="T39" fmla="*/ 202 h 972"/>
                <a:gd name="T40" fmla="*/ 547 w 972"/>
                <a:gd name="T41" fmla="*/ 223 h 972"/>
                <a:gd name="T42" fmla="*/ 505 w 972"/>
                <a:gd name="T43" fmla="*/ 223 h 972"/>
                <a:gd name="T44" fmla="*/ 505 w 972"/>
                <a:gd name="T45" fmla="*/ 264 h 972"/>
                <a:gd name="T46" fmla="*/ 635 w 972"/>
                <a:gd name="T47" fmla="*/ 310 h 972"/>
                <a:gd name="T48" fmla="*/ 669 w 972"/>
                <a:gd name="T49" fmla="*/ 276 h 972"/>
                <a:gd name="T50" fmla="*/ 640 w 972"/>
                <a:gd name="T51" fmla="*/ 245 h 972"/>
                <a:gd name="T52" fmla="*/ 640 w 972"/>
                <a:gd name="T53" fmla="*/ 217 h 972"/>
                <a:gd name="T54" fmla="*/ 669 w 972"/>
                <a:gd name="T55" fmla="*/ 217 h 972"/>
                <a:gd name="T56" fmla="*/ 754 w 972"/>
                <a:gd name="T57" fmla="*/ 304 h 972"/>
                <a:gd name="T58" fmla="*/ 754 w 972"/>
                <a:gd name="T59" fmla="*/ 333 h 972"/>
                <a:gd name="T60" fmla="*/ 486 w 972"/>
                <a:gd name="T61" fmla="*/ 304 h 972"/>
                <a:gd name="T62" fmla="*/ 262 w 972"/>
                <a:gd name="T63" fmla="*/ 526 h 972"/>
                <a:gd name="T64" fmla="*/ 486 w 972"/>
                <a:gd name="T65" fmla="*/ 748 h 972"/>
                <a:gd name="T66" fmla="*/ 709 w 972"/>
                <a:gd name="T67" fmla="*/ 526 h 972"/>
                <a:gd name="T68" fmla="*/ 486 w 972"/>
                <a:gd name="T69" fmla="*/ 304 h 972"/>
                <a:gd name="T70" fmla="*/ 505 w 972"/>
                <a:gd name="T71" fmla="*/ 526 h 972"/>
                <a:gd name="T72" fmla="*/ 486 w 972"/>
                <a:gd name="T73" fmla="*/ 547 h 972"/>
                <a:gd name="T74" fmla="*/ 466 w 972"/>
                <a:gd name="T75" fmla="*/ 526 h 972"/>
                <a:gd name="T76" fmla="*/ 466 w 972"/>
                <a:gd name="T77" fmla="*/ 384 h 972"/>
                <a:gd name="T78" fmla="*/ 486 w 972"/>
                <a:gd name="T79" fmla="*/ 365 h 972"/>
                <a:gd name="T80" fmla="*/ 505 w 972"/>
                <a:gd name="T81" fmla="*/ 384 h 972"/>
                <a:gd name="T82" fmla="*/ 505 w 972"/>
                <a:gd name="T83" fmla="*/ 526 h 9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72" h="972">
                  <a:moveTo>
                    <a:pt x="486" y="0"/>
                  </a:moveTo>
                  <a:cubicBezTo>
                    <a:pt x="217" y="0"/>
                    <a:pt x="0" y="217"/>
                    <a:pt x="0" y="486"/>
                  </a:cubicBezTo>
                  <a:cubicBezTo>
                    <a:pt x="0" y="754"/>
                    <a:pt x="217" y="972"/>
                    <a:pt x="486" y="972"/>
                  </a:cubicBezTo>
                  <a:cubicBezTo>
                    <a:pt x="754" y="972"/>
                    <a:pt x="972" y="754"/>
                    <a:pt x="972" y="486"/>
                  </a:cubicBezTo>
                  <a:cubicBezTo>
                    <a:pt x="972" y="217"/>
                    <a:pt x="754" y="0"/>
                    <a:pt x="486" y="0"/>
                  </a:cubicBezTo>
                  <a:close/>
                  <a:moveTo>
                    <a:pt x="754" y="333"/>
                  </a:moveTo>
                  <a:cubicBezTo>
                    <a:pt x="750" y="336"/>
                    <a:pt x="745" y="338"/>
                    <a:pt x="739" y="338"/>
                  </a:cubicBezTo>
                  <a:cubicBezTo>
                    <a:pt x="735" y="338"/>
                    <a:pt x="729" y="336"/>
                    <a:pt x="726" y="333"/>
                  </a:cubicBezTo>
                  <a:cubicBezTo>
                    <a:pt x="697" y="304"/>
                    <a:pt x="697" y="304"/>
                    <a:pt x="697" y="304"/>
                  </a:cubicBezTo>
                  <a:cubicBezTo>
                    <a:pt x="665" y="335"/>
                    <a:pt x="665" y="335"/>
                    <a:pt x="665" y="335"/>
                  </a:cubicBezTo>
                  <a:cubicBezTo>
                    <a:pt x="716" y="382"/>
                    <a:pt x="748" y="450"/>
                    <a:pt x="748" y="526"/>
                  </a:cubicBezTo>
                  <a:cubicBezTo>
                    <a:pt x="748" y="671"/>
                    <a:pt x="631" y="790"/>
                    <a:pt x="486" y="790"/>
                  </a:cubicBezTo>
                  <a:cubicBezTo>
                    <a:pt x="340" y="790"/>
                    <a:pt x="223" y="671"/>
                    <a:pt x="223" y="526"/>
                  </a:cubicBezTo>
                  <a:cubicBezTo>
                    <a:pt x="223" y="388"/>
                    <a:pt x="331" y="274"/>
                    <a:pt x="466" y="264"/>
                  </a:cubicBezTo>
                  <a:cubicBezTo>
                    <a:pt x="466" y="223"/>
                    <a:pt x="466" y="223"/>
                    <a:pt x="466" y="223"/>
                  </a:cubicBezTo>
                  <a:cubicBezTo>
                    <a:pt x="426" y="223"/>
                    <a:pt x="426" y="223"/>
                    <a:pt x="426" y="223"/>
                  </a:cubicBezTo>
                  <a:cubicBezTo>
                    <a:pt x="414" y="223"/>
                    <a:pt x="405" y="213"/>
                    <a:pt x="405" y="202"/>
                  </a:cubicBezTo>
                  <a:cubicBezTo>
                    <a:pt x="405" y="190"/>
                    <a:pt x="414" y="183"/>
                    <a:pt x="426" y="183"/>
                  </a:cubicBezTo>
                  <a:cubicBezTo>
                    <a:pt x="547" y="183"/>
                    <a:pt x="547" y="183"/>
                    <a:pt x="547" y="183"/>
                  </a:cubicBezTo>
                  <a:cubicBezTo>
                    <a:pt x="559" y="183"/>
                    <a:pt x="566" y="190"/>
                    <a:pt x="566" y="202"/>
                  </a:cubicBezTo>
                  <a:cubicBezTo>
                    <a:pt x="566" y="213"/>
                    <a:pt x="559" y="223"/>
                    <a:pt x="547" y="223"/>
                  </a:cubicBezTo>
                  <a:cubicBezTo>
                    <a:pt x="505" y="223"/>
                    <a:pt x="505" y="223"/>
                    <a:pt x="505" y="223"/>
                  </a:cubicBezTo>
                  <a:cubicBezTo>
                    <a:pt x="505" y="264"/>
                    <a:pt x="505" y="264"/>
                    <a:pt x="505" y="264"/>
                  </a:cubicBezTo>
                  <a:cubicBezTo>
                    <a:pt x="553" y="268"/>
                    <a:pt x="597" y="283"/>
                    <a:pt x="635" y="310"/>
                  </a:cubicBezTo>
                  <a:cubicBezTo>
                    <a:pt x="669" y="276"/>
                    <a:pt x="669" y="276"/>
                    <a:pt x="669" y="276"/>
                  </a:cubicBezTo>
                  <a:cubicBezTo>
                    <a:pt x="640" y="245"/>
                    <a:pt x="640" y="245"/>
                    <a:pt x="640" y="245"/>
                  </a:cubicBezTo>
                  <a:cubicBezTo>
                    <a:pt x="631" y="238"/>
                    <a:pt x="631" y="226"/>
                    <a:pt x="640" y="217"/>
                  </a:cubicBezTo>
                  <a:cubicBezTo>
                    <a:pt x="648" y="209"/>
                    <a:pt x="661" y="209"/>
                    <a:pt x="669" y="217"/>
                  </a:cubicBezTo>
                  <a:cubicBezTo>
                    <a:pt x="754" y="304"/>
                    <a:pt x="754" y="304"/>
                    <a:pt x="754" y="304"/>
                  </a:cubicBezTo>
                  <a:cubicBezTo>
                    <a:pt x="762" y="312"/>
                    <a:pt x="762" y="325"/>
                    <a:pt x="754" y="333"/>
                  </a:cubicBezTo>
                  <a:close/>
                  <a:moveTo>
                    <a:pt x="486" y="304"/>
                  </a:moveTo>
                  <a:cubicBezTo>
                    <a:pt x="363" y="304"/>
                    <a:pt x="262" y="403"/>
                    <a:pt x="262" y="526"/>
                  </a:cubicBezTo>
                  <a:cubicBezTo>
                    <a:pt x="262" y="650"/>
                    <a:pt x="363" y="748"/>
                    <a:pt x="486" y="748"/>
                  </a:cubicBezTo>
                  <a:cubicBezTo>
                    <a:pt x="608" y="748"/>
                    <a:pt x="709" y="650"/>
                    <a:pt x="709" y="526"/>
                  </a:cubicBezTo>
                  <a:cubicBezTo>
                    <a:pt x="709" y="403"/>
                    <a:pt x="608" y="304"/>
                    <a:pt x="486" y="304"/>
                  </a:cubicBezTo>
                  <a:close/>
                  <a:moveTo>
                    <a:pt x="505" y="526"/>
                  </a:moveTo>
                  <a:cubicBezTo>
                    <a:pt x="505" y="538"/>
                    <a:pt x="498" y="547"/>
                    <a:pt x="486" y="547"/>
                  </a:cubicBezTo>
                  <a:cubicBezTo>
                    <a:pt x="475" y="547"/>
                    <a:pt x="466" y="538"/>
                    <a:pt x="466" y="526"/>
                  </a:cubicBezTo>
                  <a:cubicBezTo>
                    <a:pt x="466" y="384"/>
                    <a:pt x="466" y="384"/>
                    <a:pt x="466" y="384"/>
                  </a:cubicBezTo>
                  <a:cubicBezTo>
                    <a:pt x="466" y="373"/>
                    <a:pt x="475" y="365"/>
                    <a:pt x="486" y="365"/>
                  </a:cubicBezTo>
                  <a:cubicBezTo>
                    <a:pt x="498" y="365"/>
                    <a:pt x="505" y="373"/>
                    <a:pt x="505" y="384"/>
                  </a:cubicBezTo>
                  <a:lnTo>
                    <a:pt x="505" y="526"/>
                  </a:lnTo>
                  <a:close/>
                </a:path>
              </a:pathLst>
            </a:custGeom>
            <a:solidFill>
              <a:srgbClr val="86BC25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PT"/>
            </a:p>
          </p:txBody>
        </p:sp>
      </p:grp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89102765-5365-3FAD-F3AC-736BC6186C33}"/>
              </a:ext>
            </a:extLst>
          </p:cNvPr>
          <p:cNvCxnSpPr>
            <a:cxnSpLocks/>
          </p:cNvCxnSpPr>
          <p:nvPr/>
        </p:nvCxnSpPr>
        <p:spPr>
          <a:xfrm>
            <a:off x="5262088" y="3638937"/>
            <a:ext cx="1300079" cy="0"/>
          </a:xfrm>
          <a:prstGeom prst="line">
            <a:avLst/>
          </a:prstGeom>
          <a:ln>
            <a:solidFill>
              <a:srgbClr val="4074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Star: 5 Points 146">
            <a:extLst>
              <a:ext uri="{FF2B5EF4-FFF2-40B4-BE49-F238E27FC236}">
                <a16:creationId xmlns:a16="http://schemas.microsoft.com/office/drawing/2014/main" id="{340E2570-788F-FD2F-A170-3B6E839F4307}"/>
              </a:ext>
            </a:extLst>
          </p:cNvPr>
          <p:cNvSpPr/>
          <p:nvPr/>
        </p:nvSpPr>
        <p:spPr>
          <a:xfrm>
            <a:off x="5215221" y="3561474"/>
            <a:ext cx="144000" cy="144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A6064D2A-05AF-EB40-73DF-A3E9773F39E4}"/>
              </a:ext>
            </a:extLst>
          </p:cNvPr>
          <p:cNvSpPr/>
          <p:nvPr/>
        </p:nvSpPr>
        <p:spPr>
          <a:xfrm>
            <a:off x="5289224" y="3699378"/>
            <a:ext cx="1272943" cy="309591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800" i="1">
                <a:solidFill>
                  <a:srgbClr val="34342B"/>
                </a:solidFill>
              </a:rPr>
              <a:t>3 semanas para embedment</a:t>
            </a:r>
            <a:endParaRPr kumimoji="0" lang="en-GB" sz="800" b="0" i="1" u="none" strike="noStrike" kern="1200" cap="none" spc="0" normalizeH="0" baseline="0" noProof="0">
              <a:ln>
                <a:noFill/>
              </a:ln>
              <a:solidFill>
                <a:srgbClr val="34342B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3562E25B-FF32-ECBB-DC95-6EC1B4549FF0}"/>
              </a:ext>
            </a:extLst>
          </p:cNvPr>
          <p:cNvGrpSpPr/>
          <p:nvPr/>
        </p:nvGrpSpPr>
        <p:grpSpPr>
          <a:xfrm>
            <a:off x="9995351" y="1232403"/>
            <a:ext cx="252000" cy="5084829"/>
            <a:chOff x="9995351" y="1232403"/>
            <a:chExt cx="252000" cy="5084829"/>
          </a:xfrm>
        </p:grpSpPr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0833F43C-781D-BFC0-E3D3-E53D5FACC8E1}"/>
                </a:ext>
              </a:extLst>
            </p:cNvPr>
            <p:cNvCxnSpPr>
              <a:cxnSpLocks/>
            </p:cNvCxnSpPr>
            <p:nvPr/>
          </p:nvCxnSpPr>
          <p:spPr>
            <a:xfrm>
              <a:off x="10121351" y="1232403"/>
              <a:ext cx="0" cy="5084829"/>
            </a:xfrm>
            <a:prstGeom prst="line">
              <a:avLst/>
            </a:prstGeom>
            <a:ln w="381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DAC4086E-93A1-C2D5-6964-5D2EC079387F}"/>
                </a:ext>
              </a:extLst>
            </p:cNvPr>
            <p:cNvGrpSpPr/>
            <p:nvPr/>
          </p:nvGrpSpPr>
          <p:grpSpPr>
            <a:xfrm>
              <a:off x="9995351" y="2198481"/>
              <a:ext cx="252000" cy="252000"/>
              <a:chOff x="3104569" y="2353929"/>
              <a:chExt cx="252000" cy="252000"/>
            </a:xfrm>
          </p:grpSpPr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1E5375C7-BEBB-1DDA-BC73-D70A2361465B}"/>
                  </a:ext>
                </a:extLst>
              </p:cNvPr>
              <p:cNvSpPr/>
              <p:nvPr/>
            </p:nvSpPr>
            <p:spPr>
              <a:xfrm>
                <a:off x="3104569" y="2353929"/>
                <a:ext cx="252000" cy="25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11" name="Freeform 5">
                <a:extLst>
                  <a:ext uri="{FF2B5EF4-FFF2-40B4-BE49-F238E27FC236}">
                    <a16:creationId xmlns:a16="http://schemas.microsoft.com/office/drawing/2014/main" id="{65F623FF-8167-6A37-D48B-595257E015A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3122569" y="2371929"/>
                <a:ext cx="216000" cy="216000"/>
              </a:xfrm>
              <a:custGeom>
                <a:avLst/>
                <a:gdLst>
                  <a:gd name="T0" fmla="*/ 486 w 972"/>
                  <a:gd name="T1" fmla="*/ 0 h 972"/>
                  <a:gd name="T2" fmla="*/ 0 w 972"/>
                  <a:gd name="T3" fmla="*/ 486 h 972"/>
                  <a:gd name="T4" fmla="*/ 486 w 972"/>
                  <a:gd name="T5" fmla="*/ 972 h 972"/>
                  <a:gd name="T6" fmla="*/ 972 w 972"/>
                  <a:gd name="T7" fmla="*/ 486 h 972"/>
                  <a:gd name="T8" fmla="*/ 486 w 972"/>
                  <a:gd name="T9" fmla="*/ 0 h 972"/>
                  <a:gd name="T10" fmla="*/ 754 w 972"/>
                  <a:gd name="T11" fmla="*/ 333 h 972"/>
                  <a:gd name="T12" fmla="*/ 739 w 972"/>
                  <a:gd name="T13" fmla="*/ 338 h 972"/>
                  <a:gd name="T14" fmla="*/ 726 w 972"/>
                  <a:gd name="T15" fmla="*/ 333 h 972"/>
                  <a:gd name="T16" fmla="*/ 697 w 972"/>
                  <a:gd name="T17" fmla="*/ 304 h 972"/>
                  <a:gd name="T18" fmla="*/ 665 w 972"/>
                  <a:gd name="T19" fmla="*/ 335 h 972"/>
                  <a:gd name="T20" fmla="*/ 748 w 972"/>
                  <a:gd name="T21" fmla="*/ 526 h 972"/>
                  <a:gd name="T22" fmla="*/ 486 w 972"/>
                  <a:gd name="T23" fmla="*/ 790 h 972"/>
                  <a:gd name="T24" fmla="*/ 223 w 972"/>
                  <a:gd name="T25" fmla="*/ 526 h 972"/>
                  <a:gd name="T26" fmla="*/ 466 w 972"/>
                  <a:gd name="T27" fmla="*/ 264 h 972"/>
                  <a:gd name="T28" fmla="*/ 466 w 972"/>
                  <a:gd name="T29" fmla="*/ 223 h 972"/>
                  <a:gd name="T30" fmla="*/ 426 w 972"/>
                  <a:gd name="T31" fmla="*/ 223 h 972"/>
                  <a:gd name="T32" fmla="*/ 405 w 972"/>
                  <a:gd name="T33" fmla="*/ 202 h 972"/>
                  <a:gd name="T34" fmla="*/ 426 w 972"/>
                  <a:gd name="T35" fmla="*/ 183 h 972"/>
                  <a:gd name="T36" fmla="*/ 547 w 972"/>
                  <a:gd name="T37" fmla="*/ 183 h 972"/>
                  <a:gd name="T38" fmla="*/ 566 w 972"/>
                  <a:gd name="T39" fmla="*/ 202 h 972"/>
                  <a:gd name="T40" fmla="*/ 547 w 972"/>
                  <a:gd name="T41" fmla="*/ 223 h 972"/>
                  <a:gd name="T42" fmla="*/ 505 w 972"/>
                  <a:gd name="T43" fmla="*/ 223 h 972"/>
                  <a:gd name="T44" fmla="*/ 505 w 972"/>
                  <a:gd name="T45" fmla="*/ 264 h 972"/>
                  <a:gd name="T46" fmla="*/ 635 w 972"/>
                  <a:gd name="T47" fmla="*/ 310 h 972"/>
                  <a:gd name="T48" fmla="*/ 669 w 972"/>
                  <a:gd name="T49" fmla="*/ 276 h 972"/>
                  <a:gd name="T50" fmla="*/ 640 w 972"/>
                  <a:gd name="T51" fmla="*/ 245 h 972"/>
                  <a:gd name="T52" fmla="*/ 640 w 972"/>
                  <a:gd name="T53" fmla="*/ 217 h 972"/>
                  <a:gd name="T54" fmla="*/ 669 w 972"/>
                  <a:gd name="T55" fmla="*/ 217 h 972"/>
                  <a:gd name="T56" fmla="*/ 754 w 972"/>
                  <a:gd name="T57" fmla="*/ 304 h 972"/>
                  <a:gd name="T58" fmla="*/ 754 w 972"/>
                  <a:gd name="T59" fmla="*/ 333 h 972"/>
                  <a:gd name="T60" fmla="*/ 486 w 972"/>
                  <a:gd name="T61" fmla="*/ 304 h 972"/>
                  <a:gd name="T62" fmla="*/ 262 w 972"/>
                  <a:gd name="T63" fmla="*/ 526 h 972"/>
                  <a:gd name="T64" fmla="*/ 486 w 972"/>
                  <a:gd name="T65" fmla="*/ 748 h 972"/>
                  <a:gd name="T66" fmla="*/ 709 w 972"/>
                  <a:gd name="T67" fmla="*/ 526 h 972"/>
                  <a:gd name="T68" fmla="*/ 486 w 972"/>
                  <a:gd name="T69" fmla="*/ 304 h 972"/>
                  <a:gd name="T70" fmla="*/ 505 w 972"/>
                  <a:gd name="T71" fmla="*/ 526 h 972"/>
                  <a:gd name="T72" fmla="*/ 486 w 972"/>
                  <a:gd name="T73" fmla="*/ 547 h 972"/>
                  <a:gd name="T74" fmla="*/ 466 w 972"/>
                  <a:gd name="T75" fmla="*/ 526 h 972"/>
                  <a:gd name="T76" fmla="*/ 466 w 972"/>
                  <a:gd name="T77" fmla="*/ 384 h 972"/>
                  <a:gd name="T78" fmla="*/ 486 w 972"/>
                  <a:gd name="T79" fmla="*/ 365 h 972"/>
                  <a:gd name="T80" fmla="*/ 505 w 972"/>
                  <a:gd name="T81" fmla="*/ 384 h 972"/>
                  <a:gd name="T82" fmla="*/ 505 w 972"/>
                  <a:gd name="T83" fmla="*/ 526 h 9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72" h="972">
                    <a:moveTo>
                      <a:pt x="486" y="0"/>
                    </a:moveTo>
                    <a:cubicBezTo>
                      <a:pt x="217" y="0"/>
                      <a:pt x="0" y="217"/>
                      <a:pt x="0" y="486"/>
                    </a:cubicBezTo>
                    <a:cubicBezTo>
                      <a:pt x="0" y="754"/>
                      <a:pt x="217" y="972"/>
                      <a:pt x="486" y="972"/>
                    </a:cubicBezTo>
                    <a:cubicBezTo>
                      <a:pt x="754" y="972"/>
                      <a:pt x="972" y="754"/>
                      <a:pt x="972" y="486"/>
                    </a:cubicBezTo>
                    <a:cubicBezTo>
                      <a:pt x="972" y="217"/>
                      <a:pt x="754" y="0"/>
                      <a:pt x="486" y="0"/>
                    </a:cubicBezTo>
                    <a:close/>
                    <a:moveTo>
                      <a:pt x="754" y="333"/>
                    </a:moveTo>
                    <a:cubicBezTo>
                      <a:pt x="750" y="336"/>
                      <a:pt x="745" y="338"/>
                      <a:pt x="739" y="338"/>
                    </a:cubicBezTo>
                    <a:cubicBezTo>
                      <a:pt x="735" y="338"/>
                      <a:pt x="729" y="336"/>
                      <a:pt x="726" y="333"/>
                    </a:cubicBezTo>
                    <a:cubicBezTo>
                      <a:pt x="697" y="304"/>
                      <a:pt x="697" y="304"/>
                      <a:pt x="697" y="304"/>
                    </a:cubicBezTo>
                    <a:cubicBezTo>
                      <a:pt x="665" y="335"/>
                      <a:pt x="665" y="335"/>
                      <a:pt x="665" y="335"/>
                    </a:cubicBezTo>
                    <a:cubicBezTo>
                      <a:pt x="716" y="382"/>
                      <a:pt x="748" y="450"/>
                      <a:pt x="748" y="526"/>
                    </a:cubicBezTo>
                    <a:cubicBezTo>
                      <a:pt x="748" y="671"/>
                      <a:pt x="631" y="790"/>
                      <a:pt x="486" y="790"/>
                    </a:cubicBezTo>
                    <a:cubicBezTo>
                      <a:pt x="340" y="790"/>
                      <a:pt x="223" y="671"/>
                      <a:pt x="223" y="526"/>
                    </a:cubicBezTo>
                    <a:cubicBezTo>
                      <a:pt x="223" y="388"/>
                      <a:pt x="331" y="274"/>
                      <a:pt x="466" y="264"/>
                    </a:cubicBezTo>
                    <a:cubicBezTo>
                      <a:pt x="466" y="223"/>
                      <a:pt x="466" y="223"/>
                      <a:pt x="466" y="223"/>
                    </a:cubicBezTo>
                    <a:cubicBezTo>
                      <a:pt x="426" y="223"/>
                      <a:pt x="426" y="223"/>
                      <a:pt x="426" y="223"/>
                    </a:cubicBezTo>
                    <a:cubicBezTo>
                      <a:pt x="414" y="223"/>
                      <a:pt x="405" y="213"/>
                      <a:pt x="405" y="202"/>
                    </a:cubicBezTo>
                    <a:cubicBezTo>
                      <a:pt x="405" y="190"/>
                      <a:pt x="414" y="183"/>
                      <a:pt x="426" y="183"/>
                    </a:cubicBezTo>
                    <a:cubicBezTo>
                      <a:pt x="547" y="183"/>
                      <a:pt x="547" y="183"/>
                      <a:pt x="547" y="183"/>
                    </a:cubicBezTo>
                    <a:cubicBezTo>
                      <a:pt x="559" y="183"/>
                      <a:pt x="566" y="190"/>
                      <a:pt x="566" y="202"/>
                    </a:cubicBezTo>
                    <a:cubicBezTo>
                      <a:pt x="566" y="213"/>
                      <a:pt x="559" y="223"/>
                      <a:pt x="547" y="223"/>
                    </a:cubicBezTo>
                    <a:cubicBezTo>
                      <a:pt x="505" y="223"/>
                      <a:pt x="505" y="223"/>
                      <a:pt x="505" y="223"/>
                    </a:cubicBezTo>
                    <a:cubicBezTo>
                      <a:pt x="505" y="264"/>
                      <a:pt x="505" y="264"/>
                      <a:pt x="505" y="264"/>
                    </a:cubicBezTo>
                    <a:cubicBezTo>
                      <a:pt x="553" y="268"/>
                      <a:pt x="597" y="283"/>
                      <a:pt x="635" y="310"/>
                    </a:cubicBezTo>
                    <a:cubicBezTo>
                      <a:pt x="669" y="276"/>
                      <a:pt x="669" y="276"/>
                      <a:pt x="669" y="276"/>
                    </a:cubicBezTo>
                    <a:cubicBezTo>
                      <a:pt x="640" y="245"/>
                      <a:pt x="640" y="245"/>
                      <a:pt x="640" y="245"/>
                    </a:cubicBezTo>
                    <a:cubicBezTo>
                      <a:pt x="631" y="238"/>
                      <a:pt x="631" y="226"/>
                      <a:pt x="640" y="217"/>
                    </a:cubicBezTo>
                    <a:cubicBezTo>
                      <a:pt x="648" y="209"/>
                      <a:pt x="661" y="209"/>
                      <a:pt x="669" y="217"/>
                    </a:cubicBezTo>
                    <a:cubicBezTo>
                      <a:pt x="754" y="304"/>
                      <a:pt x="754" y="304"/>
                      <a:pt x="754" y="304"/>
                    </a:cubicBezTo>
                    <a:cubicBezTo>
                      <a:pt x="762" y="312"/>
                      <a:pt x="762" y="325"/>
                      <a:pt x="754" y="333"/>
                    </a:cubicBezTo>
                    <a:close/>
                    <a:moveTo>
                      <a:pt x="486" y="304"/>
                    </a:moveTo>
                    <a:cubicBezTo>
                      <a:pt x="363" y="304"/>
                      <a:pt x="262" y="403"/>
                      <a:pt x="262" y="526"/>
                    </a:cubicBezTo>
                    <a:cubicBezTo>
                      <a:pt x="262" y="650"/>
                      <a:pt x="363" y="748"/>
                      <a:pt x="486" y="748"/>
                    </a:cubicBezTo>
                    <a:cubicBezTo>
                      <a:pt x="608" y="748"/>
                      <a:pt x="709" y="650"/>
                      <a:pt x="709" y="526"/>
                    </a:cubicBezTo>
                    <a:cubicBezTo>
                      <a:pt x="709" y="403"/>
                      <a:pt x="608" y="304"/>
                      <a:pt x="486" y="304"/>
                    </a:cubicBezTo>
                    <a:close/>
                    <a:moveTo>
                      <a:pt x="505" y="526"/>
                    </a:moveTo>
                    <a:cubicBezTo>
                      <a:pt x="505" y="538"/>
                      <a:pt x="498" y="547"/>
                      <a:pt x="486" y="547"/>
                    </a:cubicBezTo>
                    <a:cubicBezTo>
                      <a:pt x="475" y="547"/>
                      <a:pt x="466" y="538"/>
                      <a:pt x="466" y="526"/>
                    </a:cubicBezTo>
                    <a:cubicBezTo>
                      <a:pt x="466" y="384"/>
                      <a:pt x="466" y="384"/>
                      <a:pt x="466" y="384"/>
                    </a:cubicBezTo>
                    <a:cubicBezTo>
                      <a:pt x="466" y="373"/>
                      <a:pt x="475" y="365"/>
                      <a:pt x="486" y="365"/>
                    </a:cubicBezTo>
                    <a:cubicBezTo>
                      <a:pt x="498" y="365"/>
                      <a:pt x="505" y="373"/>
                      <a:pt x="505" y="384"/>
                    </a:cubicBezTo>
                    <a:lnTo>
                      <a:pt x="505" y="526"/>
                    </a:lnTo>
                    <a:close/>
                  </a:path>
                </a:pathLst>
              </a:custGeom>
              <a:solidFill>
                <a:srgbClr val="86BC25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PT"/>
              </a:p>
            </p:txBody>
          </p:sp>
        </p:grpSp>
      </p:grpSp>
      <p:sp>
        <p:nvSpPr>
          <p:cNvPr id="123" name="Diamond 122">
            <a:extLst>
              <a:ext uri="{FF2B5EF4-FFF2-40B4-BE49-F238E27FC236}">
                <a16:creationId xmlns:a16="http://schemas.microsoft.com/office/drawing/2014/main" id="{212FC306-943C-6BB9-D890-E78A5F155754}"/>
              </a:ext>
            </a:extLst>
          </p:cNvPr>
          <p:cNvSpPr/>
          <p:nvPr/>
        </p:nvSpPr>
        <p:spPr>
          <a:xfrm>
            <a:off x="2967551" y="3257346"/>
            <a:ext cx="144000" cy="144000"/>
          </a:xfrm>
          <a:prstGeom prst="diamond">
            <a:avLst/>
          </a:prstGeom>
          <a:solidFill>
            <a:srgbClr val="40749B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B4917354-E5F4-7563-0CE8-17D676C46C3F}"/>
              </a:ext>
            </a:extLst>
          </p:cNvPr>
          <p:cNvSpPr/>
          <p:nvPr/>
        </p:nvSpPr>
        <p:spPr>
          <a:xfrm>
            <a:off x="1206325" y="1917638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46A25325-BBDF-98BB-5B8A-537E095531C9}"/>
              </a:ext>
            </a:extLst>
          </p:cNvPr>
          <p:cNvSpPr/>
          <p:nvPr/>
        </p:nvSpPr>
        <p:spPr>
          <a:xfrm>
            <a:off x="1661942" y="1910733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4D896C97-EF85-A587-5CF5-40C9BA5D559E}"/>
              </a:ext>
            </a:extLst>
          </p:cNvPr>
          <p:cNvSpPr/>
          <p:nvPr/>
        </p:nvSpPr>
        <p:spPr>
          <a:xfrm>
            <a:off x="2537725" y="1914506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F648F1B7-3C0C-5BD2-F3AC-DEF1D7258553}"/>
              </a:ext>
            </a:extLst>
          </p:cNvPr>
          <p:cNvSpPr/>
          <p:nvPr/>
        </p:nvSpPr>
        <p:spPr>
          <a:xfrm>
            <a:off x="3404280" y="1917400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F52A4C7D-BB1A-4F68-0DDD-926B85135555}"/>
              </a:ext>
            </a:extLst>
          </p:cNvPr>
          <p:cNvSpPr/>
          <p:nvPr/>
        </p:nvSpPr>
        <p:spPr>
          <a:xfrm>
            <a:off x="4301223" y="1912589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id="{F8211559-C5F2-1A34-58D3-C5C21F06A7A4}"/>
              </a:ext>
            </a:extLst>
          </p:cNvPr>
          <p:cNvSpPr/>
          <p:nvPr/>
        </p:nvSpPr>
        <p:spPr>
          <a:xfrm>
            <a:off x="4744202" y="1907418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51B68FF4-BAE8-303A-769C-BA93F54D8C50}"/>
              </a:ext>
            </a:extLst>
          </p:cNvPr>
          <p:cNvSpPr/>
          <p:nvPr/>
        </p:nvSpPr>
        <p:spPr>
          <a:xfrm>
            <a:off x="5187462" y="1911075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86E8D396-52BC-8B04-02F5-0E18A439C272}"/>
              </a:ext>
            </a:extLst>
          </p:cNvPr>
          <p:cNvSpPr/>
          <p:nvPr/>
        </p:nvSpPr>
        <p:spPr>
          <a:xfrm>
            <a:off x="6079621" y="1905937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39B269A7-E1AC-178C-07EB-AB1ACB6B94E8}"/>
              </a:ext>
            </a:extLst>
          </p:cNvPr>
          <p:cNvSpPr/>
          <p:nvPr/>
        </p:nvSpPr>
        <p:spPr>
          <a:xfrm>
            <a:off x="6514483" y="1907418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19" name="Diamond 18">
            <a:extLst>
              <a:ext uri="{FF2B5EF4-FFF2-40B4-BE49-F238E27FC236}">
                <a16:creationId xmlns:a16="http://schemas.microsoft.com/office/drawing/2014/main" id="{DF6F3F66-D0CE-1583-BD39-81B23CFB36AC}"/>
              </a:ext>
            </a:extLst>
          </p:cNvPr>
          <p:cNvSpPr/>
          <p:nvPr/>
        </p:nvSpPr>
        <p:spPr>
          <a:xfrm>
            <a:off x="6965860" y="1909730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20" name="Diamond 19">
            <a:extLst>
              <a:ext uri="{FF2B5EF4-FFF2-40B4-BE49-F238E27FC236}">
                <a16:creationId xmlns:a16="http://schemas.microsoft.com/office/drawing/2014/main" id="{45F7B9A7-8773-C2DC-045F-DDCF0D729369}"/>
              </a:ext>
            </a:extLst>
          </p:cNvPr>
          <p:cNvSpPr/>
          <p:nvPr/>
        </p:nvSpPr>
        <p:spPr>
          <a:xfrm>
            <a:off x="7840132" y="1912589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21" name="Diamond 20">
            <a:extLst>
              <a:ext uri="{FF2B5EF4-FFF2-40B4-BE49-F238E27FC236}">
                <a16:creationId xmlns:a16="http://schemas.microsoft.com/office/drawing/2014/main" id="{7ADAF647-0B08-271C-6C89-F429FA53C8D9}"/>
              </a:ext>
            </a:extLst>
          </p:cNvPr>
          <p:cNvSpPr/>
          <p:nvPr/>
        </p:nvSpPr>
        <p:spPr>
          <a:xfrm>
            <a:off x="8283189" y="1906303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23" name="Diamond 22">
            <a:extLst>
              <a:ext uri="{FF2B5EF4-FFF2-40B4-BE49-F238E27FC236}">
                <a16:creationId xmlns:a16="http://schemas.microsoft.com/office/drawing/2014/main" id="{4E2AEE87-09EC-2BB3-0FAB-FC52571EAD5A}"/>
              </a:ext>
            </a:extLst>
          </p:cNvPr>
          <p:cNvSpPr/>
          <p:nvPr/>
        </p:nvSpPr>
        <p:spPr>
          <a:xfrm>
            <a:off x="8710120" y="1910242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24" name="Diamond 23">
            <a:extLst>
              <a:ext uri="{FF2B5EF4-FFF2-40B4-BE49-F238E27FC236}">
                <a16:creationId xmlns:a16="http://schemas.microsoft.com/office/drawing/2014/main" id="{8E95A116-7777-7BF5-86A0-07605E4E5F42}"/>
              </a:ext>
            </a:extLst>
          </p:cNvPr>
          <p:cNvSpPr/>
          <p:nvPr/>
        </p:nvSpPr>
        <p:spPr>
          <a:xfrm>
            <a:off x="9593634" y="1912589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25" name="Diamond 24">
            <a:extLst>
              <a:ext uri="{FF2B5EF4-FFF2-40B4-BE49-F238E27FC236}">
                <a16:creationId xmlns:a16="http://schemas.microsoft.com/office/drawing/2014/main" id="{DB7B5EF4-2D51-6A8D-0A86-C1684F16C212}"/>
              </a:ext>
            </a:extLst>
          </p:cNvPr>
          <p:cNvSpPr/>
          <p:nvPr/>
        </p:nvSpPr>
        <p:spPr>
          <a:xfrm>
            <a:off x="10477148" y="1907521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29" name="Diamond 28">
            <a:extLst>
              <a:ext uri="{FF2B5EF4-FFF2-40B4-BE49-F238E27FC236}">
                <a16:creationId xmlns:a16="http://schemas.microsoft.com/office/drawing/2014/main" id="{F77E08FF-B882-0D19-43A5-5DDB9DE4E4FD}"/>
              </a:ext>
            </a:extLst>
          </p:cNvPr>
          <p:cNvSpPr/>
          <p:nvPr/>
        </p:nvSpPr>
        <p:spPr>
          <a:xfrm>
            <a:off x="10928712" y="1909627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31" name="Diamond 30">
            <a:extLst>
              <a:ext uri="{FF2B5EF4-FFF2-40B4-BE49-F238E27FC236}">
                <a16:creationId xmlns:a16="http://schemas.microsoft.com/office/drawing/2014/main" id="{A0F22143-F904-9810-A7C8-829136AA8EEF}"/>
              </a:ext>
            </a:extLst>
          </p:cNvPr>
          <p:cNvSpPr/>
          <p:nvPr/>
        </p:nvSpPr>
        <p:spPr>
          <a:xfrm>
            <a:off x="11786375" y="1912589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7E9B7C0-C7BD-CD24-B459-987626D9935A}"/>
              </a:ext>
            </a:extLst>
          </p:cNvPr>
          <p:cNvGrpSpPr/>
          <p:nvPr/>
        </p:nvGrpSpPr>
        <p:grpSpPr>
          <a:xfrm>
            <a:off x="4075417" y="6435775"/>
            <a:ext cx="5530019" cy="216000"/>
            <a:chOff x="4075417" y="6435775"/>
            <a:chExt cx="5530019" cy="21600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204A81D-06F2-6A33-AF33-0F2786D5505C}"/>
                </a:ext>
              </a:extLst>
            </p:cNvPr>
            <p:cNvSpPr/>
            <p:nvPr/>
          </p:nvSpPr>
          <p:spPr>
            <a:xfrm>
              <a:off x="4075417" y="6480815"/>
              <a:ext cx="668785" cy="11855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900" b="1">
                  <a:solidFill>
                    <a:schemeClr val="tx1"/>
                  </a:solidFill>
                </a:rPr>
                <a:t>Legenda :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722E5DE-69F7-66EC-7FAA-B8416E1DA5BA}"/>
                </a:ext>
              </a:extLst>
            </p:cNvPr>
            <p:cNvSpPr/>
            <p:nvPr/>
          </p:nvSpPr>
          <p:spPr>
            <a:xfrm>
              <a:off x="4808325" y="6480815"/>
              <a:ext cx="1825792" cy="1259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900" i="1">
                  <a:solidFill>
                    <a:schemeClr val="tx1"/>
                  </a:solidFill>
                </a:rPr>
                <a:t>SteerCo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B48DF80-A5CD-D8F1-F318-AB7329613683}"/>
                </a:ext>
              </a:extLst>
            </p:cNvPr>
            <p:cNvSpPr/>
            <p:nvPr/>
          </p:nvSpPr>
          <p:spPr>
            <a:xfrm>
              <a:off x="5455759" y="6480815"/>
              <a:ext cx="1610113" cy="1259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900" i="1">
                  <a:solidFill>
                    <a:schemeClr val="tx1"/>
                  </a:solidFill>
                </a:rPr>
                <a:t>Milestones</a:t>
              </a:r>
            </a:p>
          </p:txBody>
        </p:sp>
        <p:sp>
          <p:nvSpPr>
            <p:cNvPr id="39" name="Diamond 38">
              <a:extLst>
                <a:ext uri="{FF2B5EF4-FFF2-40B4-BE49-F238E27FC236}">
                  <a16:creationId xmlns:a16="http://schemas.microsoft.com/office/drawing/2014/main" id="{6973F1EE-358A-9D6C-126D-7C5AAA87CE65}"/>
                </a:ext>
              </a:extLst>
            </p:cNvPr>
            <p:cNvSpPr/>
            <p:nvPr/>
          </p:nvSpPr>
          <p:spPr>
            <a:xfrm>
              <a:off x="4671184" y="6435775"/>
              <a:ext cx="216000" cy="216000"/>
            </a:xfrm>
            <a:prstGeom prst="diamond">
              <a:avLst/>
            </a:prstGeom>
            <a:solidFill>
              <a:schemeClr val="accent2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PT" sz="700">
                <a:solidFill>
                  <a:srgbClr val="575756"/>
                </a:solidFill>
              </a:endParaRPr>
            </a:p>
          </p:txBody>
        </p:sp>
        <p:sp>
          <p:nvSpPr>
            <p:cNvPr id="40" name="Diamond 39">
              <a:extLst>
                <a:ext uri="{FF2B5EF4-FFF2-40B4-BE49-F238E27FC236}">
                  <a16:creationId xmlns:a16="http://schemas.microsoft.com/office/drawing/2014/main" id="{A8628FA0-2202-32A3-4414-6165DD42750F}"/>
                </a:ext>
              </a:extLst>
            </p:cNvPr>
            <p:cNvSpPr/>
            <p:nvPr/>
          </p:nvSpPr>
          <p:spPr>
            <a:xfrm>
              <a:off x="5287867" y="6435775"/>
              <a:ext cx="216000" cy="216000"/>
            </a:xfrm>
            <a:prstGeom prst="diamond">
              <a:avLst/>
            </a:prstGeom>
            <a:solidFill>
              <a:srgbClr val="40749B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PT" sz="700">
                <a:solidFill>
                  <a:srgbClr val="575756"/>
                </a:solidFill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C003ABC0-232D-E45B-DE6D-62237FD79BBB}"/>
                </a:ext>
              </a:extLst>
            </p:cNvPr>
            <p:cNvGrpSpPr/>
            <p:nvPr/>
          </p:nvGrpSpPr>
          <p:grpSpPr>
            <a:xfrm>
              <a:off x="7843076" y="6453775"/>
              <a:ext cx="1762360" cy="180000"/>
              <a:chOff x="6194899" y="6455685"/>
              <a:chExt cx="1762360" cy="180000"/>
            </a:xfrm>
          </p:grpSpPr>
          <p:sp>
            <p:nvSpPr>
              <p:cNvPr id="44" name="Star: 5 Points 43">
                <a:extLst>
                  <a:ext uri="{FF2B5EF4-FFF2-40B4-BE49-F238E27FC236}">
                    <a16:creationId xmlns:a16="http://schemas.microsoft.com/office/drawing/2014/main" id="{113DE1B7-BB33-4C53-EAE9-98220EB67E13}"/>
                  </a:ext>
                </a:extLst>
              </p:cNvPr>
              <p:cNvSpPr/>
              <p:nvPr/>
            </p:nvSpPr>
            <p:spPr>
              <a:xfrm>
                <a:off x="6194899" y="6455685"/>
                <a:ext cx="180000" cy="180000"/>
              </a:xfrm>
              <a:prstGeom prst="star5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C46FDE28-1257-9230-ECEC-92EA4DA2FDF6}"/>
                  </a:ext>
                </a:extLst>
              </p:cNvPr>
              <p:cNvSpPr/>
              <p:nvPr/>
            </p:nvSpPr>
            <p:spPr>
              <a:xfrm>
                <a:off x="6347146" y="6482725"/>
                <a:ext cx="1610113" cy="1259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PT" sz="900">
                    <a:solidFill>
                      <a:schemeClr val="tx1"/>
                    </a:solidFill>
                  </a:rPr>
                  <a:t>Participação da EDM</a:t>
                </a:r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D611B86-F312-76FC-7C29-DC2C016578A1}"/>
                </a:ext>
              </a:extLst>
            </p:cNvPr>
            <p:cNvSpPr/>
            <p:nvPr/>
          </p:nvSpPr>
          <p:spPr>
            <a:xfrm>
              <a:off x="6260504" y="6480815"/>
              <a:ext cx="2193398" cy="11855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>
                  <a:solidFill>
                    <a:schemeClr val="tx1"/>
                  </a:solidFill>
                </a:rPr>
                <a:t>Reunião de </a:t>
              </a:r>
              <a:r>
                <a:rPr lang="en-GB" sz="900" i="1">
                  <a:solidFill>
                    <a:schemeClr val="tx1"/>
                  </a:solidFill>
                </a:rPr>
                <a:t>Status</a:t>
              </a:r>
              <a:r>
                <a:rPr lang="en-GB" sz="900">
                  <a:solidFill>
                    <a:schemeClr val="tx1"/>
                  </a:solidFill>
                </a:rPr>
                <a:t> do </a:t>
              </a:r>
              <a:r>
                <a:rPr lang="pt-PT" sz="900">
                  <a:solidFill>
                    <a:schemeClr val="tx1"/>
                  </a:solidFill>
                </a:rPr>
                <a:t>Projeto</a:t>
              </a:r>
              <a:endParaRPr lang="en-GB" sz="900">
                <a:solidFill>
                  <a:schemeClr val="tx1"/>
                </a:solidFill>
              </a:endParaRPr>
            </a:p>
          </p:txBody>
        </p:sp>
        <p:sp>
          <p:nvSpPr>
            <p:cNvPr id="43" name="Diamond 42">
              <a:extLst>
                <a:ext uri="{FF2B5EF4-FFF2-40B4-BE49-F238E27FC236}">
                  <a16:creationId xmlns:a16="http://schemas.microsoft.com/office/drawing/2014/main" id="{6C784CBA-743E-F885-0384-28081E0BC09A}"/>
                </a:ext>
              </a:extLst>
            </p:cNvPr>
            <p:cNvSpPr/>
            <p:nvPr/>
          </p:nvSpPr>
          <p:spPr>
            <a:xfrm>
              <a:off x="6092612" y="6435775"/>
              <a:ext cx="216000" cy="216000"/>
            </a:xfrm>
            <a:prstGeom prst="diamond">
              <a:avLst/>
            </a:prstGeom>
            <a:solidFill>
              <a:schemeClr val="accent6">
                <a:lumMod val="75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PT" sz="700">
                <a:solidFill>
                  <a:srgbClr val="575756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9976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17679EF-5DE1-49A3-A136-13A798ED40C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17679EF-5DE1-49A3-A136-13A798ED40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5">
            <a:extLst>
              <a:ext uri="{FF2B5EF4-FFF2-40B4-BE49-F238E27FC236}">
                <a16:creationId xmlns:a16="http://schemas.microsoft.com/office/drawing/2014/main" id="{C6DF79F9-E963-44DE-83EF-A2821E7BA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23" y="349517"/>
            <a:ext cx="10698480" cy="420189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pt-PT" sz="2800" b="1">
                <a:ea typeface="Verdana"/>
              </a:rPr>
              <a:t>Replaneamento da Fase 1 &amp; 2 | </a:t>
            </a:r>
            <a:r>
              <a:rPr lang="pt-PT" sz="2800">
                <a:ea typeface="Verdana"/>
              </a:rPr>
              <a:t>Plano de 6 semanas (1/4)</a:t>
            </a:r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131F0449-6E34-41A1-B16C-81401C10C2A5}"/>
              </a:ext>
            </a:extLst>
          </p:cNvPr>
          <p:cNvSpPr txBox="1">
            <a:spLocks/>
          </p:cNvSpPr>
          <p:nvPr/>
        </p:nvSpPr>
        <p:spPr>
          <a:xfrm>
            <a:off x="461822" y="769707"/>
            <a:ext cx="11426585" cy="7714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600">
                <a:ea typeface="Verdana"/>
              </a:rPr>
              <a:t>Abaixo o plano detalhado para as primeiras 6 semanas, com foco na conclusão do </a:t>
            </a:r>
            <a:r>
              <a:rPr lang="pt-PT" sz="1600" i="1">
                <a:ea typeface="Verdana"/>
              </a:rPr>
              <a:t>embedment</a:t>
            </a:r>
            <a:r>
              <a:rPr lang="pt-PT" sz="1600">
                <a:ea typeface="Verdana"/>
              </a:rPr>
              <a:t> do planeamento de procurement, com data de término prevista para o dia 9 de Agosto, seguido por uma paragem do projeto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5864AC-D71B-1EF5-E415-92F3A668D2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611631"/>
              </p:ext>
            </p:extLst>
          </p:nvPr>
        </p:nvGraphicFramePr>
        <p:xfrm>
          <a:off x="303593" y="1346919"/>
          <a:ext cx="11584759" cy="4991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192">
                  <a:extLst>
                    <a:ext uri="{9D8B030D-6E8A-4147-A177-3AD203B41FA5}">
                      <a16:colId xmlns:a16="http://schemas.microsoft.com/office/drawing/2014/main" val="620005219"/>
                    </a:ext>
                  </a:extLst>
                </a:gridCol>
                <a:gridCol w="2083547">
                  <a:extLst>
                    <a:ext uri="{9D8B030D-6E8A-4147-A177-3AD203B41FA5}">
                      <a16:colId xmlns:a16="http://schemas.microsoft.com/office/drawing/2014/main" val="3619358262"/>
                    </a:ext>
                  </a:extLst>
                </a:gridCol>
                <a:gridCol w="1866004">
                  <a:extLst>
                    <a:ext uri="{9D8B030D-6E8A-4147-A177-3AD203B41FA5}">
                      <a16:colId xmlns:a16="http://schemas.microsoft.com/office/drawing/2014/main" val="2619770351"/>
                    </a:ext>
                  </a:extLst>
                </a:gridCol>
                <a:gridCol w="1866004">
                  <a:extLst>
                    <a:ext uri="{9D8B030D-6E8A-4147-A177-3AD203B41FA5}">
                      <a16:colId xmlns:a16="http://schemas.microsoft.com/office/drawing/2014/main" val="3166678203"/>
                    </a:ext>
                  </a:extLst>
                </a:gridCol>
                <a:gridCol w="1866004">
                  <a:extLst>
                    <a:ext uri="{9D8B030D-6E8A-4147-A177-3AD203B41FA5}">
                      <a16:colId xmlns:a16="http://schemas.microsoft.com/office/drawing/2014/main" val="2313141890"/>
                    </a:ext>
                  </a:extLst>
                </a:gridCol>
                <a:gridCol w="1866004">
                  <a:extLst>
                    <a:ext uri="{9D8B030D-6E8A-4147-A177-3AD203B41FA5}">
                      <a16:colId xmlns:a16="http://schemas.microsoft.com/office/drawing/2014/main" val="4165277009"/>
                    </a:ext>
                  </a:extLst>
                </a:gridCol>
                <a:gridCol w="1866004">
                  <a:extLst>
                    <a:ext uri="{9D8B030D-6E8A-4147-A177-3AD203B41FA5}">
                      <a16:colId xmlns:a16="http://schemas.microsoft.com/office/drawing/2014/main" val="3597230632"/>
                    </a:ext>
                  </a:extLst>
                </a:gridCol>
              </a:tblGrid>
              <a:tr h="336315"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noProof="0">
                          <a:latin typeface="+mn-lt"/>
                        </a:rPr>
                        <a:t>01/07</a:t>
                      </a:r>
                    </a:p>
                  </a:txBody>
                  <a:tcPr marL="36000" marR="36000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noProof="0">
                          <a:latin typeface="+mn-lt"/>
                        </a:rPr>
                        <a:t>08/07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noProof="0">
                          <a:latin typeface="+mn-lt"/>
                        </a:rPr>
                        <a:t>15/07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noProof="0">
                          <a:latin typeface="+mn-lt"/>
                        </a:rPr>
                        <a:t>22/07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noProof="0">
                          <a:latin typeface="+mn-lt"/>
                        </a:rPr>
                        <a:t>29/07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noProof="0">
                          <a:latin typeface="+mn-lt"/>
                        </a:rPr>
                        <a:t>05/08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843202"/>
                  </a:ext>
                </a:extLst>
              </a:tr>
              <a:tr h="892523">
                <a:tc rowSpan="2"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1" kern="1200" noProof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PMO</a:t>
                      </a:r>
                    </a:p>
                  </a:txBody>
                  <a:tcPr marL="72000" marR="72000" marT="72000" marB="72000" vert="vert27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058742"/>
                  </a:ext>
                </a:extLst>
              </a:tr>
              <a:tr h="307069">
                <a:tc vMerge="1"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1" kern="1200" noProof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Xxxxxx</a:t>
                      </a:r>
                      <a:endParaRPr lang="en-GB" sz="800" b="1" kern="1200" noProof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72000" marB="72000" vert="vert27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383101"/>
                  </a:ext>
                </a:extLst>
              </a:tr>
              <a:tr h="1908000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Planeamento</a:t>
                      </a:r>
                      <a:r>
                        <a:rPr kumimoji="0" lang="en-GB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de Procurement </a:t>
                      </a:r>
                    </a:p>
                  </a:txBody>
                  <a:tcPr marL="72000" marR="72000" marT="36000" marB="36000" vert="vert27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833319"/>
                  </a:ext>
                </a:extLst>
              </a:tr>
              <a:tr h="1548000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Procurement Operacional</a:t>
                      </a:r>
                    </a:p>
                  </a:txBody>
                  <a:tcPr marL="72000" marR="72000" marT="36000" marB="36000" vert="vert27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4570332"/>
                  </a:ext>
                </a:extLst>
              </a:tr>
            </a:tbl>
          </a:graphicData>
        </a:graphic>
      </p:graphicFrame>
      <p:sp>
        <p:nvSpPr>
          <p:cNvPr id="117" name="Arrow: Pentagon 116">
            <a:extLst>
              <a:ext uri="{FF2B5EF4-FFF2-40B4-BE49-F238E27FC236}">
                <a16:creationId xmlns:a16="http://schemas.microsoft.com/office/drawing/2014/main" id="{B91713DA-0A99-37CA-A385-A5113E79A805}"/>
              </a:ext>
            </a:extLst>
          </p:cNvPr>
          <p:cNvSpPr/>
          <p:nvPr/>
        </p:nvSpPr>
        <p:spPr>
          <a:xfrm>
            <a:off x="2566645" y="2953542"/>
            <a:ext cx="5588459" cy="185841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700" b="1" i="1">
                <a:solidFill>
                  <a:schemeClr val="bg1"/>
                </a:solidFill>
              </a:rPr>
              <a:t>Squad</a:t>
            </a:r>
            <a:r>
              <a:rPr lang="pt-PT" sz="700" b="1">
                <a:solidFill>
                  <a:schemeClr val="bg1"/>
                </a:solidFill>
              </a:rPr>
              <a:t> 1 Desenho</a:t>
            </a:r>
          </a:p>
        </p:txBody>
      </p:sp>
      <p:sp>
        <p:nvSpPr>
          <p:cNvPr id="196" name="Arrow: Pentagon 195">
            <a:extLst>
              <a:ext uri="{FF2B5EF4-FFF2-40B4-BE49-F238E27FC236}">
                <a16:creationId xmlns:a16="http://schemas.microsoft.com/office/drawing/2014/main" id="{A5EDC35B-39E3-DEB2-E1B1-7036E24F7DE5}"/>
              </a:ext>
            </a:extLst>
          </p:cNvPr>
          <p:cNvSpPr/>
          <p:nvPr/>
        </p:nvSpPr>
        <p:spPr>
          <a:xfrm>
            <a:off x="2572570" y="4870206"/>
            <a:ext cx="9304649" cy="1872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700" b="1">
                <a:solidFill>
                  <a:schemeClr val="bg1"/>
                </a:solidFill>
              </a:rPr>
              <a:t>Squad 2 Design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219002EA-F86A-AF55-F4AC-7F1CB5943EF9}"/>
              </a:ext>
            </a:extLst>
          </p:cNvPr>
          <p:cNvSpPr/>
          <p:nvPr/>
        </p:nvSpPr>
        <p:spPr>
          <a:xfrm>
            <a:off x="2129427" y="5235627"/>
            <a:ext cx="433655" cy="134517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700" i="1">
                <a:solidFill>
                  <a:srgbClr val="34342B"/>
                </a:solidFill>
              </a:rPr>
              <a:t>Emissão de Requisição de Compra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B687C93-BD3A-570A-BCF4-6118E61F87FF}"/>
              </a:ext>
            </a:extLst>
          </p:cNvPr>
          <p:cNvGrpSpPr/>
          <p:nvPr/>
        </p:nvGrpSpPr>
        <p:grpSpPr>
          <a:xfrm>
            <a:off x="515036" y="1167018"/>
            <a:ext cx="9393895" cy="130770"/>
            <a:chOff x="515036" y="1167018"/>
            <a:chExt cx="9393895" cy="130770"/>
          </a:xfrm>
        </p:grpSpPr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5D8A01A5-C366-D5D4-8822-D70A403A913A}"/>
                </a:ext>
              </a:extLst>
            </p:cNvPr>
            <p:cNvCxnSpPr>
              <a:cxnSpLocks/>
            </p:cNvCxnSpPr>
            <p:nvPr/>
          </p:nvCxnSpPr>
          <p:spPr>
            <a:xfrm>
              <a:off x="515036" y="1232403"/>
              <a:ext cx="9393895" cy="0"/>
            </a:xfrm>
            <a:prstGeom prst="line">
              <a:avLst/>
            </a:prstGeom>
            <a:ln w="19050">
              <a:solidFill>
                <a:schemeClr val="accent5">
                  <a:lumMod val="50000"/>
                </a:schemeClr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47D68440-66D6-A1B8-17C4-92566C06D2E6}"/>
                </a:ext>
              </a:extLst>
            </p:cNvPr>
            <p:cNvSpPr/>
            <p:nvPr/>
          </p:nvSpPr>
          <p:spPr>
            <a:xfrm>
              <a:off x="4859211" y="1167018"/>
              <a:ext cx="705545" cy="1307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1" i="1" u="none" strike="noStrike" kern="1200" cap="none" spc="0" normalizeH="0" baseline="0">
                  <a:ln>
                    <a:noFill/>
                  </a:ln>
                  <a:solidFill>
                    <a:srgbClr val="4A4D4E"/>
                  </a:solidFill>
                  <a:effectLst/>
                  <a:uLnTx/>
                  <a:uFillTx/>
                  <a:ea typeface="+mn-ea"/>
                  <a:cs typeface="+mn-cs"/>
                </a:rPr>
                <a:t>Julho</a:t>
              </a:r>
            </a:p>
          </p:txBody>
        </p:sp>
      </p:grp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1855D8A7-8CCD-81CB-370D-8BFE7DB882C0}"/>
              </a:ext>
            </a:extLst>
          </p:cNvPr>
          <p:cNvCxnSpPr>
            <a:cxnSpLocks/>
          </p:cNvCxnSpPr>
          <p:nvPr/>
        </p:nvCxnSpPr>
        <p:spPr>
          <a:xfrm>
            <a:off x="10020112" y="1232403"/>
            <a:ext cx="1820454" cy="0"/>
          </a:xfrm>
          <a:prstGeom prst="line">
            <a:avLst/>
          </a:prstGeom>
          <a:ln w="19050">
            <a:solidFill>
              <a:schemeClr val="accent5">
                <a:lumMod val="5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FA782D-69E4-D3C9-A80C-9F635474BC85}"/>
              </a:ext>
            </a:extLst>
          </p:cNvPr>
          <p:cNvSpPr/>
          <p:nvPr/>
        </p:nvSpPr>
        <p:spPr>
          <a:xfrm>
            <a:off x="10445299" y="1167018"/>
            <a:ext cx="970081" cy="1307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1" u="none" strike="noStrike" kern="1200" cap="none" spc="0" normalizeH="0" baseline="0">
                <a:ln>
                  <a:noFill/>
                </a:ln>
                <a:solidFill>
                  <a:srgbClr val="4A4D4E"/>
                </a:solidFill>
                <a:effectLst/>
                <a:uLnTx/>
                <a:uFillTx/>
                <a:ea typeface="+mn-ea"/>
                <a:cs typeface="+mn-cs"/>
              </a:rPr>
              <a:t>Agosto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D7798FF-FCE9-3F9D-15A8-3A86F0176982}"/>
              </a:ext>
            </a:extLst>
          </p:cNvPr>
          <p:cNvGrpSpPr/>
          <p:nvPr/>
        </p:nvGrpSpPr>
        <p:grpSpPr>
          <a:xfrm>
            <a:off x="8171882" y="2952183"/>
            <a:ext cx="3784721" cy="187200"/>
            <a:chOff x="8171882" y="3234893"/>
            <a:chExt cx="3784721" cy="187200"/>
          </a:xfrm>
        </p:grpSpPr>
        <p:sp>
          <p:nvSpPr>
            <p:cNvPr id="118" name="Arrow: Pentagon 117">
              <a:extLst>
                <a:ext uri="{FF2B5EF4-FFF2-40B4-BE49-F238E27FC236}">
                  <a16:creationId xmlns:a16="http://schemas.microsoft.com/office/drawing/2014/main" id="{D7E95B5D-34B0-3458-41D3-F51617BAF786}"/>
                </a:ext>
              </a:extLst>
            </p:cNvPr>
            <p:cNvSpPr/>
            <p:nvPr/>
          </p:nvSpPr>
          <p:spPr>
            <a:xfrm>
              <a:off x="8171882" y="3234893"/>
              <a:ext cx="3720487" cy="187200"/>
            </a:xfrm>
            <a:prstGeom prst="homePlate">
              <a:avLst/>
            </a:prstGeom>
            <a:solidFill>
              <a:schemeClr val="bg2">
                <a:lumMod val="75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PT" sz="700" b="1" i="1">
                  <a:solidFill>
                    <a:schemeClr val="bg1"/>
                  </a:solidFill>
                </a:rPr>
                <a:t>Squad</a:t>
              </a:r>
              <a:r>
                <a:rPr lang="pt-PT" sz="700" b="1">
                  <a:solidFill>
                    <a:schemeClr val="bg1"/>
                  </a:solidFill>
                </a:rPr>
                <a:t> 1 </a:t>
              </a:r>
              <a:r>
                <a:rPr lang="pt-PT" sz="700" b="1" i="1">
                  <a:solidFill>
                    <a:schemeClr val="bg1"/>
                  </a:solidFill>
                </a:rPr>
                <a:t>Embed</a:t>
              </a:r>
            </a:p>
          </p:txBody>
        </p:sp>
        <p:sp>
          <p:nvSpPr>
            <p:cNvPr id="123" name="Diamond 122">
              <a:extLst>
                <a:ext uri="{FF2B5EF4-FFF2-40B4-BE49-F238E27FC236}">
                  <a16:creationId xmlns:a16="http://schemas.microsoft.com/office/drawing/2014/main" id="{212FC306-943C-6BB9-D890-E78A5F155754}"/>
                </a:ext>
              </a:extLst>
            </p:cNvPr>
            <p:cNvSpPr/>
            <p:nvPr/>
          </p:nvSpPr>
          <p:spPr>
            <a:xfrm>
              <a:off x="11812603" y="3257346"/>
              <a:ext cx="144000" cy="144000"/>
            </a:xfrm>
            <a:prstGeom prst="diamond">
              <a:avLst/>
            </a:prstGeom>
            <a:solidFill>
              <a:srgbClr val="40749B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PT" sz="700">
                <a:solidFill>
                  <a:srgbClr val="575756"/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CAED0E5-DD06-B4A0-C935-5940AFDC3303}"/>
              </a:ext>
            </a:extLst>
          </p:cNvPr>
          <p:cNvGrpSpPr/>
          <p:nvPr/>
        </p:nvGrpSpPr>
        <p:grpSpPr>
          <a:xfrm>
            <a:off x="2932193" y="1680988"/>
            <a:ext cx="1118805" cy="4685878"/>
            <a:chOff x="2932193" y="1742532"/>
            <a:chExt cx="1118805" cy="4685878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C8B71DE-9432-52DC-DD93-17EE950698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32193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5748BD1-5AEF-8D6E-6D3B-6E3D7A7816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05128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2862FD3-93A6-7125-C4F8-966074F2C9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78063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2BEFE66-E58A-9F9C-3F21-3A2138B85F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0998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72F6CA4-A58A-2D63-A684-4A01F5B0D8EC}"/>
              </a:ext>
            </a:extLst>
          </p:cNvPr>
          <p:cNvGrpSpPr/>
          <p:nvPr/>
        </p:nvGrpSpPr>
        <p:grpSpPr>
          <a:xfrm>
            <a:off x="6663089" y="1680988"/>
            <a:ext cx="1118805" cy="4685878"/>
            <a:chOff x="2932193" y="1742532"/>
            <a:chExt cx="1118805" cy="4685878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350B4DF-BCB5-DC12-2281-F54F970172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32193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FF5732F-ECC8-0571-F6F5-CAE73C6C74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05128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A95D9D8-30FC-9CBC-0898-B822134CDD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78063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CCDBB22-F4ED-95AA-00AE-87AD37FA35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0998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C9F7BF2-1A5D-7315-B428-4DDCDE81D3CB}"/>
              </a:ext>
            </a:extLst>
          </p:cNvPr>
          <p:cNvGrpSpPr/>
          <p:nvPr/>
        </p:nvGrpSpPr>
        <p:grpSpPr>
          <a:xfrm>
            <a:off x="8528537" y="1680988"/>
            <a:ext cx="1118805" cy="4685878"/>
            <a:chOff x="2932193" y="1742532"/>
            <a:chExt cx="1118805" cy="4685878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A05878B-95B2-5981-6C29-2D516E093E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32193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7D805FF-1D5C-7033-F377-F23DF1F7CF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05128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4333B33-35B4-D05B-489B-BA058BE8FE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78063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0D4A914-F2E1-1DBE-396B-2D4FF2451A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0998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BD3C5BB-E190-6AEB-794C-127194B93732}"/>
              </a:ext>
            </a:extLst>
          </p:cNvPr>
          <p:cNvGrpSpPr/>
          <p:nvPr/>
        </p:nvGrpSpPr>
        <p:grpSpPr>
          <a:xfrm>
            <a:off x="10393984" y="1680988"/>
            <a:ext cx="1118805" cy="4685878"/>
            <a:chOff x="2932193" y="1742532"/>
            <a:chExt cx="1118805" cy="4685878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44CDC74-DDFF-F516-EEA6-A88EF72DEB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32193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A0C49A9-1B81-AF5B-B1D8-45D5089EDE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05128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7BD14EB8-FEDE-4EBF-9646-2F9A62D1D7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78063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9750A70-FB6F-6D06-5B67-46C16DD6C0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0998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F99DD06-6F2F-8574-6954-91EA577EA824}"/>
              </a:ext>
            </a:extLst>
          </p:cNvPr>
          <p:cNvGrpSpPr/>
          <p:nvPr/>
        </p:nvGrpSpPr>
        <p:grpSpPr>
          <a:xfrm>
            <a:off x="952693" y="1680988"/>
            <a:ext cx="1118805" cy="4685878"/>
            <a:chOff x="2932193" y="1742532"/>
            <a:chExt cx="1118805" cy="4685878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9BA0B20-2E5D-DBEE-9695-33F8A5B78B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32193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1C2E07E-35E5-E5FD-208A-BBC2B8CB76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05128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57746E19-8E38-5787-60C0-6D0BEBE98A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78063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5422DCF0-CAF8-33E5-1174-34ABC8F4EC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0998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" name="Arrow: Pentagon 71">
            <a:extLst>
              <a:ext uri="{FF2B5EF4-FFF2-40B4-BE49-F238E27FC236}">
                <a16:creationId xmlns:a16="http://schemas.microsoft.com/office/drawing/2014/main" id="{62663180-047E-0445-D30C-A1FEE451E08A}"/>
              </a:ext>
            </a:extLst>
          </p:cNvPr>
          <p:cNvSpPr/>
          <p:nvPr/>
        </p:nvSpPr>
        <p:spPr>
          <a:xfrm>
            <a:off x="2572570" y="3213010"/>
            <a:ext cx="735778" cy="1872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>
              <a:solidFill>
                <a:schemeClr val="bg1"/>
              </a:solidFill>
            </a:endParaRPr>
          </a:p>
        </p:txBody>
      </p:sp>
      <p:sp>
        <p:nvSpPr>
          <p:cNvPr id="73" name="Arrow: Pentagon 72">
            <a:extLst>
              <a:ext uri="{FF2B5EF4-FFF2-40B4-BE49-F238E27FC236}">
                <a16:creationId xmlns:a16="http://schemas.microsoft.com/office/drawing/2014/main" id="{C9A4CC8B-1F5F-762E-5ACD-D2BDD650C336}"/>
              </a:ext>
            </a:extLst>
          </p:cNvPr>
          <p:cNvSpPr/>
          <p:nvPr/>
        </p:nvSpPr>
        <p:spPr>
          <a:xfrm>
            <a:off x="3317538" y="3472949"/>
            <a:ext cx="735778" cy="1872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>
              <a:solidFill>
                <a:schemeClr val="bg1"/>
              </a:solidFill>
            </a:endParaRPr>
          </a:p>
        </p:txBody>
      </p:sp>
      <p:sp>
        <p:nvSpPr>
          <p:cNvPr id="74" name="Arrow: Pentagon 73">
            <a:extLst>
              <a:ext uri="{FF2B5EF4-FFF2-40B4-BE49-F238E27FC236}">
                <a16:creationId xmlns:a16="http://schemas.microsoft.com/office/drawing/2014/main" id="{8E3118A0-DE68-95CB-B3AC-D1B065A964C0}"/>
              </a:ext>
            </a:extLst>
          </p:cNvPr>
          <p:cNvSpPr/>
          <p:nvPr/>
        </p:nvSpPr>
        <p:spPr>
          <a:xfrm>
            <a:off x="4062506" y="3733815"/>
            <a:ext cx="735778" cy="1872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>
              <a:solidFill>
                <a:schemeClr val="bg1"/>
              </a:solidFill>
            </a:endParaRPr>
          </a:p>
        </p:txBody>
      </p:sp>
      <p:sp>
        <p:nvSpPr>
          <p:cNvPr id="75" name="Arrow: Pentagon 74">
            <a:extLst>
              <a:ext uri="{FF2B5EF4-FFF2-40B4-BE49-F238E27FC236}">
                <a16:creationId xmlns:a16="http://schemas.microsoft.com/office/drawing/2014/main" id="{42155F79-24DA-619B-3AE2-20F1FC234924}"/>
              </a:ext>
            </a:extLst>
          </p:cNvPr>
          <p:cNvSpPr/>
          <p:nvPr/>
        </p:nvSpPr>
        <p:spPr>
          <a:xfrm>
            <a:off x="4807474" y="3994681"/>
            <a:ext cx="735778" cy="1872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>
              <a:solidFill>
                <a:schemeClr val="bg1"/>
              </a:solidFill>
            </a:endParaRPr>
          </a:p>
        </p:txBody>
      </p:sp>
      <p:sp>
        <p:nvSpPr>
          <p:cNvPr id="76" name="Arrow: Pentagon 75">
            <a:extLst>
              <a:ext uri="{FF2B5EF4-FFF2-40B4-BE49-F238E27FC236}">
                <a16:creationId xmlns:a16="http://schemas.microsoft.com/office/drawing/2014/main" id="{B779F06A-2D18-D32D-089E-027961854937}"/>
              </a:ext>
            </a:extLst>
          </p:cNvPr>
          <p:cNvSpPr/>
          <p:nvPr/>
        </p:nvSpPr>
        <p:spPr>
          <a:xfrm>
            <a:off x="5552443" y="4255547"/>
            <a:ext cx="735778" cy="1872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>
              <a:solidFill>
                <a:schemeClr val="bg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D7F678A-2474-9D1C-965F-F28067654C55}"/>
              </a:ext>
            </a:extLst>
          </p:cNvPr>
          <p:cNvSpPr/>
          <p:nvPr/>
        </p:nvSpPr>
        <p:spPr>
          <a:xfrm>
            <a:off x="1897599" y="3245106"/>
            <a:ext cx="671869" cy="134517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700" i="1">
                <a:solidFill>
                  <a:srgbClr val="34342B"/>
                </a:solidFill>
              </a:rPr>
              <a:t>Recolha de Necessidades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3065D26-A2F2-96C4-2C62-82D2FDC7D0F5}"/>
              </a:ext>
            </a:extLst>
          </p:cNvPr>
          <p:cNvSpPr/>
          <p:nvPr/>
        </p:nvSpPr>
        <p:spPr>
          <a:xfrm>
            <a:off x="2160689" y="3486361"/>
            <a:ext cx="1127274" cy="160376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700" i="1">
                <a:solidFill>
                  <a:srgbClr val="34342B"/>
                </a:solidFill>
              </a:rPr>
              <a:t>Criação do Plano Preliminar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55B3D7C-A603-0600-1EA1-6E8188303A1F}"/>
              </a:ext>
            </a:extLst>
          </p:cNvPr>
          <p:cNvSpPr/>
          <p:nvPr/>
        </p:nvSpPr>
        <p:spPr>
          <a:xfrm>
            <a:off x="2917592" y="3749728"/>
            <a:ext cx="1127274" cy="160376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700" i="1">
                <a:solidFill>
                  <a:srgbClr val="34342B"/>
                </a:solidFill>
              </a:rPr>
              <a:t>Revisão do Plano Preliminar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FDAF204-3D36-D648-F651-680EC5AA137C}"/>
              </a:ext>
            </a:extLst>
          </p:cNvPr>
          <p:cNvSpPr/>
          <p:nvPr/>
        </p:nvSpPr>
        <p:spPr>
          <a:xfrm>
            <a:off x="3635808" y="4012764"/>
            <a:ext cx="1139940" cy="159246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700" i="1">
                <a:solidFill>
                  <a:srgbClr val="34342B"/>
                </a:solidFill>
              </a:rPr>
              <a:t>Aprovação do Plano Preliminar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1E513A5-6769-30C2-1B8D-1A6B798AAB2A}"/>
              </a:ext>
            </a:extLst>
          </p:cNvPr>
          <p:cNvSpPr/>
          <p:nvPr/>
        </p:nvSpPr>
        <p:spPr>
          <a:xfrm>
            <a:off x="4839612" y="4268958"/>
            <a:ext cx="670998" cy="181615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700" i="1">
                <a:solidFill>
                  <a:srgbClr val="34342B"/>
                </a:solidFill>
              </a:rPr>
              <a:t>Revisão Ad-Hoc</a:t>
            </a:r>
          </a:p>
        </p:txBody>
      </p:sp>
      <p:sp>
        <p:nvSpPr>
          <p:cNvPr id="82" name="Left Brace 81">
            <a:extLst>
              <a:ext uri="{FF2B5EF4-FFF2-40B4-BE49-F238E27FC236}">
                <a16:creationId xmlns:a16="http://schemas.microsoft.com/office/drawing/2014/main" id="{B2CB53BC-5646-EE37-B9F0-758F8DEFD6C7}"/>
              </a:ext>
            </a:extLst>
          </p:cNvPr>
          <p:cNvSpPr/>
          <p:nvPr/>
        </p:nvSpPr>
        <p:spPr>
          <a:xfrm>
            <a:off x="1706520" y="3212083"/>
            <a:ext cx="164703" cy="131272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13E8190-F19D-149E-8485-C793D7C5B8F6}"/>
              </a:ext>
            </a:extLst>
          </p:cNvPr>
          <p:cNvSpPr/>
          <p:nvPr/>
        </p:nvSpPr>
        <p:spPr>
          <a:xfrm>
            <a:off x="1001071" y="3679247"/>
            <a:ext cx="671869" cy="395232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900" b="1" i="1">
                <a:solidFill>
                  <a:srgbClr val="34342B"/>
                </a:solidFill>
              </a:rPr>
              <a:t>Desenho dos fluxos de actividades</a:t>
            </a:r>
            <a:endParaRPr kumimoji="0" lang="pt-PT" sz="900" b="1" i="1" u="none" strike="noStrike" kern="1200" cap="none" spc="0" normalizeH="0" baseline="0">
              <a:ln>
                <a:noFill/>
              </a:ln>
              <a:solidFill>
                <a:srgbClr val="34342B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4" name="Star: 5 Points 83">
            <a:extLst>
              <a:ext uri="{FF2B5EF4-FFF2-40B4-BE49-F238E27FC236}">
                <a16:creationId xmlns:a16="http://schemas.microsoft.com/office/drawing/2014/main" id="{57472EE4-37B0-FC2F-3A9F-A000A01FBC8E}"/>
              </a:ext>
            </a:extLst>
          </p:cNvPr>
          <p:cNvSpPr/>
          <p:nvPr/>
        </p:nvSpPr>
        <p:spPr>
          <a:xfrm>
            <a:off x="3242608" y="3242150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6" name="Star: 5 Points 85">
            <a:extLst>
              <a:ext uri="{FF2B5EF4-FFF2-40B4-BE49-F238E27FC236}">
                <a16:creationId xmlns:a16="http://schemas.microsoft.com/office/drawing/2014/main" id="{AA703F8C-9914-0ACF-9AFE-CC6CFDDA05B1}"/>
              </a:ext>
            </a:extLst>
          </p:cNvPr>
          <p:cNvSpPr/>
          <p:nvPr/>
        </p:nvSpPr>
        <p:spPr>
          <a:xfrm>
            <a:off x="5493241" y="4026968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7" name="Star: 5 Points 86">
            <a:extLst>
              <a:ext uri="{FF2B5EF4-FFF2-40B4-BE49-F238E27FC236}">
                <a16:creationId xmlns:a16="http://schemas.microsoft.com/office/drawing/2014/main" id="{0F0BAAC3-9C02-1340-C803-69AA59103B16}"/>
              </a:ext>
            </a:extLst>
          </p:cNvPr>
          <p:cNvSpPr/>
          <p:nvPr/>
        </p:nvSpPr>
        <p:spPr>
          <a:xfrm>
            <a:off x="4746958" y="3765362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8" name="Star: 5 Points 87">
            <a:extLst>
              <a:ext uri="{FF2B5EF4-FFF2-40B4-BE49-F238E27FC236}">
                <a16:creationId xmlns:a16="http://schemas.microsoft.com/office/drawing/2014/main" id="{A1DCD1C0-F125-7BF2-6B76-9C2FA0572B4E}"/>
              </a:ext>
            </a:extLst>
          </p:cNvPr>
          <p:cNvSpPr/>
          <p:nvPr/>
        </p:nvSpPr>
        <p:spPr>
          <a:xfrm>
            <a:off x="3999637" y="3503756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0" name="Diamond 89">
            <a:extLst>
              <a:ext uri="{FF2B5EF4-FFF2-40B4-BE49-F238E27FC236}">
                <a16:creationId xmlns:a16="http://schemas.microsoft.com/office/drawing/2014/main" id="{AAA310A2-19F0-A927-341D-C695E80858B6}"/>
              </a:ext>
            </a:extLst>
          </p:cNvPr>
          <p:cNvSpPr/>
          <p:nvPr/>
        </p:nvSpPr>
        <p:spPr>
          <a:xfrm>
            <a:off x="5843382" y="3495244"/>
            <a:ext cx="144000" cy="144000"/>
          </a:xfrm>
          <a:prstGeom prst="diamond">
            <a:avLst/>
          </a:prstGeom>
          <a:solidFill>
            <a:srgbClr val="40749B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C3A4C325-48CC-6EE8-88BD-750FDA48CF84}"/>
              </a:ext>
            </a:extLst>
          </p:cNvPr>
          <p:cNvGrpSpPr/>
          <p:nvPr/>
        </p:nvGrpSpPr>
        <p:grpSpPr>
          <a:xfrm>
            <a:off x="4373333" y="3234610"/>
            <a:ext cx="870135" cy="151133"/>
            <a:chOff x="4373333" y="3234610"/>
            <a:chExt cx="870135" cy="151133"/>
          </a:xfrm>
        </p:grpSpPr>
        <p:sp>
          <p:nvSpPr>
            <p:cNvPr id="89" name="Diamond 88">
              <a:extLst>
                <a:ext uri="{FF2B5EF4-FFF2-40B4-BE49-F238E27FC236}">
                  <a16:creationId xmlns:a16="http://schemas.microsoft.com/office/drawing/2014/main" id="{27B51AEE-37EC-23AA-A7A5-45E9600C5E47}"/>
                </a:ext>
              </a:extLst>
            </p:cNvPr>
            <p:cNvSpPr/>
            <p:nvPr/>
          </p:nvSpPr>
          <p:spPr>
            <a:xfrm>
              <a:off x="5099468" y="3234610"/>
              <a:ext cx="144000" cy="144000"/>
            </a:xfrm>
            <a:prstGeom prst="diamond">
              <a:avLst/>
            </a:prstGeom>
            <a:solidFill>
              <a:srgbClr val="40749B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PT" sz="700">
                <a:solidFill>
                  <a:srgbClr val="575756"/>
                </a:solidFill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29DDD8B5-9711-E5EB-48CF-F2ACF6B76CB9}"/>
                </a:ext>
              </a:extLst>
            </p:cNvPr>
            <p:cNvSpPr/>
            <p:nvPr/>
          </p:nvSpPr>
          <p:spPr>
            <a:xfrm>
              <a:off x="4373333" y="3251226"/>
              <a:ext cx="749583" cy="134517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marL="0" marR="0" lvl="0" indent="0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700" i="1">
                  <a:solidFill>
                    <a:srgbClr val="34342B"/>
                  </a:solidFill>
                </a:rPr>
                <a:t>Prazo de validação</a:t>
              </a:r>
              <a:endParaRPr kumimoji="0" lang="en-GB" sz="700" b="0" i="1" u="none" strike="noStrike" kern="1200" cap="none" spc="0" normalizeH="0" baseline="0" noProof="0">
                <a:ln>
                  <a:noFill/>
                </a:ln>
                <a:solidFill>
                  <a:srgbClr val="34342B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E0D6230-501F-CD44-5034-F9248066AEC8}"/>
              </a:ext>
            </a:extLst>
          </p:cNvPr>
          <p:cNvSpPr/>
          <p:nvPr/>
        </p:nvSpPr>
        <p:spPr>
          <a:xfrm>
            <a:off x="5113975" y="3510563"/>
            <a:ext cx="749583" cy="134517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700" i="1">
                <a:solidFill>
                  <a:srgbClr val="34342B"/>
                </a:solidFill>
              </a:rPr>
              <a:t>Prazo de validação</a:t>
            </a:r>
            <a:endParaRPr kumimoji="0" lang="en-GB" sz="700" b="0" i="1" u="none" strike="noStrike" kern="1200" cap="none" spc="0" normalizeH="0" baseline="0" noProof="0">
              <a:ln>
                <a:noFill/>
              </a:ln>
              <a:solidFill>
                <a:srgbClr val="34342B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BE6F1EA1-0B4C-952E-793B-2F8FE3B63ED3}"/>
              </a:ext>
            </a:extLst>
          </p:cNvPr>
          <p:cNvSpPr/>
          <p:nvPr/>
        </p:nvSpPr>
        <p:spPr>
          <a:xfrm>
            <a:off x="6325023" y="3217593"/>
            <a:ext cx="1051131" cy="1225153"/>
          </a:xfrm>
          <a:prstGeom prst="rect">
            <a:avLst/>
          </a:prstGeom>
          <a:solidFill>
            <a:srgbClr val="EABA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PT" sz="700" i="1">
                <a:solidFill>
                  <a:schemeClr val="bg1"/>
                </a:solidFill>
              </a:rPr>
              <a:t>Reestruturação dos Manuais de Planeamento de Compras</a:t>
            </a:r>
          </a:p>
        </p:txBody>
      </p:sp>
      <p:sp>
        <p:nvSpPr>
          <p:cNvPr id="129" name="Arrow: Pentagon 128">
            <a:extLst>
              <a:ext uri="{FF2B5EF4-FFF2-40B4-BE49-F238E27FC236}">
                <a16:creationId xmlns:a16="http://schemas.microsoft.com/office/drawing/2014/main" id="{D17124C2-9EDA-8B72-9578-3FB39E63D5C1}"/>
              </a:ext>
            </a:extLst>
          </p:cNvPr>
          <p:cNvSpPr/>
          <p:nvPr/>
        </p:nvSpPr>
        <p:spPr>
          <a:xfrm>
            <a:off x="7427242" y="3213010"/>
            <a:ext cx="366648" cy="187200"/>
          </a:xfrm>
          <a:prstGeom prst="homePlate">
            <a:avLst/>
          </a:prstGeom>
          <a:gradFill>
            <a:gsLst>
              <a:gs pos="0">
                <a:srgbClr val="FFC000"/>
              </a:gs>
              <a:gs pos="50000">
                <a:srgbClr val="FFC000"/>
              </a:gs>
              <a:gs pos="51000">
                <a:srgbClr val="EABAA5"/>
              </a:gs>
              <a:gs pos="100000">
                <a:srgbClr val="EABAA5"/>
              </a:gs>
            </a:gsLst>
            <a:lin ang="5400000" scaled="0"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>
              <a:solidFill>
                <a:schemeClr val="bg1"/>
              </a:solidFill>
            </a:endParaRPr>
          </a:p>
        </p:txBody>
      </p:sp>
      <p:sp>
        <p:nvSpPr>
          <p:cNvPr id="136" name="Arrow: Pentagon 135">
            <a:extLst>
              <a:ext uri="{FF2B5EF4-FFF2-40B4-BE49-F238E27FC236}">
                <a16:creationId xmlns:a16="http://schemas.microsoft.com/office/drawing/2014/main" id="{537AC2EF-B1AA-4354-0A3A-5C52974A58EE}"/>
              </a:ext>
            </a:extLst>
          </p:cNvPr>
          <p:cNvSpPr/>
          <p:nvPr/>
        </p:nvSpPr>
        <p:spPr>
          <a:xfrm>
            <a:off x="7427242" y="3473413"/>
            <a:ext cx="366648" cy="187200"/>
          </a:xfrm>
          <a:prstGeom prst="homePlate">
            <a:avLst/>
          </a:prstGeom>
          <a:gradFill>
            <a:gsLst>
              <a:gs pos="0">
                <a:srgbClr val="FFC000"/>
              </a:gs>
              <a:gs pos="50000">
                <a:srgbClr val="FFC000"/>
              </a:gs>
              <a:gs pos="51000">
                <a:srgbClr val="EABAA5"/>
              </a:gs>
              <a:gs pos="100000">
                <a:srgbClr val="EABAA5"/>
              </a:gs>
            </a:gsLst>
            <a:lin ang="5400000" scaled="0"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>
              <a:solidFill>
                <a:schemeClr val="bg1"/>
              </a:solidFill>
            </a:endParaRPr>
          </a:p>
        </p:txBody>
      </p:sp>
      <p:sp>
        <p:nvSpPr>
          <p:cNvPr id="205" name="Arrow: Pentagon 204">
            <a:extLst>
              <a:ext uri="{FF2B5EF4-FFF2-40B4-BE49-F238E27FC236}">
                <a16:creationId xmlns:a16="http://schemas.microsoft.com/office/drawing/2014/main" id="{707E6487-564D-9A59-BBF8-E7B2F4CAD1B9}"/>
              </a:ext>
            </a:extLst>
          </p:cNvPr>
          <p:cNvSpPr/>
          <p:nvPr/>
        </p:nvSpPr>
        <p:spPr>
          <a:xfrm>
            <a:off x="7427242" y="3733815"/>
            <a:ext cx="366648" cy="187200"/>
          </a:xfrm>
          <a:prstGeom prst="homePlate">
            <a:avLst/>
          </a:prstGeom>
          <a:gradFill>
            <a:gsLst>
              <a:gs pos="0">
                <a:srgbClr val="FFC000"/>
              </a:gs>
              <a:gs pos="50000">
                <a:srgbClr val="FFC000"/>
              </a:gs>
              <a:gs pos="51000">
                <a:srgbClr val="EABAA5"/>
              </a:gs>
              <a:gs pos="100000">
                <a:srgbClr val="EABAA5"/>
              </a:gs>
            </a:gsLst>
            <a:lin ang="5400000" scaled="0"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>
              <a:solidFill>
                <a:schemeClr val="bg1"/>
              </a:solidFill>
            </a:endParaRPr>
          </a:p>
        </p:txBody>
      </p:sp>
      <p:sp>
        <p:nvSpPr>
          <p:cNvPr id="206" name="Arrow: Pentagon 205">
            <a:extLst>
              <a:ext uri="{FF2B5EF4-FFF2-40B4-BE49-F238E27FC236}">
                <a16:creationId xmlns:a16="http://schemas.microsoft.com/office/drawing/2014/main" id="{5A8783AB-5CCB-9582-B1EB-ACF12F593164}"/>
              </a:ext>
            </a:extLst>
          </p:cNvPr>
          <p:cNvSpPr/>
          <p:nvPr/>
        </p:nvSpPr>
        <p:spPr>
          <a:xfrm>
            <a:off x="7805559" y="3994681"/>
            <a:ext cx="366648" cy="187200"/>
          </a:xfrm>
          <a:prstGeom prst="homePlate">
            <a:avLst/>
          </a:prstGeom>
          <a:gradFill>
            <a:gsLst>
              <a:gs pos="0">
                <a:srgbClr val="FFC000"/>
              </a:gs>
              <a:gs pos="50000">
                <a:srgbClr val="FFC000"/>
              </a:gs>
              <a:gs pos="51000">
                <a:srgbClr val="EABAA5"/>
              </a:gs>
              <a:gs pos="100000">
                <a:srgbClr val="EABAA5"/>
              </a:gs>
            </a:gsLst>
            <a:lin ang="5400000" scaled="0"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>
              <a:solidFill>
                <a:schemeClr val="bg1"/>
              </a:solidFill>
            </a:endParaRPr>
          </a:p>
        </p:txBody>
      </p:sp>
      <p:sp>
        <p:nvSpPr>
          <p:cNvPr id="212" name="Arrow: Pentagon 211">
            <a:extLst>
              <a:ext uri="{FF2B5EF4-FFF2-40B4-BE49-F238E27FC236}">
                <a16:creationId xmlns:a16="http://schemas.microsoft.com/office/drawing/2014/main" id="{651AE88B-1F07-E18E-099E-1A927B8885E4}"/>
              </a:ext>
            </a:extLst>
          </p:cNvPr>
          <p:cNvSpPr/>
          <p:nvPr/>
        </p:nvSpPr>
        <p:spPr>
          <a:xfrm>
            <a:off x="7805559" y="4255547"/>
            <a:ext cx="366648" cy="187200"/>
          </a:xfrm>
          <a:prstGeom prst="homePlate">
            <a:avLst/>
          </a:prstGeom>
          <a:gradFill>
            <a:gsLst>
              <a:gs pos="0">
                <a:srgbClr val="FFC000"/>
              </a:gs>
              <a:gs pos="50000">
                <a:srgbClr val="FFC000"/>
              </a:gs>
              <a:gs pos="51000">
                <a:srgbClr val="EABAA5"/>
              </a:gs>
              <a:gs pos="100000">
                <a:srgbClr val="EABAA5"/>
              </a:gs>
            </a:gsLst>
            <a:lin ang="5400000" scaled="0"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>
              <a:solidFill>
                <a:schemeClr val="bg1"/>
              </a:solidFill>
            </a:endParaRP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B19EFB3A-90D6-A00C-D96A-E07EB1BB99EB}"/>
              </a:ext>
            </a:extLst>
          </p:cNvPr>
          <p:cNvGrpSpPr/>
          <p:nvPr/>
        </p:nvGrpSpPr>
        <p:grpSpPr>
          <a:xfrm>
            <a:off x="5854617" y="3755878"/>
            <a:ext cx="2364506" cy="667213"/>
            <a:chOff x="5854617" y="3755878"/>
            <a:chExt cx="2364506" cy="667213"/>
          </a:xfrm>
        </p:grpSpPr>
        <p:sp>
          <p:nvSpPr>
            <p:cNvPr id="85" name="Star: 5 Points 84">
              <a:extLst>
                <a:ext uri="{FF2B5EF4-FFF2-40B4-BE49-F238E27FC236}">
                  <a16:creationId xmlns:a16="http://schemas.microsoft.com/office/drawing/2014/main" id="{7F624EA9-FC66-F43E-607E-12F66775045D}"/>
                </a:ext>
              </a:extLst>
            </p:cNvPr>
            <p:cNvSpPr/>
            <p:nvPr/>
          </p:nvSpPr>
          <p:spPr>
            <a:xfrm>
              <a:off x="6222985" y="4288574"/>
              <a:ext cx="108000" cy="108000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1" name="Diamond 90">
              <a:extLst>
                <a:ext uri="{FF2B5EF4-FFF2-40B4-BE49-F238E27FC236}">
                  <a16:creationId xmlns:a16="http://schemas.microsoft.com/office/drawing/2014/main" id="{5511310F-E612-8BA6-2584-38EBC72096B4}"/>
                </a:ext>
              </a:extLst>
            </p:cNvPr>
            <p:cNvSpPr/>
            <p:nvPr/>
          </p:nvSpPr>
          <p:spPr>
            <a:xfrm>
              <a:off x="6587296" y="3755878"/>
              <a:ext cx="144000" cy="144000"/>
            </a:xfrm>
            <a:prstGeom prst="diamond">
              <a:avLst/>
            </a:prstGeom>
            <a:solidFill>
              <a:srgbClr val="40749B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PT" sz="700">
                <a:solidFill>
                  <a:srgbClr val="575756"/>
                </a:solidFill>
              </a:endParaRPr>
            </a:p>
          </p:txBody>
        </p:sp>
        <p:sp>
          <p:nvSpPr>
            <p:cNvPr id="92" name="Diamond 91">
              <a:extLst>
                <a:ext uri="{FF2B5EF4-FFF2-40B4-BE49-F238E27FC236}">
                  <a16:creationId xmlns:a16="http://schemas.microsoft.com/office/drawing/2014/main" id="{3D929CDD-8BE4-6259-B43A-4849898E70F0}"/>
                </a:ext>
              </a:extLst>
            </p:cNvPr>
            <p:cNvSpPr/>
            <p:nvPr/>
          </p:nvSpPr>
          <p:spPr>
            <a:xfrm>
              <a:off x="7331210" y="4016512"/>
              <a:ext cx="144000" cy="144000"/>
            </a:xfrm>
            <a:prstGeom prst="diamond">
              <a:avLst/>
            </a:prstGeom>
            <a:solidFill>
              <a:srgbClr val="40749B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PT" sz="700">
                <a:solidFill>
                  <a:srgbClr val="575756"/>
                </a:solidFill>
              </a:endParaRPr>
            </a:p>
          </p:txBody>
        </p:sp>
        <p:sp>
          <p:nvSpPr>
            <p:cNvPr id="93" name="Diamond 92">
              <a:extLst>
                <a:ext uri="{FF2B5EF4-FFF2-40B4-BE49-F238E27FC236}">
                  <a16:creationId xmlns:a16="http://schemas.microsoft.com/office/drawing/2014/main" id="{AF0E17D3-CFB0-E368-9343-0003A971FA8D}"/>
                </a:ext>
              </a:extLst>
            </p:cNvPr>
            <p:cNvSpPr/>
            <p:nvPr/>
          </p:nvSpPr>
          <p:spPr>
            <a:xfrm>
              <a:off x="8075123" y="4277147"/>
              <a:ext cx="144000" cy="144000"/>
            </a:xfrm>
            <a:prstGeom prst="diamond">
              <a:avLst/>
            </a:prstGeom>
            <a:solidFill>
              <a:srgbClr val="40749B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PT" sz="700">
                <a:solidFill>
                  <a:srgbClr val="575756"/>
                </a:solidFill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1DD73674-9A77-0409-78F7-BE6909D8C684}"/>
                </a:ext>
              </a:extLst>
            </p:cNvPr>
            <p:cNvSpPr/>
            <p:nvPr/>
          </p:nvSpPr>
          <p:spPr>
            <a:xfrm>
              <a:off x="7335902" y="4288574"/>
              <a:ext cx="749583" cy="13451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marL="0" marR="0" lvl="0" indent="0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700" i="1">
                  <a:solidFill>
                    <a:srgbClr val="34342B"/>
                  </a:solidFill>
                </a:rPr>
                <a:t>Prazo de validação</a:t>
              </a:r>
              <a:endParaRPr kumimoji="0" lang="en-GB" sz="700" b="0" i="1" u="none" strike="noStrike" kern="1200" cap="none" spc="0" normalizeH="0" baseline="0" noProof="0">
                <a:ln>
                  <a:noFill/>
                </a:ln>
                <a:solidFill>
                  <a:srgbClr val="34342B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18D8F4ED-C56B-0827-D90F-C5C1AF1AB515}"/>
                </a:ext>
              </a:extLst>
            </p:cNvPr>
            <p:cNvSpPr/>
            <p:nvPr/>
          </p:nvSpPr>
          <p:spPr>
            <a:xfrm>
              <a:off x="6595259" y="4029237"/>
              <a:ext cx="749583" cy="13451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marL="0" marR="0" lvl="0" indent="0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700" i="1">
                  <a:solidFill>
                    <a:srgbClr val="34342B"/>
                  </a:solidFill>
                </a:rPr>
                <a:t>Prazo de validação</a:t>
              </a:r>
              <a:endParaRPr kumimoji="0" lang="en-GB" sz="700" b="0" i="1" u="none" strike="noStrike" kern="1200" cap="none" spc="0" normalizeH="0" baseline="0" noProof="0">
                <a:ln>
                  <a:noFill/>
                </a:ln>
                <a:solidFill>
                  <a:srgbClr val="34342B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BE4BFD98-2AD1-E66F-191A-FBAE16A20BA2}"/>
                </a:ext>
              </a:extLst>
            </p:cNvPr>
            <p:cNvSpPr/>
            <p:nvPr/>
          </p:nvSpPr>
          <p:spPr>
            <a:xfrm>
              <a:off x="5854617" y="3769900"/>
              <a:ext cx="749583" cy="13451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marL="0" marR="0" lvl="0" indent="0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700" i="1">
                  <a:solidFill>
                    <a:srgbClr val="34342B"/>
                  </a:solidFill>
                </a:rPr>
                <a:t>Prazo de validação</a:t>
              </a:r>
              <a:endParaRPr kumimoji="0" lang="en-GB" sz="700" b="0" i="1" u="none" strike="noStrike" kern="1200" cap="none" spc="0" normalizeH="0" baseline="0" noProof="0">
                <a:ln>
                  <a:noFill/>
                </a:ln>
                <a:solidFill>
                  <a:srgbClr val="34342B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235" name="Left Brace 234">
            <a:extLst>
              <a:ext uri="{FF2B5EF4-FFF2-40B4-BE49-F238E27FC236}">
                <a16:creationId xmlns:a16="http://schemas.microsoft.com/office/drawing/2014/main" id="{AEAEB837-8CE5-6380-C554-2F10FEE7FB56}"/>
              </a:ext>
            </a:extLst>
          </p:cNvPr>
          <p:cNvSpPr/>
          <p:nvPr/>
        </p:nvSpPr>
        <p:spPr>
          <a:xfrm rot="16200000">
            <a:off x="7702757" y="4185475"/>
            <a:ext cx="158275" cy="74448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0A4F3F50-FA1A-4A13-E75E-A57902AA6989}"/>
              </a:ext>
            </a:extLst>
          </p:cNvPr>
          <p:cNvSpPr/>
          <p:nvPr/>
        </p:nvSpPr>
        <p:spPr>
          <a:xfrm>
            <a:off x="7283676" y="4612913"/>
            <a:ext cx="1020427" cy="144674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900" b="1" i="1">
                <a:solidFill>
                  <a:srgbClr val="34342B"/>
                </a:solidFill>
              </a:rPr>
              <a:t>Knowledge Session</a:t>
            </a:r>
            <a:endParaRPr kumimoji="0" lang="pt-PT" sz="900" b="1" i="1" u="none" strike="noStrike" kern="1200" cap="none" spc="0" normalizeH="0" baseline="0">
              <a:ln>
                <a:noFill/>
              </a:ln>
              <a:solidFill>
                <a:srgbClr val="34342B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37" name="Star: 5 Points 236">
            <a:extLst>
              <a:ext uri="{FF2B5EF4-FFF2-40B4-BE49-F238E27FC236}">
                <a16:creationId xmlns:a16="http://schemas.microsoft.com/office/drawing/2014/main" id="{9AF24777-3F27-A39C-991B-65F690777E9C}"/>
              </a:ext>
            </a:extLst>
          </p:cNvPr>
          <p:cNvSpPr/>
          <p:nvPr/>
        </p:nvSpPr>
        <p:spPr>
          <a:xfrm>
            <a:off x="7409147" y="3163164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38" name="Star: 5 Points 237">
            <a:extLst>
              <a:ext uri="{FF2B5EF4-FFF2-40B4-BE49-F238E27FC236}">
                <a16:creationId xmlns:a16="http://schemas.microsoft.com/office/drawing/2014/main" id="{5BA0D208-3F70-9F13-51C9-E70020821539}"/>
              </a:ext>
            </a:extLst>
          </p:cNvPr>
          <p:cNvSpPr/>
          <p:nvPr/>
        </p:nvSpPr>
        <p:spPr>
          <a:xfrm>
            <a:off x="7409147" y="3405521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39" name="Star: 5 Points 238">
            <a:extLst>
              <a:ext uri="{FF2B5EF4-FFF2-40B4-BE49-F238E27FC236}">
                <a16:creationId xmlns:a16="http://schemas.microsoft.com/office/drawing/2014/main" id="{5C28565A-2A69-E80B-AD3F-0DA37D67BE8E}"/>
              </a:ext>
            </a:extLst>
          </p:cNvPr>
          <p:cNvSpPr/>
          <p:nvPr/>
        </p:nvSpPr>
        <p:spPr>
          <a:xfrm>
            <a:off x="7409147" y="3647878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0" name="Star: 5 Points 239">
            <a:extLst>
              <a:ext uri="{FF2B5EF4-FFF2-40B4-BE49-F238E27FC236}">
                <a16:creationId xmlns:a16="http://schemas.microsoft.com/office/drawing/2014/main" id="{DE80E6FE-B37C-FBC0-E36C-B64EF74BD6FD}"/>
              </a:ext>
            </a:extLst>
          </p:cNvPr>
          <p:cNvSpPr/>
          <p:nvPr/>
        </p:nvSpPr>
        <p:spPr>
          <a:xfrm>
            <a:off x="7765290" y="3927530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1" name="Star: 5 Points 240">
            <a:extLst>
              <a:ext uri="{FF2B5EF4-FFF2-40B4-BE49-F238E27FC236}">
                <a16:creationId xmlns:a16="http://schemas.microsoft.com/office/drawing/2014/main" id="{51B4A540-9B61-916B-52A7-26B1720A0F8E}"/>
              </a:ext>
            </a:extLst>
          </p:cNvPr>
          <p:cNvSpPr/>
          <p:nvPr/>
        </p:nvSpPr>
        <p:spPr>
          <a:xfrm>
            <a:off x="7765290" y="4182834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2" name="Arrow: Pentagon 241">
            <a:extLst>
              <a:ext uri="{FF2B5EF4-FFF2-40B4-BE49-F238E27FC236}">
                <a16:creationId xmlns:a16="http://schemas.microsoft.com/office/drawing/2014/main" id="{F835D5B5-BB49-72AF-D30B-A86DCF66E39F}"/>
              </a:ext>
            </a:extLst>
          </p:cNvPr>
          <p:cNvSpPr/>
          <p:nvPr/>
        </p:nvSpPr>
        <p:spPr>
          <a:xfrm>
            <a:off x="8171882" y="3213010"/>
            <a:ext cx="735778" cy="187200"/>
          </a:xfrm>
          <a:prstGeom prst="homePlate">
            <a:avLst/>
          </a:prstGeom>
          <a:gradFill>
            <a:gsLst>
              <a:gs pos="0">
                <a:srgbClr val="FFC000"/>
              </a:gs>
              <a:gs pos="50000">
                <a:srgbClr val="FFC000"/>
              </a:gs>
              <a:gs pos="51000">
                <a:schemeClr val="bg2">
                  <a:lumMod val="90000"/>
                </a:schemeClr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>
              <a:solidFill>
                <a:schemeClr val="bg1"/>
              </a:solidFill>
            </a:endParaRPr>
          </a:p>
        </p:txBody>
      </p:sp>
      <p:sp>
        <p:nvSpPr>
          <p:cNvPr id="243" name="Arrow: Pentagon 242">
            <a:extLst>
              <a:ext uri="{FF2B5EF4-FFF2-40B4-BE49-F238E27FC236}">
                <a16:creationId xmlns:a16="http://schemas.microsoft.com/office/drawing/2014/main" id="{394FF3D6-CC7F-9B3A-6D97-AB16C0FE4A81}"/>
              </a:ext>
            </a:extLst>
          </p:cNvPr>
          <p:cNvSpPr/>
          <p:nvPr/>
        </p:nvSpPr>
        <p:spPr>
          <a:xfrm>
            <a:off x="8916118" y="3472582"/>
            <a:ext cx="735778" cy="187200"/>
          </a:xfrm>
          <a:prstGeom prst="homePlate">
            <a:avLst/>
          </a:prstGeom>
          <a:gradFill>
            <a:gsLst>
              <a:gs pos="0">
                <a:srgbClr val="FFC000"/>
              </a:gs>
              <a:gs pos="50000">
                <a:srgbClr val="FFC000"/>
              </a:gs>
              <a:gs pos="51000">
                <a:schemeClr val="bg2">
                  <a:lumMod val="90000"/>
                </a:schemeClr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>
              <a:solidFill>
                <a:schemeClr val="bg1"/>
              </a:solidFill>
            </a:endParaRPr>
          </a:p>
        </p:txBody>
      </p:sp>
      <p:sp>
        <p:nvSpPr>
          <p:cNvPr id="244" name="Arrow: Pentagon 243">
            <a:extLst>
              <a:ext uri="{FF2B5EF4-FFF2-40B4-BE49-F238E27FC236}">
                <a16:creationId xmlns:a16="http://schemas.microsoft.com/office/drawing/2014/main" id="{2BEBE51C-8616-F905-082A-A2B197D0CF07}"/>
              </a:ext>
            </a:extLst>
          </p:cNvPr>
          <p:cNvSpPr/>
          <p:nvPr/>
        </p:nvSpPr>
        <p:spPr>
          <a:xfrm>
            <a:off x="9660354" y="3732154"/>
            <a:ext cx="735778" cy="187200"/>
          </a:xfrm>
          <a:prstGeom prst="homePlate">
            <a:avLst/>
          </a:prstGeom>
          <a:gradFill>
            <a:gsLst>
              <a:gs pos="0">
                <a:srgbClr val="FFC000"/>
              </a:gs>
              <a:gs pos="50000">
                <a:srgbClr val="FFC000"/>
              </a:gs>
              <a:gs pos="51000">
                <a:schemeClr val="bg2">
                  <a:lumMod val="90000"/>
                </a:schemeClr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>
              <a:solidFill>
                <a:schemeClr val="bg1"/>
              </a:solidFill>
            </a:endParaRPr>
          </a:p>
        </p:txBody>
      </p:sp>
      <p:sp>
        <p:nvSpPr>
          <p:cNvPr id="245" name="Arrow: Pentagon 244">
            <a:extLst>
              <a:ext uri="{FF2B5EF4-FFF2-40B4-BE49-F238E27FC236}">
                <a16:creationId xmlns:a16="http://schemas.microsoft.com/office/drawing/2014/main" id="{3EA34ABB-CB51-E87F-093B-0A3B9DFBFF3A}"/>
              </a:ext>
            </a:extLst>
          </p:cNvPr>
          <p:cNvSpPr/>
          <p:nvPr/>
        </p:nvSpPr>
        <p:spPr>
          <a:xfrm>
            <a:off x="10404590" y="3991726"/>
            <a:ext cx="735778" cy="187200"/>
          </a:xfrm>
          <a:prstGeom prst="homePlate">
            <a:avLst/>
          </a:prstGeom>
          <a:gradFill>
            <a:gsLst>
              <a:gs pos="0">
                <a:srgbClr val="FFC000"/>
              </a:gs>
              <a:gs pos="50000">
                <a:srgbClr val="FFC000"/>
              </a:gs>
              <a:gs pos="51000">
                <a:schemeClr val="bg2">
                  <a:lumMod val="90000"/>
                </a:schemeClr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>
              <a:solidFill>
                <a:schemeClr val="bg1"/>
              </a:solidFill>
            </a:endParaRPr>
          </a:p>
        </p:txBody>
      </p:sp>
      <p:sp>
        <p:nvSpPr>
          <p:cNvPr id="246" name="Arrow: Pentagon 245">
            <a:extLst>
              <a:ext uri="{FF2B5EF4-FFF2-40B4-BE49-F238E27FC236}">
                <a16:creationId xmlns:a16="http://schemas.microsoft.com/office/drawing/2014/main" id="{7C12971A-9AF9-9907-A75C-752E8069A5C2}"/>
              </a:ext>
            </a:extLst>
          </p:cNvPr>
          <p:cNvSpPr/>
          <p:nvPr/>
        </p:nvSpPr>
        <p:spPr>
          <a:xfrm>
            <a:off x="11148825" y="4251297"/>
            <a:ext cx="735778" cy="187200"/>
          </a:xfrm>
          <a:prstGeom prst="homePlate">
            <a:avLst/>
          </a:prstGeom>
          <a:gradFill>
            <a:gsLst>
              <a:gs pos="0">
                <a:srgbClr val="FFC000"/>
              </a:gs>
              <a:gs pos="50000">
                <a:srgbClr val="FFC000"/>
              </a:gs>
              <a:gs pos="51000">
                <a:schemeClr val="bg2">
                  <a:lumMod val="90000"/>
                </a:schemeClr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>
              <a:solidFill>
                <a:schemeClr val="bg1"/>
              </a:solidFill>
            </a:endParaRPr>
          </a:p>
        </p:txBody>
      </p:sp>
      <p:sp>
        <p:nvSpPr>
          <p:cNvPr id="247" name="Star: 5 Points 246">
            <a:extLst>
              <a:ext uri="{FF2B5EF4-FFF2-40B4-BE49-F238E27FC236}">
                <a16:creationId xmlns:a16="http://schemas.microsoft.com/office/drawing/2014/main" id="{04983176-FE63-CE60-90DB-CD591EC0E081}"/>
              </a:ext>
            </a:extLst>
          </p:cNvPr>
          <p:cNvSpPr/>
          <p:nvPr/>
        </p:nvSpPr>
        <p:spPr>
          <a:xfrm>
            <a:off x="8136547" y="3160983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8" name="Star: 5 Points 247">
            <a:extLst>
              <a:ext uri="{FF2B5EF4-FFF2-40B4-BE49-F238E27FC236}">
                <a16:creationId xmlns:a16="http://schemas.microsoft.com/office/drawing/2014/main" id="{8CAF31EE-4B72-3B60-806F-96150FDE2AB1}"/>
              </a:ext>
            </a:extLst>
          </p:cNvPr>
          <p:cNvSpPr/>
          <p:nvPr/>
        </p:nvSpPr>
        <p:spPr>
          <a:xfrm>
            <a:off x="8858501" y="3415851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9" name="Star: 5 Points 248">
            <a:extLst>
              <a:ext uri="{FF2B5EF4-FFF2-40B4-BE49-F238E27FC236}">
                <a16:creationId xmlns:a16="http://schemas.microsoft.com/office/drawing/2014/main" id="{3C880943-387F-BEED-956B-6698B062FDC9}"/>
              </a:ext>
            </a:extLst>
          </p:cNvPr>
          <p:cNvSpPr/>
          <p:nvPr/>
        </p:nvSpPr>
        <p:spPr>
          <a:xfrm>
            <a:off x="9610907" y="3653589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53" name="Star: 5 Points 252">
            <a:extLst>
              <a:ext uri="{FF2B5EF4-FFF2-40B4-BE49-F238E27FC236}">
                <a16:creationId xmlns:a16="http://schemas.microsoft.com/office/drawing/2014/main" id="{F20887FC-1CEF-E7A7-2740-1CB3258B1063}"/>
              </a:ext>
            </a:extLst>
          </p:cNvPr>
          <p:cNvSpPr/>
          <p:nvPr/>
        </p:nvSpPr>
        <p:spPr>
          <a:xfrm>
            <a:off x="10355807" y="3925869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54" name="Star: 5 Points 253">
            <a:extLst>
              <a:ext uri="{FF2B5EF4-FFF2-40B4-BE49-F238E27FC236}">
                <a16:creationId xmlns:a16="http://schemas.microsoft.com/office/drawing/2014/main" id="{88D145CE-5538-5B22-6594-713890CB7B1F}"/>
              </a:ext>
            </a:extLst>
          </p:cNvPr>
          <p:cNvSpPr/>
          <p:nvPr/>
        </p:nvSpPr>
        <p:spPr>
          <a:xfrm>
            <a:off x="11090808" y="4180574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44835053-0CFD-7D28-015C-211103B2086C}"/>
              </a:ext>
            </a:extLst>
          </p:cNvPr>
          <p:cNvSpPr/>
          <p:nvPr/>
        </p:nvSpPr>
        <p:spPr>
          <a:xfrm>
            <a:off x="9129452" y="6480815"/>
            <a:ext cx="1836000" cy="1259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900">
                <a:solidFill>
                  <a:schemeClr val="tx1"/>
                </a:solidFill>
              </a:rPr>
              <a:t>Dedicação a tempo inteiro da EDM</a:t>
            </a:r>
          </a:p>
        </p:txBody>
      </p:sp>
      <p:sp>
        <p:nvSpPr>
          <p:cNvPr id="258" name="Arrow: Pentagon 257">
            <a:extLst>
              <a:ext uri="{FF2B5EF4-FFF2-40B4-BE49-F238E27FC236}">
                <a16:creationId xmlns:a16="http://schemas.microsoft.com/office/drawing/2014/main" id="{F8879280-6808-2705-FF24-30F94664AAD9}"/>
              </a:ext>
            </a:extLst>
          </p:cNvPr>
          <p:cNvSpPr/>
          <p:nvPr/>
        </p:nvSpPr>
        <p:spPr>
          <a:xfrm>
            <a:off x="2572570" y="5111725"/>
            <a:ext cx="1095476" cy="1872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>
              <a:solidFill>
                <a:schemeClr val="bg1"/>
              </a:solidFill>
            </a:endParaRPr>
          </a:p>
        </p:txBody>
      </p:sp>
      <p:sp>
        <p:nvSpPr>
          <p:cNvPr id="259" name="Arrow: Pentagon 258">
            <a:extLst>
              <a:ext uri="{FF2B5EF4-FFF2-40B4-BE49-F238E27FC236}">
                <a16:creationId xmlns:a16="http://schemas.microsoft.com/office/drawing/2014/main" id="{CA4E5DD5-7CEE-1B55-8F85-5BC8259702E5}"/>
              </a:ext>
            </a:extLst>
          </p:cNvPr>
          <p:cNvSpPr/>
          <p:nvPr/>
        </p:nvSpPr>
        <p:spPr>
          <a:xfrm>
            <a:off x="3690783" y="5257272"/>
            <a:ext cx="1095476" cy="1872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>
              <a:solidFill>
                <a:schemeClr val="bg1"/>
              </a:solidFill>
            </a:endParaRPr>
          </a:p>
        </p:txBody>
      </p:sp>
      <p:sp>
        <p:nvSpPr>
          <p:cNvPr id="262" name="Arrow: Pentagon 261">
            <a:extLst>
              <a:ext uri="{FF2B5EF4-FFF2-40B4-BE49-F238E27FC236}">
                <a16:creationId xmlns:a16="http://schemas.microsoft.com/office/drawing/2014/main" id="{6ABA0036-45C8-C022-5CA1-336AFA34700A}"/>
              </a:ext>
            </a:extLst>
          </p:cNvPr>
          <p:cNvSpPr/>
          <p:nvPr/>
        </p:nvSpPr>
        <p:spPr>
          <a:xfrm>
            <a:off x="4808996" y="5402819"/>
            <a:ext cx="1095476" cy="1872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>
              <a:solidFill>
                <a:schemeClr val="bg1"/>
              </a:solidFill>
            </a:endParaRPr>
          </a:p>
        </p:txBody>
      </p:sp>
      <p:sp>
        <p:nvSpPr>
          <p:cNvPr id="263" name="Arrow: Pentagon 262">
            <a:extLst>
              <a:ext uri="{FF2B5EF4-FFF2-40B4-BE49-F238E27FC236}">
                <a16:creationId xmlns:a16="http://schemas.microsoft.com/office/drawing/2014/main" id="{805B88DF-F14A-F0A4-2C08-5C9377230D58}"/>
              </a:ext>
            </a:extLst>
          </p:cNvPr>
          <p:cNvSpPr/>
          <p:nvPr/>
        </p:nvSpPr>
        <p:spPr>
          <a:xfrm>
            <a:off x="5927209" y="5548366"/>
            <a:ext cx="1095476" cy="1872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>
              <a:solidFill>
                <a:schemeClr val="bg1"/>
              </a:solidFill>
            </a:endParaRPr>
          </a:p>
        </p:txBody>
      </p:sp>
      <p:sp>
        <p:nvSpPr>
          <p:cNvPr id="264" name="Arrow: Pentagon 263">
            <a:extLst>
              <a:ext uri="{FF2B5EF4-FFF2-40B4-BE49-F238E27FC236}">
                <a16:creationId xmlns:a16="http://schemas.microsoft.com/office/drawing/2014/main" id="{BB6E0632-F7AE-AFC2-70D0-8A67DA52771D}"/>
              </a:ext>
            </a:extLst>
          </p:cNvPr>
          <p:cNvSpPr/>
          <p:nvPr/>
        </p:nvSpPr>
        <p:spPr>
          <a:xfrm>
            <a:off x="7045422" y="5693913"/>
            <a:ext cx="1095476" cy="1872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>
              <a:solidFill>
                <a:schemeClr val="bg1"/>
              </a:solidFill>
            </a:endParaRPr>
          </a:p>
        </p:txBody>
      </p:sp>
      <p:sp>
        <p:nvSpPr>
          <p:cNvPr id="265" name="Arrow: Pentagon 264">
            <a:extLst>
              <a:ext uri="{FF2B5EF4-FFF2-40B4-BE49-F238E27FC236}">
                <a16:creationId xmlns:a16="http://schemas.microsoft.com/office/drawing/2014/main" id="{CC8F5FCA-4D32-EC6B-E1F3-C5B7956C1479}"/>
              </a:ext>
            </a:extLst>
          </p:cNvPr>
          <p:cNvSpPr/>
          <p:nvPr/>
        </p:nvSpPr>
        <p:spPr>
          <a:xfrm>
            <a:off x="8163635" y="5839460"/>
            <a:ext cx="1095476" cy="1872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>
              <a:solidFill>
                <a:schemeClr val="bg1"/>
              </a:solidFill>
            </a:endParaRPr>
          </a:p>
        </p:txBody>
      </p:sp>
      <p:sp>
        <p:nvSpPr>
          <p:cNvPr id="266" name="Arrow: Pentagon 265">
            <a:extLst>
              <a:ext uri="{FF2B5EF4-FFF2-40B4-BE49-F238E27FC236}">
                <a16:creationId xmlns:a16="http://schemas.microsoft.com/office/drawing/2014/main" id="{B750CDA6-E8E9-2D9D-8B36-DF08D74B2EB2}"/>
              </a:ext>
            </a:extLst>
          </p:cNvPr>
          <p:cNvSpPr/>
          <p:nvPr/>
        </p:nvSpPr>
        <p:spPr>
          <a:xfrm>
            <a:off x="9281848" y="5985007"/>
            <a:ext cx="1095476" cy="1872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>
              <a:solidFill>
                <a:schemeClr val="bg1"/>
              </a:solidFill>
            </a:endParaRPr>
          </a:p>
        </p:txBody>
      </p:sp>
      <p:sp>
        <p:nvSpPr>
          <p:cNvPr id="267" name="Arrow: Pentagon 266">
            <a:extLst>
              <a:ext uri="{FF2B5EF4-FFF2-40B4-BE49-F238E27FC236}">
                <a16:creationId xmlns:a16="http://schemas.microsoft.com/office/drawing/2014/main" id="{F43DAD56-5593-89E7-BB16-B9FEBF02BB7F}"/>
              </a:ext>
            </a:extLst>
          </p:cNvPr>
          <p:cNvSpPr/>
          <p:nvPr/>
        </p:nvSpPr>
        <p:spPr>
          <a:xfrm>
            <a:off x="10400059" y="6130555"/>
            <a:ext cx="1095476" cy="1872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>
              <a:solidFill>
                <a:schemeClr val="bg1"/>
              </a:solidFill>
            </a:endParaRPr>
          </a:p>
        </p:txBody>
      </p:sp>
      <p:sp>
        <p:nvSpPr>
          <p:cNvPr id="268" name="Left Brace 267">
            <a:extLst>
              <a:ext uri="{FF2B5EF4-FFF2-40B4-BE49-F238E27FC236}">
                <a16:creationId xmlns:a16="http://schemas.microsoft.com/office/drawing/2014/main" id="{99981B7C-344B-C384-0C15-4CD3B785E955}"/>
              </a:ext>
            </a:extLst>
          </p:cNvPr>
          <p:cNvSpPr/>
          <p:nvPr/>
        </p:nvSpPr>
        <p:spPr>
          <a:xfrm>
            <a:off x="1768211" y="5111725"/>
            <a:ext cx="164703" cy="131272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5DC4E195-0C37-D80D-DA96-87D684280906}"/>
              </a:ext>
            </a:extLst>
          </p:cNvPr>
          <p:cNvSpPr/>
          <p:nvPr/>
        </p:nvSpPr>
        <p:spPr>
          <a:xfrm>
            <a:off x="1001071" y="5570469"/>
            <a:ext cx="671869" cy="395232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900" b="1" i="1">
                <a:solidFill>
                  <a:srgbClr val="34342B"/>
                </a:solidFill>
              </a:rPr>
              <a:t>Desenho dos fluxos de actividades</a:t>
            </a:r>
            <a:endParaRPr kumimoji="0" lang="pt-PT" sz="900" b="1" i="1" u="none" strike="noStrike" kern="1200" cap="none" spc="0" normalizeH="0" baseline="0">
              <a:ln>
                <a:noFill/>
              </a:ln>
              <a:solidFill>
                <a:srgbClr val="34342B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B38B4E9D-F58A-556C-CF76-B0650A95E03F}"/>
              </a:ext>
            </a:extLst>
          </p:cNvPr>
          <p:cNvSpPr/>
          <p:nvPr/>
        </p:nvSpPr>
        <p:spPr>
          <a:xfrm>
            <a:off x="2946881" y="5380126"/>
            <a:ext cx="661574" cy="96913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700" i="1">
                <a:solidFill>
                  <a:srgbClr val="34342B"/>
                </a:solidFill>
              </a:rPr>
              <a:t>Contratação de Procurement</a:t>
            </a: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7FFF3475-5E0B-9A2A-2F6D-66E15E241D56}"/>
              </a:ext>
            </a:extLst>
          </p:cNvPr>
          <p:cNvSpPr/>
          <p:nvPr/>
        </p:nvSpPr>
        <p:spPr>
          <a:xfrm>
            <a:off x="9542694" y="6247118"/>
            <a:ext cx="831945" cy="148439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700" i="1">
                <a:solidFill>
                  <a:srgbClr val="34342B"/>
                </a:solidFill>
              </a:rPr>
              <a:t>Adjudicação em Duas Etapas</a:t>
            </a:r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E0F32555-882D-BB1D-C129-877D9804C6FB}"/>
              </a:ext>
            </a:extLst>
          </p:cNvPr>
          <p:cNvSpPr/>
          <p:nvPr/>
        </p:nvSpPr>
        <p:spPr>
          <a:xfrm>
            <a:off x="7830941" y="6102621"/>
            <a:ext cx="1427763" cy="144497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700" i="1">
                <a:solidFill>
                  <a:srgbClr val="34342B"/>
                </a:solidFill>
              </a:rPr>
              <a:t>Concurso Público – Qualificação Prévia</a:t>
            </a:r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AF8A66BC-5AAD-ACF3-58A5-29AB93E9C2D3}"/>
              </a:ext>
            </a:extLst>
          </p:cNvPr>
          <p:cNvSpPr/>
          <p:nvPr/>
        </p:nvSpPr>
        <p:spPr>
          <a:xfrm>
            <a:off x="7514280" y="5931746"/>
            <a:ext cx="628488" cy="130171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700" i="1">
                <a:solidFill>
                  <a:srgbClr val="34342B"/>
                </a:solidFill>
              </a:rPr>
              <a:t>Concurso Público</a:t>
            </a:r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26222201-9795-1C0F-67E2-B56CE88058D2}"/>
              </a:ext>
            </a:extLst>
          </p:cNvPr>
          <p:cNvSpPr/>
          <p:nvPr/>
        </p:nvSpPr>
        <p:spPr>
          <a:xfrm>
            <a:off x="6175641" y="5813623"/>
            <a:ext cx="851190" cy="171384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700" i="1">
                <a:solidFill>
                  <a:srgbClr val="34342B"/>
                </a:solidFill>
              </a:rPr>
              <a:t>Adjudicação de Emergência</a:t>
            </a: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62D802B4-DF4C-5079-82D1-DB07C67DCF70}"/>
              </a:ext>
            </a:extLst>
          </p:cNvPr>
          <p:cNvSpPr/>
          <p:nvPr/>
        </p:nvSpPr>
        <p:spPr>
          <a:xfrm>
            <a:off x="5203382" y="5669124"/>
            <a:ext cx="590519" cy="144499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700" i="1">
                <a:solidFill>
                  <a:srgbClr val="34342B"/>
                </a:solidFill>
              </a:rPr>
              <a:t>Adjudicação Direta</a:t>
            </a:r>
            <a:endParaRPr kumimoji="0" lang="en-GB" sz="700" b="0" i="1" u="none" strike="noStrike" kern="1200" cap="none" spc="0" normalizeH="0" baseline="0" noProof="0">
              <a:ln>
                <a:noFill/>
              </a:ln>
              <a:solidFill>
                <a:srgbClr val="34342B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463E0778-E0DC-0C03-6E9F-A7DAC3814EFE}"/>
              </a:ext>
            </a:extLst>
          </p:cNvPr>
          <p:cNvSpPr/>
          <p:nvPr/>
        </p:nvSpPr>
        <p:spPr>
          <a:xfrm>
            <a:off x="3842683" y="5524625"/>
            <a:ext cx="952273" cy="169288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700" i="1">
                <a:solidFill>
                  <a:srgbClr val="34342B"/>
                </a:solidFill>
              </a:rPr>
              <a:t>Procedimentos de Contratação</a:t>
            </a:r>
          </a:p>
        </p:txBody>
      </p:sp>
      <p:sp>
        <p:nvSpPr>
          <p:cNvPr id="277" name="Star: 5 Points 276">
            <a:extLst>
              <a:ext uri="{FF2B5EF4-FFF2-40B4-BE49-F238E27FC236}">
                <a16:creationId xmlns:a16="http://schemas.microsoft.com/office/drawing/2014/main" id="{6AB5E623-B9A1-B963-941F-FD7C5738AB8F}"/>
              </a:ext>
            </a:extLst>
          </p:cNvPr>
          <p:cNvSpPr/>
          <p:nvPr/>
        </p:nvSpPr>
        <p:spPr>
          <a:xfrm>
            <a:off x="3584569" y="5151325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78" name="Star: 5 Points 277">
            <a:extLst>
              <a:ext uri="{FF2B5EF4-FFF2-40B4-BE49-F238E27FC236}">
                <a16:creationId xmlns:a16="http://schemas.microsoft.com/office/drawing/2014/main" id="{52A62DC6-B3E1-FD62-E583-1325B430D68D}"/>
              </a:ext>
            </a:extLst>
          </p:cNvPr>
          <p:cNvSpPr/>
          <p:nvPr/>
        </p:nvSpPr>
        <p:spPr>
          <a:xfrm>
            <a:off x="4706285" y="5296872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79" name="Star: 5 Points 278">
            <a:extLst>
              <a:ext uri="{FF2B5EF4-FFF2-40B4-BE49-F238E27FC236}">
                <a16:creationId xmlns:a16="http://schemas.microsoft.com/office/drawing/2014/main" id="{B6C4D79A-6C8D-65CD-01FA-4BACA31B4D63}"/>
              </a:ext>
            </a:extLst>
          </p:cNvPr>
          <p:cNvSpPr/>
          <p:nvPr/>
        </p:nvSpPr>
        <p:spPr>
          <a:xfrm>
            <a:off x="5828001" y="5442419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80" name="Star: 5 Points 279">
            <a:extLst>
              <a:ext uri="{FF2B5EF4-FFF2-40B4-BE49-F238E27FC236}">
                <a16:creationId xmlns:a16="http://schemas.microsoft.com/office/drawing/2014/main" id="{17324F93-D134-5843-3263-9F20DD2F2291}"/>
              </a:ext>
            </a:extLst>
          </p:cNvPr>
          <p:cNvSpPr/>
          <p:nvPr/>
        </p:nvSpPr>
        <p:spPr>
          <a:xfrm>
            <a:off x="6949717" y="5587966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81" name="Star: 5 Points 280">
            <a:extLst>
              <a:ext uri="{FF2B5EF4-FFF2-40B4-BE49-F238E27FC236}">
                <a16:creationId xmlns:a16="http://schemas.microsoft.com/office/drawing/2014/main" id="{1F03DE69-CB50-9F69-3779-DF3A549AD4A2}"/>
              </a:ext>
            </a:extLst>
          </p:cNvPr>
          <p:cNvSpPr/>
          <p:nvPr/>
        </p:nvSpPr>
        <p:spPr>
          <a:xfrm>
            <a:off x="8071433" y="5733513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82" name="Star: 5 Points 281">
            <a:extLst>
              <a:ext uri="{FF2B5EF4-FFF2-40B4-BE49-F238E27FC236}">
                <a16:creationId xmlns:a16="http://schemas.microsoft.com/office/drawing/2014/main" id="{290F1A30-CBD0-2779-4646-5879C54CA992}"/>
              </a:ext>
            </a:extLst>
          </p:cNvPr>
          <p:cNvSpPr/>
          <p:nvPr/>
        </p:nvSpPr>
        <p:spPr>
          <a:xfrm>
            <a:off x="9193149" y="5879060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83" name="Star: 5 Points 282">
            <a:extLst>
              <a:ext uri="{FF2B5EF4-FFF2-40B4-BE49-F238E27FC236}">
                <a16:creationId xmlns:a16="http://schemas.microsoft.com/office/drawing/2014/main" id="{940D2AAD-3FF5-39A1-95E7-B51A6992F984}"/>
              </a:ext>
            </a:extLst>
          </p:cNvPr>
          <p:cNvSpPr/>
          <p:nvPr/>
        </p:nvSpPr>
        <p:spPr>
          <a:xfrm>
            <a:off x="10314865" y="6024607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84" name="Star: 5 Points 283">
            <a:extLst>
              <a:ext uri="{FF2B5EF4-FFF2-40B4-BE49-F238E27FC236}">
                <a16:creationId xmlns:a16="http://schemas.microsoft.com/office/drawing/2014/main" id="{E3625148-C277-A0C9-1134-08A18EB5BF2E}"/>
              </a:ext>
            </a:extLst>
          </p:cNvPr>
          <p:cNvSpPr/>
          <p:nvPr/>
        </p:nvSpPr>
        <p:spPr>
          <a:xfrm>
            <a:off x="11436581" y="6170155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19543D20-19A5-28B4-BEF9-69591BF5AB79}"/>
              </a:ext>
            </a:extLst>
          </p:cNvPr>
          <p:cNvGrpSpPr/>
          <p:nvPr/>
        </p:nvGrpSpPr>
        <p:grpSpPr>
          <a:xfrm>
            <a:off x="4745388" y="5128319"/>
            <a:ext cx="870135" cy="151133"/>
            <a:chOff x="4373333" y="3234610"/>
            <a:chExt cx="870135" cy="151133"/>
          </a:xfrm>
        </p:grpSpPr>
        <p:sp>
          <p:nvSpPr>
            <p:cNvPr id="287" name="Diamond 286">
              <a:extLst>
                <a:ext uri="{FF2B5EF4-FFF2-40B4-BE49-F238E27FC236}">
                  <a16:creationId xmlns:a16="http://schemas.microsoft.com/office/drawing/2014/main" id="{423D9234-92D9-D22A-6D12-5DE3DB9D8C20}"/>
                </a:ext>
              </a:extLst>
            </p:cNvPr>
            <p:cNvSpPr/>
            <p:nvPr/>
          </p:nvSpPr>
          <p:spPr>
            <a:xfrm>
              <a:off x="5099468" y="3234610"/>
              <a:ext cx="144000" cy="144000"/>
            </a:xfrm>
            <a:prstGeom prst="diamond">
              <a:avLst/>
            </a:prstGeom>
            <a:solidFill>
              <a:srgbClr val="40749B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PT" sz="700">
                <a:solidFill>
                  <a:srgbClr val="575756"/>
                </a:solidFill>
              </a:endParaRPr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0981AA81-FFF1-4BF0-114B-4AB07FC703CA}"/>
                </a:ext>
              </a:extLst>
            </p:cNvPr>
            <p:cNvSpPr/>
            <p:nvPr/>
          </p:nvSpPr>
          <p:spPr>
            <a:xfrm>
              <a:off x="4373333" y="3251226"/>
              <a:ext cx="749583" cy="134517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marL="0" marR="0" lvl="0" indent="0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700" i="1">
                  <a:solidFill>
                    <a:srgbClr val="34342B"/>
                  </a:solidFill>
                </a:rPr>
                <a:t>Prazo de validação</a:t>
              </a:r>
              <a:endParaRPr kumimoji="0" lang="en-GB" sz="700" b="0" i="1" u="none" strike="noStrike" kern="1200" cap="none" spc="0" normalizeH="0" baseline="0" noProof="0">
                <a:ln>
                  <a:noFill/>
                </a:ln>
                <a:solidFill>
                  <a:srgbClr val="34342B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C02E1C55-6FFE-2572-BD6F-7194A1371EC6}"/>
              </a:ext>
            </a:extLst>
          </p:cNvPr>
          <p:cNvGrpSpPr/>
          <p:nvPr/>
        </p:nvGrpSpPr>
        <p:grpSpPr>
          <a:xfrm>
            <a:off x="10344519" y="5847089"/>
            <a:ext cx="870135" cy="151133"/>
            <a:chOff x="4373333" y="3234610"/>
            <a:chExt cx="870135" cy="151133"/>
          </a:xfrm>
        </p:grpSpPr>
        <p:sp>
          <p:nvSpPr>
            <p:cNvPr id="290" name="Diamond 289">
              <a:extLst>
                <a:ext uri="{FF2B5EF4-FFF2-40B4-BE49-F238E27FC236}">
                  <a16:creationId xmlns:a16="http://schemas.microsoft.com/office/drawing/2014/main" id="{81CAA482-CCB9-30B6-FB25-026650385EF2}"/>
                </a:ext>
              </a:extLst>
            </p:cNvPr>
            <p:cNvSpPr/>
            <p:nvPr/>
          </p:nvSpPr>
          <p:spPr>
            <a:xfrm>
              <a:off x="5099468" y="3234610"/>
              <a:ext cx="144000" cy="144000"/>
            </a:xfrm>
            <a:prstGeom prst="diamond">
              <a:avLst/>
            </a:prstGeom>
            <a:solidFill>
              <a:srgbClr val="40749B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PT" sz="700">
                <a:solidFill>
                  <a:srgbClr val="575756"/>
                </a:solidFill>
              </a:endParaRPr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8792574B-F4A9-2E60-F8B1-1839DB4015DF}"/>
                </a:ext>
              </a:extLst>
            </p:cNvPr>
            <p:cNvSpPr/>
            <p:nvPr/>
          </p:nvSpPr>
          <p:spPr>
            <a:xfrm>
              <a:off x="4373333" y="3251226"/>
              <a:ext cx="749583" cy="134517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marL="0" marR="0" lvl="0" indent="0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700" i="1">
                  <a:solidFill>
                    <a:srgbClr val="34342B"/>
                  </a:solidFill>
                </a:rPr>
                <a:t>Prazo de validação</a:t>
              </a:r>
              <a:endParaRPr kumimoji="0" lang="en-GB" sz="700" b="0" i="1" u="none" strike="noStrike" kern="1200" cap="none" spc="0" normalizeH="0" baseline="0" noProof="0">
                <a:ln>
                  <a:noFill/>
                </a:ln>
                <a:solidFill>
                  <a:srgbClr val="34342B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A4EE7242-E618-EECC-5AED-300B9BB09BA3}"/>
              </a:ext>
            </a:extLst>
          </p:cNvPr>
          <p:cNvGrpSpPr/>
          <p:nvPr/>
        </p:nvGrpSpPr>
        <p:grpSpPr>
          <a:xfrm>
            <a:off x="9224692" y="5703335"/>
            <a:ext cx="870135" cy="151133"/>
            <a:chOff x="4373333" y="3234610"/>
            <a:chExt cx="870135" cy="151133"/>
          </a:xfrm>
        </p:grpSpPr>
        <p:sp>
          <p:nvSpPr>
            <p:cNvPr id="293" name="Diamond 292">
              <a:extLst>
                <a:ext uri="{FF2B5EF4-FFF2-40B4-BE49-F238E27FC236}">
                  <a16:creationId xmlns:a16="http://schemas.microsoft.com/office/drawing/2014/main" id="{B0F1EE32-8900-8879-A170-091254E07910}"/>
                </a:ext>
              </a:extLst>
            </p:cNvPr>
            <p:cNvSpPr/>
            <p:nvPr/>
          </p:nvSpPr>
          <p:spPr>
            <a:xfrm>
              <a:off x="5099468" y="3234610"/>
              <a:ext cx="144000" cy="144000"/>
            </a:xfrm>
            <a:prstGeom prst="diamond">
              <a:avLst/>
            </a:prstGeom>
            <a:solidFill>
              <a:srgbClr val="40749B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PT" sz="700">
                <a:solidFill>
                  <a:srgbClr val="575756"/>
                </a:solidFill>
              </a:endParaRPr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75CD9F0D-520F-054B-2850-B96F08A735AE}"/>
                </a:ext>
              </a:extLst>
            </p:cNvPr>
            <p:cNvSpPr/>
            <p:nvPr/>
          </p:nvSpPr>
          <p:spPr>
            <a:xfrm>
              <a:off x="4373333" y="3251226"/>
              <a:ext cx="749583" cy="134517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marL="0" marR="0" lvl="0" indent="0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700" i="1">
                  <a:solidFill>
                    <a:srgbClr val="34342B"/>
                  </a:solidFill>
                </a:rPr>
                <a:t>Prazo de validação</a:t>
              </a:r>
              <a:endParaRPr kumimoji="0" lang="en-GB" sz="700" b="0" i="1" u="none" strike="noStrike" kern="1200" cap="none" spc="0" normalizeH="0" baseline="0" noProof="0">
                <a:ln>
                  <a:noFill/>
                </a:ln>
                <a:solidFill>
                  <a:srgbClr val="34342B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553FE860-5B87-2D64-C936-62727B3F75BF}"/>
              </a:ext>
            </a:extLst>
          </p:cNvPr>
          <p:cNvGrpSpPr/>
          <p:nvPr/>
        </p:nvGrpSpPr>
        <p:grpSpPr>
          <a:xfrm>
            <a:off x="8104866" y="5559581"/>
            <a:ext cx="870135" cy="151133"/>
            <a:chOff x="4373333" y="3234610"/>
            <a:chExt cx="870135" cy="151133"/>
          </a:xfrm>
        </p:grpSpPr>
        <p:sp>
          <p:nvSpPr>
            <p:cNvPr id="296" name="Diamond 295">
              <a:extLst>
                <a:ext uri="{FF2B5EF4-FFF2-40B4-BE49-F238E27FC236}">
                  <a16:creationId xmlns:a16="http://schemas.microsoft.com/office/drawing/2014/main" id="{86E4C44C-597E-A186-87D2-52D3CA904F62}"/>
                </a:ext>
              </a:extLst>
            </p:cNvPr>
            <p:cNvSpPr/>
            <p:nvPr/>
          </p:nvSpPr>
          <p:spPr>
            <a:xfrm>
              <a:off x="5099468" y="3234610"/>
              <a:ext cx="144000" cy="144000"/>
            </a:xfrm>
            <a:prstGeom prst="diamond">
              <a:avLst/>
            </a:prstGeom>
            <a:solidFill>
              <a:srgbClr val="40749B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PT" sz="700">
                <a:solidFill>
                  <a:srgbClr val="575756"/>
                </a:solidFill>
              </a:endParaRPr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EF4A74EF-97DB-4161-6A8E-8C92FD153E6B}"/>
                </a:ext>
              </a:extLst>
            </p:cNvPr>
            <p:cNvSpPr/>
            <p:nvPr/>
          </p:nvSpPr>
          <p:spPr>
            <a:xfrm>
              <a:off x="4373333" y="3251226"/>
              <a:ext cx="749583" cy="134517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marL="0" marR="0" lvl="0" indent="0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700" i="1">
                  <a:solidFill>
                    <a:srgbClr val="34342B"/>
                  </a:solidFill>
                </a:rPr>
                <a:t>Prazo de validação</a:t>
              </a:r>
              <a:endParaRPr kumimoji="0" lang="en-GB" sz="700" b="0" i="1" u="none" strike="noStrike" kern="1200" cap="none" spc="0" normalizeH="0" baseline="0" noProof="0">
                <a:ln>
                  <a:noFill/>
                </a:ln>
                <a:solidFill>
                  <a:srgbClr val="34342B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6AD05301-418A-C104-DDA8-FA7B47FF8D49}"/>
              </a:ext>
            </a:extLst>
          </p:cNvPr>
          <p:cNvGrpSpPr/>
          <p:nvPr/>
        </p:nvGrpSpPr>
        <p:grpSpPr>
          <a:xfrm>
            <a:off x="6985040" y="5415827"/>
            <a:ext cx="870135" cy="151133"/>
            <a:chOff x="4373333" y="3234610"/>
            <a:chExt cx="870135" cy="151133"/>
          </a:xfrm>
        </p:grpSpPr>
        <p:sp>
          <p:nvSpPr>
            <p:cNvPr id="299" name="Diamond 298">
              <a:extLst>
                <a:ext uri="{FF2B5EF4-FFF2-40B4-BE49-F238E27FC236}">
                  <a16:creationId xmlns:a16="http://schemas.microsoft.com/office/drawing/2014/main" id="{888001B4-58EF-0E46-A937-2E25BCECA11C}"/>
                </a:ext>
              </a:extLst>
            </p:cNvPr>
            <p:cNvSpPr/>
            <p:nvPr/>
          </p:nvSpPr>
          <p:spPr>
            <a:xfrm>
              <a:off x="5099468" y="3234610"/>
              <a:ext cx="144000" cy="144000"/>
            </a:xfrm>
            <a:prstGeom prst="diamond">
              <a:avLst/>
            </a:prstGeom>
            <a:solidFill>
              <a:srgbClr val="40749B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PT" sz="700">
                <a:solidFill>
                  <a:srgbClr val="575756"/>
                </a:solidFill>
              </a:endParaRPr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DC519DDB-CB35-1BC3-C3E7-7DBEAA567559}"/>
                </a:ext>
              </a:extLst>
            </p:cNvPr>
            <p:cNvSpPr/>
            <p:nvPr/>
          </p:nvSpPr>
          <p:spPr>
            <a:xfrm>
              <a:off x="4373333" y="3251226"/>
              <a:ext cx="749583" cy="134517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marL="0" marR="0" lvl="0" indent="0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700" i="1">
                  <a:solidFill>
                    <a:srgbClr val="34342B"/>
                  </a:solidFill>
                </a:rPr>
                <a:t>Prazo de validação</a:t>
              </a:r>
              <a:endParaRPr kumimoji="0" lang="en-GB" sz="700" b="0" i="1" u="none" strike="noStrike" kern="1200" cap="none" spc="0" normalizeH="0" baseline="0" noProof="0">
                <a:ln>
                  <a:noFill/>
                </a:ln>
                <a:solidFill>
                  <a:srgbClr val="34342B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3DEEE6CD-395A-161B-CFCE-31EE06FFFB1A}"/>
              </a:ext>
            </a:extLst>
          </p:cNvPr>
          <p:cNvGrpSpPr/>
          <p:nvPr/>
        </p:nvGrpSpPr>
        <p:grpSpPr>
          <a:xfrm>
            <a:off x="5865214" y="5272073"/>
            <a:ext cx="870135" cy="151133"/>
            <a:chOff x="4373333" y="3234610"/>
            <a:chExt cx="870135" cy="151133"/>
          </a:xfrm>
        </p:grpSpPr>
        <p:sp>
          <p:nvSpPr>
            <p:cNvPr id="302" name="Diamond 301">
              <a:extLst>
                <a:ext uri="{FF2B5EF4-FFF2-40B4-BE49-F238E27FC236}">
                  <a16:creationId xmlns:a16="http://schemas.microsoft.com/office/drawing/2014/main" id="{741C3D51-EB82-6D5E-C6B5-BBF94C120797}"/>
                </a:ext>
              </a:extLst>
            </p:cNvPr>
            <p:cNvSpPr/>
            <p:nvPr/>
          </p:nvSpPr>
          <p:spPr>
            <a:xfrm>
              <a:off x="5099468" y="3234610"/>
              <a:ext cx="144000" cy="144000"/>
            </a:xfrm>
            <a:prstGeom prst="diamond">
              <a:avLst/>
            </a:prstGeom>
            <a:solidFill>
              <a:srgbClr val="40749B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PT" sz="700">
                <a:solidFill>
                  <a:srgbClr val="575756"/>
                </a:solidFill>
              </a:endParaRPr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53CB674C-A7B0-2FCD-5456-AC27F82C7F9A}"/>
                </a:ext>
              </a:extLst>
            </p:cNvPr>
            <p:cNvSpPr/>
            <p:nvPr/>
          </p:nvSpPr>
          <p:spPr>
            <a:xfrm>
              <a:off x="4373333" y="3251226"/>
              <a:ext cx="749583" cy="134517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marL="0" marR="0" lvl="0" indent="0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700" i="1">
                  <a:solidFill>
                    <a:srgbClr val="34342B"/>
                  </a:solidFill>
                </a:rPr>
                <a:t>Prazo de validação</a:t>
              </a:r>
              <a:endParaRPr kumimoji="0" lang="en-GB" sz="700" b="0" i="1" u="none" strike="noStrike" kern="1200" cap="none" spc="0" normalizeH="0" baseline="0" noProof="0">
                <a:ln>
                  <a:noFill/>
                </a:ln>
                <a:solidFill>
                  <a:srgbClr val="34342B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30" name="Arrow: Pentagon 29">
            <a:extLst>
              <a:ext uri="{FF2B5EF4-FFF2-40B4-BE49-F238E27FC236}">
                <a16:creationId xmlns:a16="http://schemas.microsoft.com/office/drawing/2014/main" id="{CF77C79E-EBEB-194C-E615-767B71B3382F}"/>
              </a:ext>
            </a:extLst>
          </p:cNvPr>
          <p:cNvSpPr/>
          <p:nvPr/>
        </p:nvSpPr>
        <p:spPr>
          <a:xfrm>
            <a:off x="489055" y="1671903"/>
            <a:ext cx="2047603" cy="198000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7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Configuração</a:t>
            </a:r>
          </a:p>
        </p:txBody>
      </p:sp>
      <p:sp>
        <p:nvSpPr>
          <p:cNvPr id="304" name="Arrow: Pentagon 303">
            <a:extLst>
              <a:ext uri="{FF2B5EF4-FFF2-40B4-BE49-F238E27FC236}">
                <a16:creationId xmlns:a16="http://schemas.microsoft.com/office/drawing/2014/main" id="{62E5B5F4-2CFF-C7EF-8647-E73059029877}"/>
              </a:ext>
            </a:extLst>
          </p:cNvPr>
          <p:cNvSpPr/>
          <p:nvPr/>
        </p:nvSpPr>
        <p:spPr>
          <a:xfrm>
            <a:off x="489055" y="1926716"/>
            <a:ext cx="819748" cy="198000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700" b="1" i="0" u="none" strike="noStrike" kern="1200" cap="none" spc="0" normalizeH="0" baseline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Mob</a:t>
            </a:r>
            <a:r>
              <a:rPr kumimoji="0" lang="pt-PT" sz="7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. da Equipa</a:t>
            </a:r>
          </a:p>
        </p:txBody>
      </p:sp>
      <p:sp>
        <p:nvSpPr>
          <p:cNvPr id="305" name="Arrow: Pentagon 304">
            <a:extLst>
              <a:ext uri="{FF2B5EF4-FFF2-40B4-BE49-F238E27FC236}">
                <a16:creationId xmlns:a16="http://schemas.microsoft.com/office/drawing/2014/main" id="{2EBE0EA6-9A5B-2D68-1C8D-9434ACFA4C6D}"/>
              </a:ext>
            </a:extLst>
          </p:cNvPr>
          <p:cNvSpPr/>
          <p:nvPr/>
        </p:nvSpPr>
        <p:spPr>
          <a:xfrm>
            <a:off x="965296" y="2190429"/>
            <a:ext cx="727485" cy="198000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7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Cadência &amp; Rep.</a:t>
            </a:r>
          </a:p>
        </p:txBody>
      </p:sp>
      <p:sp>
        <p:nvSpPr>
          <p:cNvPr id="306" name="Arrow: Pentagon 305">
            <a:extLst>
              <a:ext uri="{FF2B5EF4-FFF2-40B4-BE49-F238E27FC236}">
                <a16:creationId xmlns:a16="http://schemas.microsoft.com/office/drawing/2014/main" id="{9DE66D4E-687D-70A9-61A5-1AFE86DC29ED}"/>
              </a:ext>
            </a:extLst>
          </p:cNvPr>
          <p:cNvSpPr/>
          <p:nvPr/>
        </p:nvSpPr>
        <p:spPr>
          <a:xfrm>
            <a:off x="1704096" y="2470228"/>
            <a:ext cx="727485" cy="198000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7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Prep. </a:t>
            </a:r>
            <a:r>
              <a:rPr kumimoji="0" lang="pt-PT" sz="700" b="1" i="1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Templates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E7B3324-B17D-C66F-0669-08813E1F5B58}"/>
              </a:ext>
            </a:extLst>
          </p:cNvPr>
          <p:cNvGrpSpPr/>
          <p:nvPr/>
        </p:nvGrpSpPr>
        <p:grpSpPr>
          <a:xfrm>
            <a:off x="4797641" y="1680988"/>
            <a:ext cx="1118805" cy="4685878"/>
            <a:chOff x="2932193" y="1742532"/>
            <a:chExt cx="1118805" cy="4685878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D309F4D-1F50-6225-4018-4C862DFCD8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32193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4F55FF0-F847-926E-9DAA-B3781AD2E1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05128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EE18904-CAD6-78E5-F64A-5626059DBF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78063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B875C73-156A-B7D1-2E28-580D48A739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0998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F0C3B00-CCD6-CE3F-8D21-7B6F10D6EDA4}"/>
              </a:ext>
            </a:extLst>
          </p:cNvPr>
          <p:cNvGrpSpPr/>
          <p:nvPr/>
        </p:nvGrpSpPr>
        <p:grpSpPr>
          <a:xfrm>
            <a:off x="6196455" y="1686901"/>
            <a:ext cx="1389678" cy="993550"/>
            <a:chOff x="1650838" y="1660525"/>
            <a:chExt cx="1389678" cy="993550"/>
          </a:xfrm>
        </p:grpSpPr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C799D400-1CAC-89A9-2BE5-92562FC68D4C}"/>
                </a:ext>
              </a:extLst>
            </p:cNvPr>
            <p:cNvCxnSpPr>
              <a:cxnSpLocks/>
              <a:endCxn id="113" idx="0"/>
            </p:cNvCxnSpPr>
            <p:nvPr/>
          </p:nvCxnSpPr>
          <p:spPr>
            <a:xfrm>
              <a:off x="1720158" y="1660525"/>
              <a:ext cx="2680" cy="68888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Diamond 112">
              <a:extLst>
                <a:ext uri="{FF2B5EF4-FFF2-40B4-BE49-F238E27FC236}">
                  <a16:creationId xmlns:a16="http://schemas.microsoft.com/office/drawing/2014/main" id="{B63F1FB2-C5B8-C8D0-8747-8BA5528228C4}"/>
                </a:ext>
              </a:extLst>
            </p:cNvPr>
            <p:cNvSpPr/>
            <p:nvPr/>
          </p:nvSpPr>
          <p:spPr>
            <a:xfrm>
              <a:off x="1650838" y="2349405"/>
              <a:ext cx="144000" cy="144000"/>
            </a:xfrm>
            <a:prstGeom prst="diamond">
              <a:avLst/>
            </a:prstGeom>
            <a:solidFill>
              <a:srgbClr val="40749B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PT" sz="700">
                <a:solidFill>
                  <a:srgbClr val="575756"/>
                </a:solidFill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BEC5AF0A-244D-30BB-C8B3-C9E6F75EFEB1}"/>
                </a:ext>
              </a:extLst>
            </p:cNvPr>
            <p:cNvSpPr/>
            <p:nvPr/>
          </p:nvSpPr>
          <p:spPr>
            <a:xfrm>
              <a:off x="1829049" y="2151262"/>
              <a:ext cx="1211467" cy="5028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marL="0" marR="0" lvl="0" indent="0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800" i="1">
                  <a:solidFill>
                    <a:srgbClr val="34342B"/>
                  </a:solidFill>
                </a:rPr>
                <a:t>Comunicar Estratégia de SC (19 de Julho) para iniciar com o embedment de planeamento em 26 de Julho</a:t>
              </a:r>
              <a:endParaRPr kumimoji="0" lang="en-GB" sz="800" b="0" i="1" u="none" strike="noStrike" kern="1200" cap="none" spc="0" normalizeH="0" baseline="0" noProof="0">
                <a:ln>
                  <a:noFill/>
                </a:ln>
                <a:solidFill>
                  <a:srgbClr val="34342B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317" name="Arrow: Pentagon 316">
            <a:extLst>
              <a:ext uri="{FF2B5EF4-FFF2-40B4-BE49-F238E27FC236}">
                <a16:creationId xmlns:a16="http://schemas.microsoft.com/office/drawing/2014/main" id="{D8C76089-BC04-C123-E3BE-ACAC43D4A7FB}"/>
              </a:ext>
            </a:extLst>
          </p:cNvPr>
          <p:cNvSpPr/>
          <p:nvPr/>
        </p:nvSpPr>
        <p:spPr>
          <a:xfrm>
            <a:off x="2555713" y="1926716"/>
            <a:ext cx="1115944" cy="198000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7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Planeamento </a:t>
            </a:r>
            <a:r>
              <a:rPr kumimoji="0" lang="pt-PT" sz="700" b="1" i="1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KS</a:t>
            </a:r>
          </a:p>
        </p:txBody>
      </p: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4DB71D1C-C003-2BC8-EE13-29947ADD0BF5}"/>
              </a:ext>
            </a:extLst>
          </p:cNvPr>
          <p:cNvGrpSpPr/>
          <p:nvPr/>
        </p:nvGrpSpPr>
        <p:grpSpPr>
          <a:xfrm>
            <a:off x="2549769" y="1671903"/>
            <a:ext cx="9338637" cy="215584"/>
            <a:chOff x="636759" y="1645527"/>
            <a:chExt cx="11251648" cy="215584"/>
          </a:xfrm>
        </p:grpSpPr>
        <p:sp>
          <p:nvSpPr>
            <p:cNvPr id="251" name="Arrow: Pentagon 250">
              <a:extLst>
                <a:ext uri="{FF2B5EF4-FFF2-40B4-BE49-F238E27FC236}">
                  <a16:creationId xmlns:a16="http://schemas.microsoft.com/office/drawing/2014/main" id="{F9B84D92-4562-E372-799A-032D795A9B82}"/>
                </a:ext>
              </a:extLst>
            </p:cNvPr>
            <p:cNvSpPr/>
            <p:nvPr/>
          </p:nvSpPr>
          <p:spPr>
            <a:xfrm>
              <a:off x="636759" y="1663111"/>
              <a:ext cx="11251648" cy="198000"/>
            </a:xfrm>
            <a:prstGeom prst="homePlate">
              <a:avLst/>
            </a:prstGeom>
            <a:gradFill>
              <a:gsLst>
                <a:gs pos="0">
                  <a:srgbClr val="7F7F7F"/>
                </a:gs>
                <a:gs pos="50000">
                  <a:srgbClr val="7F7F7F"/>
                </a:gs>
                <a:gs pos="51000">
                  <a:schemeClr val="bg2">
                    <a:lumMod val="90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7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0325E38C-CDBF-87F9-35DF-D537BD95D467}"/>
                </a:ext>
              </a:extLst>
            </p:cNvPr>
            <p:cNvSpPr/>
            <p:nvPr/>
          </p:nvSpPr>
          <p:spPr>
            <a:xfrm>
              <a:off x="5340228" y="1645527"/>
              <a:ext cx="1621262" cy="1412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900" b="1">
                  <a:solidFill>
                    <a:schemeClr val="bg1"/>
                  </a:solidFill>
                </a:rPr>
                <a:t>PMO + Embedment</a:t>
              </a:r>
            </a:p>
          </p:txBody>
        </p:sp>
      </p:grpSp>
      <p:sp>
        <p:nvSpPr>
          <p:cNvPr id="319" name="Arrow: Pentagon 318">
            <a:extLst>
              <a:ext uri="{FF2B5EF4-FFF2-40B4-BE49-F238E27FC236}">
                <a16:creationId xmlns:a16="http://schemas.microsoft.com/office/drawing/2014/main" id="{58D29C47-C0D9-BFFC-4D11-C7F45E7FC954}"/>
              </a:ext>
            </a:extLst>
          </p:cNvPr>
          <p:cNvSpPr/>
          <p:nvPr/>
        </p:nvSpPr>
        <p:spPr>
          <a:xfrm>
            <a:off x="3302159" y="2190429"/>
            <a:ext cx="1115944" cy="198000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7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Plano de Comunicação Estratégica de </a:t>
            </a:r>
            <a:r>
              <a:rPr kumimoji="0" lang="pt-PT" sz="700" b="1" i="1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SC</a:t>
            </a:r>
          </a:p>
        </p:txBody>
      </p:sp>
      <p:sp>
        <p:nvSpPr>
          <p:cNvPr id="320" name="Arrow: Pentagon 319">
            <a:extLst>
              <a:ext uri="{FF2B5EF4-FFF2-40B4-BE49-F238E27FC236}">
                <a16:creationId xmlns:a16="http://schemas.microsoft.com/office/drawing/2014/main" id="{1AA44619-1526-1D20-4B06-B2769F4B62C1}"/>
              </a:ext>
            </a:extLst>
          </p:cNvPr>
          <p:cNvSpPr/>
          <p:nvPr/>
        </p:nvSpPr>
        <p:spPr>
          <a:xfrm>
            <a:off x="3301708" y="2665322"/>
            <a:ext cx="8575509" cy="187200"/>
          </a:xfrm>
          <a:prstGeom prst="homePlate">
            <a:avLst/>
          </a:prstGeom>
          <a:solidFill>
            <a:srgbClr val="7EA9CA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700" b="1">
                <a:solidFill>
                  <a:schemeClr val="bg1"/>
                </a:solidFill>
              </a:rPr>
              <a:t>E</a:t>
            </a:r>
            <a:r>
              <a:rPr kumimoji="0" lang="pt-PT" sz="7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mbedment do modelo operacional + recomendações de outros WP</a:t>
            </a:r>
          </a:p>
        </p:txBody>
      </p:sp>
      <p:sp>
        <p:nvSpPr>
          <p:cNvPr id="23" name="Diamond 22">
            <a:extLst>
              <a:ext uri="{FF2B5EF4-FFF2-40B4-BE49-F238E27FC236}">
                <a16:creationId xmlns:a16="http://schemas.microsoft.com/office/drawing/2014/main" id="{FE7D9135-599F-F2B3-11DB-A7EAFDAAC708}"/>
              </a:ext>
            </a:extLst>
          </p:cNvPr>
          <p:cNvSpPr/>
          <p:nvPr/>
        </p:nvSpPr>
        <p:spPr>
          <a:xfrm>
            <a:off x="4342019" y="1926716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26" name="Diamond 25">
            <a:extLst>
              <a:ext uri="{FF2B5EF4-FFF2-40B4-BE49-F238E27FC236}">
                <a16:creationId xmlns:a16="http://schemas.microsoft.com/office/drawing/2014/main" id="{A847DEE9-7115-141A-BB0F-43CBC05FE8A8}"/>
              </a:ext>
            </a:extLst>
          </p:cNvPr>
          <p:cNvSpPr/>
          <p:nvPr/>
        </p:nvSpPr>
        <p:spPr>
          <a:xfrm>
            <a:off x="6207639" y="1929470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27" name="Diamond 26">
            <a:extLst>
              <a:ext uri="{FF2B5EF4-FFF2-40B4-BE49-F238E27FC236}">
                <a16:creationId xmlns:a16="http://schemas.microsoft.com/office/drawing/2014/main" id="{057DA5B2-A93A-5B93-0EE4-6A6549E5F79B}"/>
              </a:ext>
            </a:extLst>
          </p:cNvPr>
          <p:cNvSpPr/>
          <p:nvPr/>
        </p:nvSpPr>
        <p:spPr>
          <a:xfrm>
            <a:off x="8075123" y="1922574"/>
            <a:ext cx="144000" cy="144000"/>
          </a:xfrm>
          <a:prstGeom prst="diamond">
            <a:avLst/>
          </a:prstGeom>
          <a:solidFill>
            <a:schemeClr val="accent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0CDF51A1-6E85-46F5-9617-3021C894A0DA}"/>
              </a:ext>
            </a:extLst>
          </p:cNvPr>
          <p:cNvSpPr/>
          <p:nvPr/>
        </p:nvSpPr>
        <p:spPr>
          <a:xfrm>
            <a:off x="9943942" y="1932477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DB77973-AC69-3573-D2BC-AEB9FB1C5594}"/>
              </a:ext>
            </a:extLst>
          </p:cNvPr>
          <p:cNvGrpSpPr/>
          <p:nvPr/>
        </p:nvGrpSpPr>
        <p:grpSpPr>
          <a:xfrm>
            <a:off x="4075417" y="6435775"/>
            <a:ext cx="5530019" cy="216000"/>
            <a:chOff x="4075417" y="6435775"/>
            <a:chExt cx="5530019" cy="216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C8842B0-A9B6-3C61-645B-76C2241ED080}"/>
                </a:ext>
              </a:extLst>
            </p:cNvPr>
            <p:cNvSpPr/>
            <p:nvPr/>
          </p:nvSpPr>
          <p:spPr>
            <a:xfrm>
              <a:off x="4075417" y="6480815"/>
              <a:ext cx="668785" cy="11855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900" b="1">
                  <a:solidFill>
                    <a:schemeClr val="tx1"/>
                  </a:solidFill>
                </a:rPr>
                <a:t>Legenda :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2D94A72-5FEF-55E4-5825-01BF4741BFB8}"/>
                </a:ext>
              </a:extLst>
            </p:cNvPr>
            <p:cNvSpPr/>
            <p:nvPr/>
          </p:nvSpPr>
          <p:spPr>
            <a:xfrm>
              <a:off x="4808325" y="6480815"/>
              <a:ext cx="1825792" cy="1259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900" i="1">
                  <a:solidFill>
                    <a:schemeClr val="tx1"/>
                  </a:solidFill>
                </a:rPr>
                <a:t>SteerCo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570E273-1E3A-9A2D-667A-98C3C386048C}"/>
                </a:ext>
              </a:extLst>
            </p:cNvPr>
            <p:cNvSpPr/>
            <p:nvPr/>
          </p:nvSpPr>
          <p:spPr>
            <a:xfrm>
              <a:off x="5455759" y="6480815"/>
              <a:ext cx="1610113" cy="1259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900" i="1">
                  <a:solidFill>
                    <a:schemeClr val="tx1"/>
                  </a:solidFill>
                </a:rPr>
                <a:t>Milestones</a:t>
              </a:r>
            </a:p>
          </p:txBody>
        </p:sp>
        <p:sp>
          <p:nvSpPr>
            <p:cNvPr id="53" name="Diamond 52">
              <a:extLst>
                <a:ext uri="{FF2B5EF4-FFF2-40B4-BE49-F238E27FC236}">
                  <a16:creationId xmlns:a16="http://schemas.microsoft.com/office/drawing/2014/main" id="{2970D399-2583-0B2B-C42F-3079CF9F12F9}"/>
                </a:ext>
              </a:extLst>
            </p:cNvPr>
            <p:cNvSpPr/>
            <p:nvPr/>
          </p:nvSpPr>
          <p:spPr>
            <a:xfrm>
              <a:off x="4671184" y="6435775"/>
              <a:ext cx="216000" cy="216000"/>
            </a:xfrm>
            <a:prstGeom prst="diamond">
              <a:avLst/>
            </a:prstGeom>
            <a:solidFill>
              <a:schemeClr val="accent2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PT" sz="700">
                <a:solidFill>
                  <a:srgbClr val="575756"/>
                </a:solidFill>
              </a:endParaRPr>
            </a:p>
          </p:txBody>
        </p:sp>
        <p:sp>
          <p:nvSpPr>
            <p:cNvPr id="54" name="Diamond 53">
              <a:extLst>
                <a:ext uri="{FF2B5EF4-FFF2-40B4-BE49-F238E27FC236}">
                  <a16:creationId xmlns:a16="http://schemas.microsoft.com/office/drawing/2014/main" id="{F64D9E41-3B9A-D9C8-4303-622AEBCAD9AF}"/>
                </a:ext>
              </a:extLst>
            </p:cNvPr>
            <p:cNvSpPr/>
            <p:nvPr/>
          </p:nvSpPr>
          <p:spPr>
            <a:xfrm>
              <a:off x="5287867" y="6435775"/>
              <a:ext cx="216000" cy="216000"/>
            </a:xfrm>
            <a:prstGeom prst="diamond">
              <a:avLst/>
            </a:prstGeom>
            <a:solidFill>
              <a:srgbClr val="40749B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PT" sz="700">
                <a:solidFill>
                  <a:srgbClr val="575756"/>
                </a:solidFill>
              </a:endParaRP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F1EDC76B-E0E4-775C-C869-CC7EF26D89F2}"/>
                </a:ext>
              </a:extLst>
            </p:cNvPr>
            <p:cNvGrpSpPr/>
            <p:nvPr/>
          </p:nvGrpSpPr>
          <p:grpSpPr>
            <a:xfrm>
              <a:off x="7843076" y="6453775"/>
              <a:ext cx="1762360" cy="180000"/>
              <a:chOff x="6194899" y="6455685"/>
              <a:chExt cx="1762360" cy="180000"/>
            </a:xfrm>
          </p:grpSpPr>
          <p:sp>
            <p:nvSpPr>
              <p:cNvPr id="58" name="Star: 5 Points 57">
                <a:extLst>
                  <a:ext uri="{FF2B5EF4-FFF2-40B4-BE49-F238E27FC236}">
                    <a16:creationId xmlns:a16="http://schemas.microsoft.com/office/drawing/2014/main" id="{5AA8948B-122F-1C4B-3ADE-6EF1F75DA9ED}"/>
                  </a:ext>
                </a:extLst>
              </p:cNvPr>
              <p:cNvSpPr/>
              <p:nvPr/>
            </p:nvSpPr>
            <p:spPr>
              <a:xfrm>
                <a:off x="6194899" y="6455685"/>
                <a:ext cx="180000" cy="180000"/>
              </a:xfrm>
              <a:prstGeom prst="star5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A256D76B-6FD9-6014-0C21-48C3B7FA6FE5}"/>
                  </a:ext>
                </a:extLst>
              </p:cNvPr>
              <p:cNvSpPr/>
              <p:nvPr/>
            </p:nvSpPr>
            <p:spPr>
              <a:xfrm>
                <a:off x="6347146" y="6482725"/>
                <a:ext cx="1610113" cy="1259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PT" sz="900">
                    <a:solidFill>
                      <a:schemeClr val="tx1"/>
                    </a:solidFill>
                  </a:rPr>
                  <a:t>Participação da EDM</a:t>
                </a:r>
              </a:p>
            </p:txBody>
          </p:sp>
        </p:grp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2473A40-487B-DD4F-DCC7-F03A508837C0}"/>
                </a:ext>
              </a:extLst>
            </p:cNvPr>
            <p:cNvSpPr/>
            <p:nvPr/>
          </p:nvSpPr>
          <p:spPr>
            <a:xfrm>
              <a:off x="6260504" y="6480815"/>
              <a:ext cx="2193398" cy="11855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900">
                  <a:solidFill>
                    <a:schemeClr val="tx1"/>
                  </a:solidFill>
                </a:rPr>
                <a:t>Reunião de </a:t>
              </a:r>
              <a:r>
                <a:rPr lang="pt-PT" sz="900" i="1">
                  <a:solidFill>
                    <a:schemeClr val="tx1"/>
                  </a:solidFill>
                </a:rPr>
                <a:t>Status</a:t>
              </a:r>
              <a:r>
                <a:rPr lang="pt-PT" sz="900">
                  <a:solidFill>
                    <a:schemeClr val="tx1"/>
                  </a:solidFill>
                </a:rPr>
                <a:t> do Projeto</a:t>
              </a:r>
            </a:p>
          </p:txBody>
        </p:sp>
        <p:sp>
          <p:nvSpPr>
            <p:cNvPr id="57" name="Diamond 56">
              <a:extLst>
                <a:ext uri="{FF2B5EF4-FFF2-40B4-BE49-F238E27FC236}">
                  <a16:creationId xmlns:a16="http://schemas.microsoft.com/office/drawing/2014/main" id="{BAD7AB27-3D59-3BD5-6321-C29845BA7E74}"/>
                </a:ext>
              </a:extLst>
            </p:cNvPr>
            <p:cNvSpPr/>
            <p:nvPr/>
          </p:nvSpPr>
          <p:spPr>
            <a:xfrm>
              <a:off x="6092612" y="6435775"/>
              <a:ext cx="216000" cy="216000"/>
            </a:xfrm>
            <a:prstGeom prst="diamond">
              <a:avLst/>
            </a:prstGeom>
            <a:solidFill>
              <a:schemeClr val="accent6">
                <a:lumMod val="75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PT" sz="700">
                <a:solidFill>
                  <a:srgbClr val="575756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7397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17679EF-5DE1-49A3-A136-13A798ED40C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17679EF-5DE1-49A3-A136-13A798ED40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5">
            <a:extLst>
              <a:ext uri="{FF2B5EF4-FFF2-40B4-BE49-F238E27FC236}">
                <a16:creationId xmlns:a16="http://schemas.microsoft.com/office/drawing/2014/main" id="{C6DF79F9-E963-44DE-83EF-A2821E7BA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23" y="349517"/>
            <a:ext cx="10698480" cy="420189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pt-PT" sz="2800" b="1">
                <a:ea typeface="Verdana"/>
              </a:rPr>
              <a:t>Replaneamento da Fase 1 &amp; 2 | </a:t>
            </a:r>
            <a:r>
              <a:rPr lang="pt-PT" sz="2800">
                <a:ea typeface="Verdana"/>
              </a:rPr>
              <a:t>Plano de 6 semanas (2/)</a:t>
            </a:r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131F0449-6E34-41A1-B16C-81401C10C2A5}"/>
              </a:ext>
            </a:extLst>
          </p:cNvPr>
          <p:cNvSpPr txBox="1">
            <a:spLocks/>
          </p:cNvSpPr>
          <p:nvPr/>
        </p:nvSpPr>
        <p:spPr>
          <a:xfrm>
            <a:off x="461822" y="769707"/>
            <a:ext cx="11426585" cy="7714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600">
                <a:ea typeface="Verdana"/>
              </a:rPr>
              <a:t>Abaixo o plano detalhado para as primeiras 6 semanas, com foco na conclusão do </a:t>
            </a:r>
            <a:r>
              <a:rPr lang="pt-PT" sz="1600" i="1">
                <a:ea typeface="Verdana"/>
              </a:rPr>
              <a:t>embedment</a:t>
            </a:r>
            <a:r>
              <a:rPr lang="pt-PT" sz="1600">
                <a:ea typeface="Verdana"/>
              </a:rPr>
              <a:t> do planeamento de procurement, com data de término prevista para o dia 9 de Agosto, seguido por uma paragem do projeto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5864AC-D71B-1EF5-E415-92F3A668D2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628805"/>
              </p:ext>
            </p:extLst>
          </p:nvPr>
        </p:nvGraphicFramePr>
        <p:xfrm>
          <a:off x="303593" y="1346919"/>
          <a:ext cx="11584759" cy="4991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192">
                  <a:extLst>
                    <a:ext uri="{9D8B030D-6E8A-4147-A177-3AD203B41FA5}">
                      <a16:colId xmlns:a16="http://schemas.microsoft.com/office/drawing/2014/main" val="620005219"/>
                    </a:ext>
                  </a:extLst>
                </a:gridCol>
                <a:gridCol w="2083547">
                  <a:extLst>
                    <a:ext uri="{9D8B030D-6E8A-4147-A177-3AD203B41FA5}">
                      <a16:colId xmlns:a16="http://schemas.microsoft.com/office/drawing/2014/main" val="3619358262"/>
                    </a:ext>
                  </a:extLst>
                </a:gridCol>
                <a:gridCol w="1866004">
                  <a:extLst>
                    <a:ext uri="{9D8B030D-6E8A-4147-A177-3AD203B41FA5}">
                      <a16:colId xmlns:a16="http://schemas.microsoft.com/office/drawing/2014/main" val="2619770351"/>
                    </a:ext>
                  </a:extLst>
                </a:gridCol>
                <a:gridCol w="1866004">
                  <a:extLst>
                    <a:ext uri="{9D8B030D-6E8A-4147-A177-3AD203B41FA5}">
                      <a16:colId xmlns:a16="http://schemas.microsoft.com/office/drawing/2014/main" val="3166678203"/>
                    </a:ext>
                  </a:extLst>
                </a:gridCol>
                <a:gridCol w="1866004">
                  <a:extLst>
                    <a:ext uri="{9D8B030D-6E8A-4147-A177-3AD203B41FA5}">
                      <a16:colId xmlns:a16="http://schemas.microsoft.com/office/drawing/2014/main" val="2313141890"/>
                    </a:ext>
                  </a:extLst>
                </a:gridCol>
                <a:gridCol w="1866004">
                  <a:extLst>
                    <a:ext uri="{9D8B030D-6E8A-4147-A177-3AD203B41FA5}">
                      <a16:colId xmlns:a16="http://schemas.microsoft.com/office/drawing/2014/main" val="4165277009"/>
                    </a:ext>
                  </a:extLst>
                </a:gridCol>
                <a:gridCol w="1866004">
                  <a:extLst>
                    <a:ext uri="{9D8B030D-6E8A-4147-A177-3AD203B41FA5}">
                      <a16:colId xmlns:a16="http://schemas.microsoft.com/office/drawing/2014/main" val="3597230632"/>
                    </a:ext>
                  </a:extLst>
                </a:gridCol>
              </a:tblGrid>
              <a:tr h="336315"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noProof="0">
                          <a:latin typeface="+mn-lt"/>
                        </a:rPr>
                        <a:t>01/07</a:t>
                      </a:r>
                    </a:p>
                  </a:txBody>
                  <a:tcPr marL="36000" marR="36000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noProof="0">
                          <a:latin typeface="+mn-lt"/>
                        </a:rPr>
                        <a:t>08/07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noProof="0">
                          <a:latin typeface="+mn-lt"/>
                        </a:rPr>
                        <a:t>15/07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noProof="0">
                          <a:latin typeface="+mn-lt"/>
                        </a:rPr>
                        <a:t>22/07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noProof="0">
                          <a:latin typeface="+mn-lt"/>
                        </a:rPr>
                        <a:t>29/07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noProof="0">
                          <a:latin typeface="+mn-lt"/>
                        </a:rPr>
                        <a:t>05/08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843202"/>
                  </a:ext>
                </a:extLst>
              </a:tr>
              <a:tr h="892523">
                <a:tc rowSpan="2"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1" kern="1200" noProof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PMO</a:t>
                      </a:r>
                    </a:p>
                  </a:txBody>
                  <a:tcPr marL="72000" marR="72000" marT="72000" marB="72000" vert="vert27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058742"/>
                  </a:ext>
                </a:extLst>
              </a:tr>
              <a:tr h="307069">
                <a:tc vMerge="1"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1" kern="1200" noProof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Xxxxxx</a:t>
                      </a:r>
                      <a:endParaRPr lang="en-GB" sz="800" b="1" kern="1200" noProof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72000" marB="72000" vert="vert27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383101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WP7b</a:t>
                      </a:r>
                    </a:p>
                  </a:txBody>
                  <a:tcPr marL="72000" marR="72000" marT="36000" marB="36000" vert="vert27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833319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WP14b</a:t>
                      </a:r>
                    </a:p>
                  </a:txBody>
                  <a:tcPr marL="72000" marR="72000" marT="36000" marB="36000" vert="vert27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457033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WP16</a:t>
                      </a:r>
                    </a:p>
                  </a:txBody>
                  <a:tcPr marL="72000" marR="72000" marT="36000" marB="36000" vert="vert27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698563"/>
                  </a:ext>
                </a:extLst>
              </a:tr>
            </a:tbl>
          </a:graphicData>
        </a:graphic>
      </p:graphicFrame>
      <p:grpSp>
        <p:nvGrpSpPr>
          <p:cNvPr id="68" name="Group 67">
            <a:extLst>
              <a:ext uri="{FF2B5EF4-FFF2-40B4-BE49-F238E27FC236}">
                <a16:creationId xmlns:a16="http://schemas.microsoft.com/office/drawing/2014/main" id="{7B687C93-BD3A-570A-BCF4-6118E61F87FF}"/>
              </a:ext>
            </a:extLst>
          </p:cNvPr>
          <p:cNvGrpSpPr/>
          <p:nvPr/>
        </p:nvGrpSpPr>
        <p:grpSpPr>
          <a:xfrm>
            <a:off x="515036" y="1167018"/>
            <a:ext cx="9393895" cy="130770"/>
            <a:chOff x="515036" y="1167018"/>
            <a:chExt cx="9393895" cy="130770"/>
          </a:xfrm>
        </p:grpSpPr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5D8A01A5-C366-D5D4-8822-D70A403A913A}"/>
                </a:ext>
              </a:extLst>
            </p:cNvPr>
            <p:cNvCxnSpPr>
              <a:cxnSpLocks/>
            </p:cNvCxnSpPr>
            <p:nvPr/>
          </p:nvCxnSpPr>
          <p:spPr>
            <a:xfrm>
              <a:off x="515036" y="1232403"/>
              <a:ext cx="9393895" cy="0"/>
            </a:xfrm>
            <a:prstGeom prst="line">
              <a:avLst/>
            </a:prstGeom>
            <a:ln w="19050">
              <a:solidFill>
                <a:schemeClr val="accent5">
                  <a:lumMod val="50000"/>
                </a:schemeClr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47D68440-66D6-A1B8-17C4-92566C06D2E6}"/>
                </a:ext>
              </a:extLst>
            </p:cNvPr>
            <p:cNvSpPr/>
            <p:nvPr/>
          </p:nvSpPr>
          <p:spPr>
            <a:xfrm>
              <a:off x="4859211" y="1167018"/>
              <a:ext cx="705545" cy="1307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1" i="1" u="none" strike="noStrike" kern="1200" cap="none" spc="0" normalizeH="0" baseline="0">
                  <a:ln>
                    <a:noFill/>
                  </a:ln>
                  <a:solidFill>
                    <a:srgbClr val="4A4D4E"/>
                  </a:solidFill>
                  <a:effectLst/>
                  <a:uLnTx/>
                  <a:uFillTx/>
                  <a:ea typeface="+mn-ea"/>
                  <a:cs typeface="+mn-cs"/>
                </a:rPr>
                <a:t>Julho</a:t>
              </a:r>
            </a:p>
          </p:txBody>
        </p:sp>
      </p:grp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1855D8A7-8CCD-81CB-370D-8BFE7DB882C0}"/>
              </a:ext>
            </a:extLst>
          </p:cNvPr>
          <p:cNvCxnSpPr>
            <a:cxnSpLocks/>
          </p:cNvCxnSpPr>
          <p:nvPr/>
        </p:nvCxnSpPr>
        <p:spPr>
          <a:xfrm>
            <a:off x="10020112" y="1232403"/>
            <a:ext cx="1820454" cy="0"/>
          </a:xfrm>
          <a:prstGeom prst="line">
            <a:avLst/>
          </a:prstGeom>
          <a:ln w="19050">
            <a:solidFill>
              <a:schemeClr val="accent5">
                <a:lumMod val="5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FA782D-69E4-D3C9-A80C-9F635474BC85}"/>
              </a:ext>
            </a:extLst>
          </p:cNvPr>
          <p:cNvSpPr/>
          <p:nvPr/>
        </p:nvSpPr>
        <p:spPr>
          <a:xfrm>
            <a:off x="10445299" y="1167018"/>
            <a:ext cx="970081" cy="1307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1" u="none" strike="noStrike" kern="1200" cap="none" spc="0" normalizeH="0" baseline="0">
                <a:ln>
                  <a:noFill/>
                </a:ln>
                <a:solidFill>
                  <a:srgbClr val="4A4D4E"/>
                </a:solidFill>
                <a:effectLst/>
                <a:uLnTx/>
                <a:uFillTx/>
                <a:ea typeface="+mn-ea"/>
                <a:cs typeface="+mn-cs"/>
              </a:rPr>
              <a:t>Agosto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CAED0E5-DD06-B4A0-C935-5940AFDC3303}"/>
              </a:ext>
            </a:extLst>
          </p:cNvPr>
          <p:cNvGrpSpPr/>
          <p:nvPr/>
        </p:nvGrpSpPr>
        <p:grpSpPr>
          <a:xfrm>
            <a:off x="2932193" y="1680988"/>
            <a:ext cx="1118805" cy="4685878"/>
            <a:chOff x="2932193" y="1742532"/>
            <a:chExt cx="1118805" cy="4685878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C8B71DE-9432-52DC-DD93-17EE950698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32193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5748BD1-5AEF-8D6E-6D3B-6E3D7A7816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05128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2862FD3-93A6-7125-C4F8-966074F2C9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78063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2BEFE66-E58A-9F9C-3F21-3A2138B85F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0998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72F6CA4-A58A-2D63-A684-4A01F5B0D8EC}"/>
              </a:ext>
            </a:extLst>
          </p:cNvPr>
          <p:cNvGrpSpPr/>
          <p:nvPr/>
        </p:nvGrpSpPr>
        <p:grpSpPr>
          <a:xfrm>
            <a:off x="6663089" y="1680988"/>
            <a:ext cx="1118805" cy="4685878"/>
            <a:chOff x="2932193" y="1742532"/>
            <a:chExt cx="1118805" cy="4685878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350B4DF-BCB5-DC12-2281-F54F970172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32193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FF5732F-ECC8-0571-F6F5-CAE73C6C74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05128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A95D9D8-30FC-9CBC-0898-B822134CDD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78063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CCDBB22-F4ED-95AA-00AE-87AD37FA35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0998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C9F7BF2-1A5D-7315-B428-4DDCDE81D3CB}"/>
              </a:ext>
            </a:extLst>
          </p:cNvPr>
          <p:cNvGrpSpPr/>
          <p:nvPr/>
        </p:nvGrpSpPr>
        <p:grpSpPr>
          <a:xfrm>
            <a:off x="8528537" y="1680988"/>
            <a:ext cx="1118805" cy="4685878"/>
            <a:chOff x="2932193" y="1742532"/>
            <a:chExt cx="1118805" cy="4685878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A05878B-95B2-5981-6C29-2D516E093E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32193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7D805FF-1D5C-7033-F377-F23DF1F7CF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05128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4333B33-35B4-D05B-489B-BA058BE8FE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78063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0D4A914-F2E1-1DBE-396B-2D4FF2451A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0998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BD3C5BB-E190-6AEB-794C-127194B93732}"/>
              </a:ext>
            </a:extLst>
          </p:cNvPr>
          <p:cNvGrpSpPr/>
          <p:nvPr/>
        </p:nvGrpSpPr>
        <p:grpSpPr>
          <a:xfrm>
            <a:off x="10393984" y="1680988"/>
            <a:ext cx="1118805" cy="4685878"/>
            <a:chOff x="2932193" y="1742532"/>
            <a:chExt cx="1118805" cy="4685878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44CDC74-DDFF-F516-EEA6-A88EF72DEB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32193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A0C49A9-1B81-AF5B-B1D8-45D5089EDE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05128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7BD14EB8-FEDE-4EBF-9646-2F9A62D1D7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78063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9750A70-FB6F-6D06-5B67-46C16DD6C0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0998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F99DD06-6F2F-8574-6954-91EA577EA824}"/>
              </a:ext>
            </a:extLst>
          </p:cNvPr>
          <p:cNvGrpSpPr/>
          <p:nvPr/>
        </p:nvGrpSpPr>
        <p:grpSpPr>
          <a:xfrm>
            <a:off x="952693" y="1680988"/>
            <a:ext cx="1118805" cy="4685878"/>
            <a:chOff x="2932193" y="1742532"/>
            <a:chExt cx="1118805" cy="4685878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9BA0B20-2E5D-DBEE-9695-33F8A5B78B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32193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1C2E07E-35E5-E5FD-208A-BBC2B8CB76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05128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57746E19-8E38-5787-60C0-6D0BEBE98A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78063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5422DCF0-CAF8-33E5-1174-34ABC8F4EC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0998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Arrow: Pentagon 29">
            <a:extLst>
              <a:ext uri="{FF2B5EF4-FFF2-40B4-BE49-F238E27FC236}">
                <a16:creationId xmlns:a16="http://schemas.microsoft.com/office/drawing/2014/main" id="{CF77C79E-EBEB-194C-E615-767B71B3382F}"/>
              </a:ext>
            </a:extLst>
          </p:cNvPr>
          <p:cNvSpPr/>
          <p:nvPr/>
        </p:nvSpPr>
        <p:spPr>
          <a:xfrm>
            <a:off x="489055" y="1671903"/>
            <a:ext cx="2047603" cy="198000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7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Configuração</a:t>
            </a:r>
          </a:p>
        </p:txBody>
      </p:sp>
      <p:sp>
        <p:nvSpPr>
          <p:cNvPr id="304" name="Arrow: Pentagon 303">
            <a:extLst>
              <a:ext uri="{FF2B5EF4-FFF2-40B4-BE49-F238E27FC236}">
                <a16:creationId xmlns:a16="http://schemas.microsoft.com/office/drawing/2014/main" id="{62E5B5F4-2CFF-C7EF-8647-E73059029877}"/>
              </a:ext>
            </a:extLst>
          </p:cNvPr>
          <p:cNvSpPr/>
          <p:nvPr/>
        </p:nvSpPr>
        <p:spPr>
          <a:xfrm>
            <a:off x="489055" y="1926716"/>
            <a:ext cx="819748" cy="198000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700" b="1" i="0" u="none" strike="noStrike" kern="1200" cap="none" spc="0" normalizeH="0" baseline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Mob</a:t>
            </a:r>
            <a:r>
              <a:rPr kumimoji="0" lang="pt-PT" sz="7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. da Equipa</a:t>
            </a:r>
          </a:p>
        </p:txBody>
      </p:sp>
      <p:sp>
        <p:nvSpPr>
          <p:cNvPr id="305" name="Arrow: Pentagon 304">
            <a:extLst>
              <a:ext uri="{FF2B5EF4-FFF2-40B4-BE49-F238E27FC236}">
                <a16:creationId xmlns:a16="http://schemas.microsoft.com/office/drawing/2014/main" id="{2EBE0EA6-9A5B-2D68-1C8D-9434ACFA4C6D}"/>
              </a:ext>
            </a:extLst>
          </p:cNvPr>
          <p:cNvSpPr/>
          <p:nvPr/>
        </p:nvSpPr>
        <p:spPr>
          <a:xfrm>
            <a:off x="965296" y="2190429"/>
            <a:ext cx="727485" cy="198000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7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Cadência &amp; Rep.</a:t>
            </a:r>
          </a:p>
        </p:txBody>
      </p:sp>
      <p:sp>
        <p:nvSpPr>
          <p:cNvPr id="306" name="Arrow: Pentagon 305">
            <a:extLst>
              <a:ext uri="{FF2B5EF4-FFF2-40B4-BE49-F238E27FC236}">
                <a16:creationId xmlns:a16="http://schemas.microsoft.com/office/drawing/2014/main" id="{9DE66D4E-687D-70A9-61A5-1AFE86DC29ED}"/>
              </a:ext>
            </a:extLst>
          </p:cNvPr>
          <p:cNvSpPr/>
          <p:nvPr/>
        </p:nvSpPr>
        <p:spPr>
          <a:xfrm>
            <a:off x="1704096" y="2470228"/>
            <a:ext cx="727485" cy="198000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7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Prep. </a:t>
            </a:r>
            <a:r>
              <a:rPr kumimoji="0" lang="pt-PT" sz="700" b="1" i="1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Templates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E7B3324-B17D-C66F-0669-08813E1F5B58}"/>
              </a:ext>
            </a:extLst>
          </p:cNvPr>
          <p:cNvGrpSpPr/>
          <p:nvPr/>
        </p:nvGrpSpPr>
        <p:grpSpPr>
          <a:xfrm>
            <a:off x="4797641" y="1680988"/>
            <a:ext cx="1118805" cy="4685878"/>
            <a:chOff x="2932193" y="1742532"/>
            <a:chExt cx="1118805" cy="4685878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D309F4D-1F50-6225-4018-4C862DFCD8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32193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4F55FF0-F847-926E-9DAA-B3781AD2E1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05128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EE18904-CAD6-78E5-F64A-5626059DBF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78063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B875C73-156A-B7D1-2E28-580D48A739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0998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7" name="Arrow: Pentagon 316">
            <a:extLst>
              <a:ext uri="{FF2B5EF4-FFF2-40B4-BE49-F238E27FC236}">
                <a16:creationId xmlns:a16="http://schemas.microsoft.com/office/drawing/2014/main" id="{D8C76089-BC04-C123-E3BE-ACAC43D4A7FB}"/>
              </a:ext>
            </a:extLst>
          </p:cNvPr>
          <p:cNvSpPr/>
          <p:nvPr/>
        </p:nvSpPr>
        <p:spPr>
          <a:xfrm>
            <a:off x="2555713" y="1926716"/>
            <a:ext cx="1115944" cy="198000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7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Planeamento </a:t>
            </a:r>
            <a:r>
              <a:rPr kumimoji="0" lang="pt-PT" sz="700" b="1" i="1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KS</a:t>
            </a:r>
          </a:p>
        </p:txBody>
      </p:sp>
      <p:sp>
        <p:nvSpPr>
          <p:cNvPr id="319" name="Arrow: Pentagon 318">
            <a:extLst>
              <a:ext uri="{FF2B5EF4-FFF2-40B4-BE49-F238E27FC236}">
                <a16:creationId xmlns:a16="http://schemas.microsoft.com/office/drawing/2014/main" id="{58D29C47-C0D9-BFFC-4D11-C7F45E7FC954}"/>
              </a:ext>
            </a:extLst>
          </p:cNvPr>
          <p:cNvSpPr/>
          <p:nvPr/>
        </p:nvSpPr>
        <p:spPr>
          <a:xfrm>
            <a:off x="3302159" y="2190429"/>
            <a:ext cx="1115944" cy="198000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7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Plano de Comunicação Estratégica de </a:t>
            </a:r>
            <a:r>
              <a:rPr kumimoji="0" lang="pt-PT" sz="700" b="1" i="1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SC</a:t>
            </a:r>
          </a:p>
        </p:txBody>
      </p:sp>
      <p:sp>
        <p:nvSpPr>
          <p:cNvPr id="23" name="Diamond 22">
            <a:extLst>
              <a:ext uri="{FF2B5EF4-FFF2-40B4-BE49-F238E27FC236}">
                <a16:creationId xmlns:a16="http://schemas.microsoft.com/office/drawing/2014/main" id="{FE7D9135-599F-F2B3-11DB-A7EAFDAAC708}"/>
              </a:ext>
            </a:extLst>
          </p:cNvPr>
          <p:cNvSpPr/>
          <p:nvPr/>
        </p:nvSpPr>
        <p:spPr>
          <a:xfrm>
            <a:off x="4342019" y="1926716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27" name="Diamond 26">
            <a:extLst>
              <a:ext uri="{FF2B5EF4-FFF2-40B4-BE49-F238E27FC236}">
                <a16:creationId xmlns:a16="http://schemas.microsoft.com/office/drawing/2014/main" id="{057DA5B2-A93A-5B93-0EE4-6A6549E5F79B}"/>
              </a:ext>
            </a:extLst>
          </p:cNvPr>
          <p:cNvSpPr/>
          <p:nvPr/>
        </p:nvSpPr>
        <p:spPr>
          <a:xfrm>
            <a:off x="8075123" y="1922574"/>
            <a:ext cx="144000" cy="144000"/>
          </a:xfrm>
          <a:prstGeom prst="diamond">
            <a:avLst/>
          </a:prstGeom>
          <a:solidFill>
            <a:schemeClr val="accent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0CDF51A1-6E85-46F5-9617-3021C894A0DA}"/>
              </a:ext>
            </a:extLst>
          </p:cNvPr>
          <p:cNvSpPr/>
          <p:nvPr/>
        </p:nvSpPr>
        <p:spPr>
          <a:xfrm>
            <a:off x="9943942" y="1932477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DB77973-AC69-3573-D2BC-AEB9FB1C5594}"/>
              </a:ext>
            </a:extLst>
          </p:cNvPr>
          <p:cNvGrpSpPr/>
          <p:nvPr/>
        </p:nvGrpSpPr>
        <p:grpSpPr>
          <a:xfrm>
            <a:off x="4075417" y="6435775"/>
            <a:ext cx="5530019" cy="216000"/>
            <a:chOff x="4075417" y="6435775"/>
            <a:chExt cx="5530019" cy="216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C8842B0-A9B6-3C61-645B-76C2241ED080}"/>
                </a:ext>
              </a:extLst>
            </p:cNvPr>
            <p:cNvSpPr/>
            <p:nvPr/>
          </p:nvSpPr>
          <p:spPr>
            <a:xfrm>
              <a:off x="4075417" y="6480815"/>
              <a:ext cx="668785" cy="11855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900" b="1">
                  <a:solidFill>
                    <a:schemeClr val="tx1"/>
                  </a:solidFill>
                </a:rPr>
                <a:t>Legenda :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2D94A72-5FEF-55E4-5825-01BF4741BFB8}"/>
                </a:ext>
              </a:extLst>
            </p:cNvPr>
            <p:cNvSpPr/>
            <p:nvPr/>
          </p:nvSpPr>
          <p:spPr>
            <a:xfrm>
              <a:off x="4808325" y="6480815"/>
              <a:ext cx="1825792" cy="1259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900" i="1">
                  <a:solidFill>
                    <a:schemeClr val="tx1"/>
                  </a:solidFill>
                </a:rPr>
                <a:t>SteerCo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570E273-1E3A-9A2D-667A-98C3C386048C}"/>
                </a:ext>
              </a:extLst>
            </p:cNvPr>
            <p:cNvSpPr/>
            <p:nvPr/>
          </p:nvSpPr>
          <p:spPr>
            <a:xfrm>
              <a:off x="5455759" y="6480815"/>
              <a:ext cx="1610113" cy="1259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900" i="1">
                  <a:solidFill>
                    <a:schemeClr val="tx1"/>
                  </a:solidFill>
                </a:rPr>
                <a:t>Milestones</a:t>
              </a:r>
            </a:p>
          </p:txBody>
        </p:sp>
        <p:sp>
          <p:nvSpPr>
            <p:cNvPr id="53" name="Diamond 52">
              <a:extLst>
                <a:ext uri="{FF2B5EF4-FFF2-40B4-BE49-F238E27FC236}">
                  <a16:creationId xmlns:a16="http://schemas.microsoft.com/office/drawing/2014/main" id="{2970D399-2583-0B2B-C42F-3079CF9F12F9}"/>
                </a:ext>
              </a:extLst>
            </p:cNvPr>
            <p:cNvSpPr/>
            <p:nvPr/>
          </p:nvSpPr>
          <p:spPr>
            <a:xfrm>
              <a:off x="4671184" y="6435775"/>
              <a:ext cx="216000" cy="216000"/>
            </a:xfrm>
            <a:prstGeom prst="diamond">
              <a:avLst/>
            </a:prstGeom>
            <a:solidFill>
              <a:schemeClr val="accent2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PT" sz="700">
                <a:solidFill>
                  <a:srgbClr val="575756"/>
                </a:solidFill>
              </a:endParaRPr>
            </a:p>
          </p:txBody>
        </p:sp>
        <p:sp>
          <p:nvSpPr>
            <p:cNvPr id="54" name="Diamond 53">
              <a:extLst>
                <a:ext uri="{FF2B5EF4-FFF2-40B4-BE49-F238E27FC236}">
                  <a16:creationId xmlns:a16="http://schemas.microsoft.com/office/drawing/2014/main" id="{F64D9E41-3B9A-D9C8-4303-622AEBCAD9AF}"/>
                </a:ext>
              </a:extLst>
            </p:cNvPr>
            <p:cNvSpPr/>
            <p:nvPr/>
          </p:nvSpPr>
          <p:spPr>
            <a:xfrm>
              <a:off x="5287867" y="6435775"/>
              <a:ext cx="216000" cy="216000"/>
            </a:xfrm>
            <a:prstGeom prst="diamond">
              <a:avLst/>
            </a:prstGeom>
            <a:solidFill>
              <a:srgbClr val="40749B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PT" sz="700">
                <a:solidFill>
                  <a:srgbClr val="575756"/>
                </a:solidFill>
              </a:endParaRP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F1EDC76B-E0E4-775C-C869-CC7EF26D89F2}"/>
                </a:ext>
              </a:extLst>
            </p:cNvPr>
            <p:cNvGrpSpPr/>
            <p:nvPr/>
          </p:nvGrpSpPr>
          <p:grpSpPr>
            <a:xfrm>
              <a:off x="7843076" y="6453775"/>
              <a:ext cx="1762360" cy="180000"/>
              <a:chOff x="6194899" y="6455685"/>
              <a:chExt cx="1762360" cy="180000"/>
            </a:xfrm>
          </p:grpSpPr>
          <p:sp>
            <p:nvSpPr>
              <p:cNvPr id="58" name="Star: 5 Points 57">
                <a:extLst>
                  <a:ext uri="{FF2B5EF4-FFF2-40B4-BE49-F238E27FC236}">
                    <a16:creationId xmlns:a16="http://schemas.microsoft.com/office/drawing/2014/main" id="{5AA8948B-122F-1C4B-3ADE-6EF1F75DA9ED}"/>
                  </a:ext>
                </a:extLst>
              </p:cNvPr>
              <p:cNvSpPr/>
              <p:nvPr/>
            </p:nvSpPr>
            <p:spPr>
              <a:xfrm>
                <a:off x="6194899" y="6455685"/>
                <a:ext cx="180000" cy="180000"/>
              </a:xfrm>
              <a:prstGeom prst="star5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A256D76B-6FD9-6014-0C21-48C3B7FA6FE5}"/>
                  </a:ext>
                </a:extLst>
              </p:cNvPr>
              <p:cNvSpPr/>
              <p:nvPr/>
            </p:nvSpPr>
            <p:spPr>
              <a:xfrm>
                <a:off x="6347146" y="6482725"/>
                <a:ext cx="1610113" cy="1259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PT" sz="900">
                    <a:solidFill>
                      <a:schemeClr val="tx1"/>
                    </a:solidFill>
                  </a:rPr>
                  <a:t>Participação da EDM</a:t>
                </a:r>
              </a:p>
            </p:txBody>
          </p:sp>
        </p:grp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2473A40-487B-DD4F-DCC7-F03A508837C0}"/>
                </a:ext>
              </a:extLst>
            </p:cNvPr>
            <p:cNvSpPr/>
            <p:nvPr/>
          </p:nvSpPr>
          <p:spPr>
            <a:xfrm>
              <a:off x="6260504" y="6480815"/>
              <a:ext cx="2193398" cy="11855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900">
                  <a:solidFill>
                    <a:schemeClr val="tx1"/>
                  </a:solidFill>
                </a:rPr>
                <a:t>Reunião de </a:t>
              </a:r>
              <a:r>
                <a:rPr lang="pt-PT" sz="900" i="1">
                  <a:solidFill>
                    <a:schemeClr val="tx1"/>
                  </a:solidFill>
                </a:rPr>
                <a:t>Status</a:t>
              </a:r>
              <a:r>
                <a:rPr lang="pt-PT" sz="900">
                  <a:solidFill>
                    <a:schemeClr val="tx1"/>
                  </a:solidFill>
                </a:rPr>
                <a:t> do Projeto</a:t>
              </a:r>
            </a:p>
          </p:txBody>
        </p:sp>
        <p:sp>
          <p:nvSpPr>
            <p:cNvPr id="57" name="Diamond 56">
              <a:extLst>
                <a:ext uri="{FF2B5EF4-FFF2-40B4-BE49-F238E27FC236}">
                  <a16:creationId xmlns:a16="http://schemas.microsoft.com/office/drawing/2014/main" id="{BAD7AB27-3D59-3BD5-6321-C29845BA7E74}"/>
                </a:ext>
              </a:extLst>
            </p:cNvPr>
            <p:cNvSpPr/>
            <p:nvPr/>
          </p:nvSpPr>
          <p:spPr>
            <a:xfrm>
              <a:off x="6092612" y="6435775"/>
              <a:ext cx="216000" cy="216000"/>
            </a:xfrm>
            <a:prstGeom prst="diamond">
              <a:avLst/>
            </a:prstGeom>
            <a:solidFill>
              <a:schemeClr val="accent6">
                <a:lumMod val="75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PT" sz="700">
                <a:solidFill>
                  <a:srgbClr val="575756"/>
                </a:solidFill>
              </a:endParaRPr>
            </a:p>
          </p:txBody>
        </p:sp>
      </p:grpSp>
      <p:sp>
        <p:nvSpPr>
          <p:cNvPr id="69" name="Arrow: Pentagon 68">
            <a:extLst>
              <a:ext uri="{FF2B5EF4-FFF2-40B4-BE49-F238E27FC236}">
                <a16:creationId xmlns:a16="http://schemas.microsoft.com/office/drawing/2014/main" id="{65DF2796-E157-F810-BBB2-D19909DC16F0}"/>
              </a:ext>
            </a:extLst>
          </p:cNvPr>
          <p:cNvSpPr/>
          <p:nvPr/>
        </p:nvSpPr>
        <p:spPr>
          <a:xfrm>
            <a:off x="2555046" y="4482106"/>
            <a:ext cx="1095476" cy="1872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700" b="1">
                <a:solidFill>
                  <a:schemeClr val="bg1"/>
                </a:solidFill>
              </a:rPr>
              <a:t>Criação de </a:t>
            </a:r>
            <a:r>
              <a:rPr lang="pt-PT" sz="700" b="1" i="1">
                <a:solidFill>
                  <a:schemeClr val="bg1"/>
                </a:solidFill>
              </a:rPr>
              <a:t>SOP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CA56F8AD-3D7E-BE18-6636-22F5328DDEC2}"/>
              </a:ext>
            </a:extLst>
          </p:cNvPr>
          <p:cNvGrpSpPr/>
          <p:nvPr/>
        </p:nvGrpSpPr>
        <p:grpSpPr>
          <a:xfrm>
            <a:off x="6265775" y="1686901"/>
            <a:ext cx="1320358" cy="1368000"/>
            <a:chOff x="1720158" y="1660525"/>
            <a:chExt cx="1320358" cy="1368000"/>
          </a:xfrm>
        </p:grpSpPr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79D94EFC-C54F-8FB3-8B8C-053A2271E880}"/>
                </a:ext>
              </a:extLst>
            </p:cNvPr>
            <p:cNvCxnSpPr>
              <a:cxnSpLocks/>
            </p:cNvCxnSpPr>
            <p:nvPr/>
          </p:nvCxnSpPr>
          <p:spPr>
            <a:xfrm>
              <a:off x="1720158" y="1660525"/>
              <a:ext cx="2680" cy="136800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14FF0C65-63AE-5153-4E91-6AF171F15CB5}"/>
                </a:ext>
              </a:extLst>
            </p:cNvPr>
            <p:cNvSpPr/>
            <p:nvPr/>
          </p:nvSpPr>
          <p:spPr>
            <a:xfrm>
              <a:off x="1829049" y="2151262"/>
              <a:ext cx="1211467" cy="5028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marL="0" marR="0" lvl="0" indent="0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800" i="1">
                  <a:solidFill>
                    <a:srgbClr val="34342B"/>
                  </a:solidFill>
                </a:rPr>
                <a:t>Comunicar Estratégia de SC (19 de Julho) para iniciar com o embedment de planeamento em 26 de Julho</a:t>
              </a:r>
              <a:endParaRPr kumimoji="0" lang="en-GB" sz="800" b="0" i="1" u="none" strike="noStrike" kern="1200" cap="none" spc="0" normalizeH="0" baseline="0" noProof="0">
                <a:ln>
                  <a:noFill/>
                </a:ln>
                <a:solidFill>
                  <a:srgbClr val="34342B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109" name="Diamond 108">
            <a:extLst>
              <a:ext uri="{FF2B5EF4-FFF2-40B4-BE49-F238E27FC236}">
                <a16:creationId xmlns:a16="http://schemas.microsoft.com/office/drawing/2014/main" id="{3DE93A92-E61C-1B69-DD63-51D4F9B122A2}"/>
              </a:ext>
            </a:extLst>
          </p:cNvPr>
          <p:cNvSpPr/>
          <p:nvPr/>
        </p:nvSpPr>
        <p:spPr>
          <a:xfrm>
            <a:off x="6207639" y="1929470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4DB71D1C-C003-2BC8-EE13-29947ADD0BF5}"/>
              </a:ext>
            </a:extLst>
          </p:cNvPr>
          <p:cNvGrpSpPr/>
          <p:nvPr/>
        </p:nvGrpSpPr>
        <p:grpSpPr>
          <a:xfrm>
            <a:off x="2549769" y="1671903"/>
            <a:ext cx="9338637" cy="215584"/>
            <a:chOff x="636759" y="1645527"/>
            <a:chExt cx="11251648" cy="215584"/>
          </a:xfrm>
        </p:grpSpPr>
        <p:sp>
          <p:nvSpPr>
            <p:cNvPr id="251" name="Arrow: Pentagon 250">
              <a:extLst>
                <a:ext uri="{FF2B5EF4-FFF2-40B4-BE49-F238E27FC236}">
                  <a16:creationId xmlns:a16="http://schemas.microsoft.com/office/drawing/2014/main" id="{F9B84D92-4562-E372-799A-032D795A9B82}"/>
                </a:ext>
              </a:extLst>
            </p:cNvPr>
            <p:cNvSpPr/>
            <p:nvPr/>
          </p:nvSpPr>
          <p:spPr>
            <a:xfrm>
              <a:off x="636759" y="1663111"/>
              <a:ext cx="11251648" cy="198000"/>
            </a:xfrm>
            <a:prstGeom prst="homePlate">
              <a:avLst/>
            </a:prstGeom>
            <a:gradFill>
              <a:gsLst>
                <a:gs pos="0">
                  <a:srgbClr val="7F7F7F"/>
                </a:gs>
                <a:gs pos="50000">
                  <a:srgbClr val="7F7F7F"/>
                </a:gs>
                <a:gs pos="51000">
                  <a:schemeClr val="bg2">
                    <a:lumMod val="90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7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0325E38C-CDBF-87F9-35DF-D537BD95D467}"/>
                </a:ext>
              </a:extLst>
            </p:cNvPr>
            <p:cNvSpPr/>
            <p:nvPr/>
          </p:nvSpPr>
          <p:spPr>
            <a:xfrm>
              <a:off x="5340228" y="1645527"/>
              <a:ext cx="1621262" cy="1412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900" b="1">
                  <a:solidFill>
                    <a:schemeClr val="bg1"/>
                  </a:solidFill>
                </a:rPr>
                <a:t>PMO + Embedment</a:t>
              </a:r>
            </a:p>
          </p:txBody>
        </p:sp>
      </p:grpSp>
      <p:sp>
        <p:nvSpPr>
          <p:cNvPr id="320" name="Arrow: Pentagon 319">
            <a:extLst>
              <a:ext uri="{FF2B5EF4-FFF2-40B4-BE49-F238E27FC236}">
                <a16:creationId xmlns:a16="http://schemas.microsoft.com/office/drawing/2014/main" id="{1AA44619-1526-1D20-4B06-B2769F4B62C1}"/>
              </a:ext>
            </a:extLst>
          </p:cNvPr>
          <p:cNvSpPr/>
          <p:nvPr/>
        </p:nvSpPr>
        <p:spPr>
          <a:xfrm>
            <a:off x="3301708" y="2665322"/>
            <a:ext cx="8575509" cy="187200"/>
          </a:xfrm>
          <a:prstGeom prst="homePlate">
            <a:avLst/>
          </a:prstGeom>
          <a:solidFill>
            <a:srgbClr val="7EA9CA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700" b="1">
                <a:solidFill>
                  <a:schemeClr val="bg1"/>
                </a:solidFill>
              </a:rPr>
              <a:t>E</a:t>
            </a:r>
            <a:r>
              <a:rPr kumimoji="0" lang="pt-PT" sz="7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mbedment do modelo operacional + recomendações de outros WP</a:t>
            </a:r>
          </a:p>
        </p:txBody>
      </p:sp>
      <p:sp>
        <p:nvSpPr>
          <p:cNvPr id="110" name="Arrow: Pentagon 109">
            <a:extLst>
              <a:ext uri="{FF2B5EF4-FFF2-40B4-BE49-F238E27FC236}">
                <a16:creationId xmlns:a16="http://schemas.microsoft.com/office/drawing/2014/main" id="{46FD8BC3-37AC-7895-C7F3-0E9B3504B8F4}"/>
              </a:ext>
            </a:extLst>
          </p:cNvPr>
          <p:cNvSpPr/>
          <p:nvPr/>
        </p:nvSpPr>
        <p:spPr>
          <a:xfrm>
            <a:off x="3687207" y="4828981"/>
            <a:ext cx="756000" cy="1872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>
              <a:solidFill>
                <a:schemeClr val="bg1"/>
              </a:solidFill>
            </a:endParaRPr>
          </a:p>
        </p:txBody>
      </p:sp>
      <p:sp>
        <p:nvSpPr>
          <p:cNvPr id="116" name="Arrow: Pentagon 115">
            <a:extLst>
              <a:ext uri="{FF2B5EF4-FFF2-40B4-BE49-F238E27FC236}">
                <a16:creationId xmlns:a16="http://schemas.microsoft.com/office/drawing/2014/main" id="{D2BD64A1-2F7E-D3BD-1485-78B0B249194C}"/>
              </a:ext>
            </a:extLst>
          </p:cNvPr>
          <p:cNvSpPr/>
          <p:nvPr/>
        </p:nvSpPr>
        <p:spPr>
          <a:xfrm>
            <a:off x="1324178" y="5304574"/>
            <a:ext cx="756000" cy="1872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 i="1">
              <a:solidFill>
                <a:schemeClr val="bg1"/>
              </a:solidFill>
            </a:endParaRPr>
          </a:p>
        </p:txBody>
      </p:sp>
      <p:sp>
        <p:nvSpPr>
          <p:cNvPr id="120" name="Arrow: Pentagon 119">
            <a:extLst>
              <a:ext uri="{FF2B5EF4-FFF2-40B4-BE49-F238E27FC236}">
                <a16:creationId xmlns:a16="http://schemas.microsoft.com/office/drawing/2014/main" id="{2C991E98-5EE5-6D60-8F66-B58440A03C3D}"/>
              </a:ext>
            </a:extLst>
          </p:cNvPr>
          <p:cNvSpPr/>
          <p:nvPr/>
        </p:nvSpPr>
        <p:spPr>
          <a:xfrm>
            <a:off x="3300632" y="2952183"/>
            <a:ext cx="3007978" cy="184001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700" b="1">
                <a:solidFill>
                  <a:schemeClr val="bg1"/>
                </a:solidFill>
              </a:rPr>
              <a:t>Definição do plano de comunicação da estratégia da cadeia de abastecimento</a:t>
            </a:r>
          </a:p>
        </p:txBody>
      </p:sp>
      <p:sp>
        <p:nvSpPr>
          <p:cNvPr id="121" name="Arrow: Pentagon 120">
            <a:extLst>
              <a:ext uri="{FF2B5EF4-FFF2-40B4-BE49-F238E27FC236}">
                <a16:creationId xmlns:a16="http://schemas.microsoft.com/office/drawing/2014/main" id="{2234AD92-7526-6FBF-D6AA-34C4092727ED}"/>
              </a:ext>
            </a:extLst>
          </p:cNvPr>
          <p:cNvSpPr/>
          <p:nvPr/>
        </p:nvSpPr>
        <p:spPr>
          <a:xfrm>
            <a:off x="5174421" y="3288054"/>
            <a:ext cx="2232000" cy="184001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700" b="1">
                <a:solidFill>
                  <a:schemeClr val="bg1"/>
                </a:solidFill>
              </a:rPr>
              <a:t>Alinhamento da comunicação do modelo operacional</a:t>
            </a:r>
          </a:p>
        </p:txBody>
      </p:sp>
      <p:sp>
        <p:nvSpPr>
          <p:cNvPr id="122" name="Arrow: Pentagon 121">
            <a:extLst>
              <a:ext uri="{FF2B5EF4-FFF2-40B4-BE49-F238E27FC236}">
                <a16:creationId xmlns:a16="http://schemas.microsoft.com/office/drawing/2014/main" id="{A79C4E86-F49E-A952-C10B-C8F9FBAE2CEC}"/>
              </a:ext>
            </a:extLst>
          </p:cNvPr>
          <p:cNvSpPr/>
          <p:nvPr/>
        </p:nvSpPr>
        <p:spPr>
          <a:xfrm>
            <a:off x="8147124" y="3548999"/>
            <a:ext cx="1882433" cy="186918"/>
          </a:xfrm>
          <a:prstGeom prst="homePlate">
            <a:avLst/>
          </a:prstGeom>
          <a:gradFill>
            <a:gsLst>
              <a:gs pos="0">
                <a:srgbClr val="FFC000"/>
              </a:gs>
              <a:gs pos="50000">
                <a:srgbClr val="FFC000"/>
              </a:gs>
              <a:gs pos="51000">
                <a:schemeClr val="bg2">
                  <a:lumMod val="90000"/>
                </a:schemeClr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>
              <a:solidFill>
                <a:schemeClr val="bg1"/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67D6485-A41F-967F-6B35-5CD764E8BA45}"/>
              </a:ext>
            </a:extLst>
          </p:cNvPr>
          <p:cNvSpPr txBox="1"/>
          <p:nvPr/>
        </p:nvSpPr>
        <p:spPr>
          <a:xfrm>
            <a:off x="8056315" y="3766828"/>
            <a:ext cx="2117869" cy="203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800" i="1">
                <a:solidFill>
                  <a:srgbClr val="34342B"/>
                </a:solidFill>
              </a:rPr>
              <a:t>Sessões de formação do modelo operacional</a:t>
            </a:r>
            <a:r>
              <a:rPr lang="pt-PT" sz="800" i="1">
                <a:solidFill>
                  <a:srgbClr val="34342B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¹</a:t>
            </a:r>
            <a:endParaRPr lang="pt-PT" sz="800" i="1">
              <a:solidFill>
                <a:srgbClr val="34342B"/>
              </a:solidFill>
            </a:endParaRPr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ABECA419-3462-2CDC-F920-F6E2FE3447AB}"/>
              </a:ext>
            </a:extLst>
          </p:cNvPr>
          <p:cNvSpPr/>
          <p:nvPr/>
        </p:nvSpPr>
        <p:spPr>
          <a:xfrm>
            <a:off x="6200612" y="2967037"/>
            <a:ext cx="144000" cy="144000"/>
          </a:xfrm>
          <a:prstGeom prst="diamond">
            <a:avLst/>
          </a:prstGeom>
          <a:solidFill>
            <a:srgbClr val="40749B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7B2F1925-72A6-1E14-0A98-70CC545FC43A}"/>
              </a:ext>
            </a:extLst>
          </p:cNvPr>
          <p:cNvSpPr/>
          <p:nvPr/>
        </p:nvSpPr>
        <p:spPr>
          <a:xfrm>
            <a:off x="7315893" y="3304530"/>
            <a:ext cx="144000" cy="144000"/>
          </a:xfrm>
          <a:prstGeom prst="diamond">
            <a:avLst/>
          </a:prstGeom>
          <a:solidFill>
            <a:srgbClr val="40749B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127" name="Star: 5 Points 126">
            <a:extLst>
              <a:ext uri="{FF2B5EF4-FFF2-40B4-BE49-F238E27FC236}">
                <a16:creationId xmlns:a16="http://schemas.microsoft.com/office/drawing/2014/main" id="{4511E8D8-CC18-E554-FCAD-B2EFD2607FBE}"/>
              </a:ext>
            </a:extLst>
          </p:cNvPr>
          <p:cNvSpPr/>
          <p:nvPr/>
        </p:nvSpPr>
        <p:spPr>
          <a:xfrm>
            <a:off x="8101217" y="3502830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AD314A59-A03E-B6D1-9403-EAE91C19877D}"/>
              </a:ext>
            </a:extLst>
          </p:cNvPr>
          <p:cNvSpPr/>
          <p:nvPr/>
        </p:nvSpPr>
        <p:spPr>
          <a:xfrm>
            <a:off x="436792" y="6484157"/>
            <a:ext cx="3574495" cy="131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900" b="1">
                <a:solidFill>
                  <a:schemeClr val="tx1"/>
                </a:solidFill>
              </a:rPr>
              <a:t>Nota: </a:t>
            </a:r>
            <a:r>
              <a:rPr lang="pt-PT" sz="900" b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¹ </a:t>
            </a:r>
            <a:r>
              <a:rPr lang="pt-PT" sz="9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formato e </a:t>
            </a:r>
            <a:r>
              <a:rPr lang="pt-PT" sz="900" i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timing</a:t>
            </a:r>
            <a:r>
              <a:rPr lang="pt-PT" sz="9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a ser validado pela EDM </a:t>
            </a:r>
            <a:endParaRPr lang="pt-PT" sz="900" b="1">
              <a:solidFill>
                <a:schemeClr val="tx1"/>
              </a:solidFill>
            </a:endParaRPr>
          </a:p>
        </p:txBody>
      </p:sp>
      <p:sp>
        <p:nvSpPr>
          <p:cNvPr id="130" name="Arrow: Pentagon 129">
            <a:extLst>
              <a:ext uri="{FF2B5EF4-FFF2-40B4-BE49-F238E27FC236}">
                <a16:creationId xmlns:a16="http://schemas.microsoft.com/office/drawing/2014/main" id="{7FEECF36-06F3-CB1A-376E-43448B7F1E3F}"/>
              </a:ext>
            </a:extLst>
          </p:cNvPr>
          <p:cNvSpPr/>
          <p:nvPr/>
        </p:nvSpPr>
        <p:spPr>
          <a:xfrm>
            <a:off x="486227" y="4138312"/>
            <a:ext cx="2016000" cy="186918"/>
          </a:xfrm>
          <a:prstGeom prst="homePlate">
            <a:avLst/>
          </a:prstGeom>
          <a:gradFill>
            <a:gsLst>
              <a:gs pos="0">
                <a:srgbClr val="FFC000"/>
              </a:gs>
              <a:gs pos="50000">
                <a:srgbClr val="FFC000"/>
              </a:gs>
              <a:gs pos="51000">
                <a:schemeClr val="bg2">
                  <a:lumMod val="90000"/>
                </a:schemeClr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>
              <a:solidFill>
                <a:schemeClr val="bg1"/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373DDF88-172A-8BA7-0A3E-43E8ED4050FE}"/>
              </a:ext>
            </a:extLst>
          </p:cNvPr>
          <p:cNvSpPr txBox="1"/>
          <p:nvPr/>
        </p:nvSpPr>
        <p:spPr>
          <a:xfrm>
            <a:off x="436792" y="4339539"/>
            <a:ext cx="2117869" cy="203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800" i="1">
                <a:solidFill>
                  <a:srgbClr val="34342B"/>
                </a:solidFill>
              </a:rPr>
              <a:t>Testagem da Ferramenta de Gestão de Stock</a:t>
            </a:r>
          </a:p>
        </p:txBody>
      </p:sp>
      <p:sp>
        <p:nvSpPr>
          <p:cNvPr id="133" name="Diamond 132">
            <a:extLst>
              <a:ext uri="{FF2B5EF4-FFF2-40B4-BE49-F238E27FC236}">
                <a16:creationId xmlns:a16="http://schemas.microsoft.com/office/drawing/2014/main" id="{2E2964A4-396A-E01D-0AE8-746D47FD16A9}"/>
              </a:ext>
            </a:extLst>
          </p:cNvPr>
          <p:cNvSpPr/>
          <p:nvPr/>
        </p:nvSpPr>
        <p:spPr>
          <a:xfrm>
            <a:off x="4342617" y="4855607"/>
            <a:ext cx="144000" cy="144000"/>
          </a:xfrm>
          <a:prstGeom prst="diamond">
            <a:avLst/>
          </a:prstGeom>
          <a:solidFill>
            <a:srgbClr val="40749B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D6F702C0-807B-911B-BAF4-12377B5056C8}"/>
              </a:ext>
            </a:extLst>
          </p:cNvPr>
          <p:cNvSpPr/>
          <p:nvPr/>
        </p:nvSpPr>
        <p:spPr>
          <a:xfrm>
            <a:off x="4540809" y="4841025"/>
            <a:ext cx="318741" cy="198584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700" i="1">
                <a:solidFill>
                  <a:srgbClr val="34342B"/>
                </a:solidFill>
              </a:rPr>
              <a:t>Sign-off</a:t>
            </a:r>
            <a:endParaRPr kumimoji="0" lang="en-GB" sz="700" b="0" i="1" u="none" strike="noStrike" kern="1200" cap="none" spc="0" normalizeH="0" baseline="0" noProof="0">
              <a:ln>
                <a:noFill/>
              </a:ln>
              <a:solidFill>
                <a:srgbClr val="34342B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37" name="Star: 5 Points 136">
            <a:extLst>
              <a:ext uri="{FF2B5EF4-FFF2-40B4-BE49-F238E27FC236}">
                <a16:creationId xmlns:a16="http://schemas.microsoft.com/office/drawing/2014/main" id="{DE9D36B9-FAB7-2BC3-1D92-85FCB7CC453A}"/>
              </a:ext>
            </a:extLst>
          </p:cNvPr>
          <p:cNvSpPr/>
          <p:nvPr/>
        </p:nvSpPr>
        <p:spPr>
          <a:xfrm>
            <a:off x="489055" y="4088731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6AB3774B-5F00-9771-B22C-1B3CCD2CA796}"/>
              </a:ext>
            </a:extLst>
          </p:cNvPr>
          <p:cNvSpPr txBox="1"/>
          <p:nvPr/>
        </p:nvSpPr>
        <p:spPr>
          <a:xfrm>
            <a:off x="2344559" y="5236039"/>
            <a:ext cx="1468933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800" i="1">
                <a:solidFill>
                  <a:srgbClr val="34342B"/>
                </a:solidFill>
              </a:rPr>
              <a:t>Correção da lista de concursos e valores de contratação</a:t>
            </a:r>
          </a:p>
        </p:txBody>
      </p:sp>
      <p:sp>
        <p:nvSpPr>
          <p:cNvPr id="139" name="Arrow: Pentagon 138">
            <a:extLst>
              <a:ext uri="{FF2B5EF4-FFF2-40B4-BE49-F238E27FC236}">
                <a16:creationId xmlns:a16="http://schemas.microsoft.com/office/drawing/2014/main" id="{493422C3-7BE5-D2BC-5FB2-A237FC5BB752}"/>
              </a:ext>
            </a:extLst>
          </p:cNvPr>
          <p:cNvSpPr/>
          <p:nvPr/>
        </p:nvSpPr>
        <p:spPr>
          <a:xfrm>
            <a:off x="1697168" y="5587208"/>
            <a:ext cx="864000" cy="1872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 i="1">
              <a:solidFill>
                <a:schemeClr val="bg1"/>
              </a:solidFill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71C090E8-6006-5DEB-F2CE-3C4034A95A9D}"/>
              </a:ext>
            </a:extLst>
          </p:cNvPr>
          <p:cNvSpPr txBox="1"/>
          <p:nvPr/>
        </p:nvSpPr>
        <p:spPr>
          <a:xfrm>
            <a:off x="2497352" y="5549534"/>
            <a:ext cx="1468933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800" i="1">
                <a:solidFill>
                  <a:srgbClr val="34342B"/>
                </a:solidFill>
              </a:rPr>
              <a:t>Atualização valores aprovados para materiais e serviços</a:t>
            </a:r>
          </a:p>
        </p:txBody>
      </p:sp>
      <p:sp>
        <p:nvSpPr>
          <p:cNvPr id="141" name="Arrow: Pentagon 140">
            <a:extLst>
              <a:ext uri="{FF2B5EF4-FFF2-40B4-BE49-F238E27FC236}">
                <a16:creationId xmlns:a16="http://schemas.microsoft.com/office/drawing/2014/main" id="{B3B493D1-2B2F-BC7B-0C86-14CF448B7C3D}"/>
              </a:ext>
            </a:extLst>
          </p:cNvPr>
          <p:cNvSpPr/>
          <p:nvPr/>
        </p:nvSpPr>
        <p:spPr>
          <a:xfrm>
            <a:off x="1703211" y="5869841"/>
            <a:ext cx="864000" cy="1872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 i="1">
              <a:solidFill>
                <a:schemeClr val="bg1"/>
              </a:solidFill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5F294AE0-66CB-7041-6865-4E13AF584897}"/>
              </a:ext>
            </a:extLst>
          </p:cNvPr>
          <p:cNvSpPr txBox="1"/>
          <p:nvPr/>
        </p:nvSpPr>
        <p:spPr>
          <a:xfrm>
            <a:off x="2476927" y="5806475"/>
            <a:ext cx="1468933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800" i="1">
                <a:solidFill>
                  <a:srgbClr val="34342B"/>
                </a:solidFill>
              </a:rPr>
              <a:t>Introdução de novas métricas e revisão de terminologias</a:t>
            </a:r>
          </a:p>
        </p:txBody>
      </p:sp>
      <p:sp>
        <p:nvSpPr>
          <p:cNvPr id="144" name="Star: 5 Points 143">
            <a:extLst>
              <a:ext uri="{FF2B5EF4-FFF2-40B4-BE49-F238E27FC236}">
                <a16:creationId xmlns:a16="http://schemas.microsoft.com/office/drawing/2014/main" id="{0064193A-5AD5-2B5C-4117-3232442DAA99}"/>
              </a:ext>
            </a:extLst>
          </p:cNvPr>
          <p:cNvSpPr/>
          <p:nvPr/>
        </p:nvSpPr>
        <p:spPr>
          <a:xfrm>
            <a:off x="1279058" y="5263380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5" name="Star: 5 Points 144">
            <a:extLst>
              <a:ext uri="{FF2B5EF4-FFF2-40B4-BE49-F238E27FC236}">
                <a16:creationId xmlns:a16="http://schemas.microsoft.com/office/drawing/2014/main" id="{762DCA39-43D3-2387-51C2-7EE00991C1C2}"/>
              </a:ext>
            </a:extLst>
          </p:cNvPr>
          <p:cNvSpPr/>
          <p:nvPr/>
        </p:nvSpPr>
        <p:spPr>
          <a:xfrm>
            <a:off x="1642711" y="5552289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0" name="Arrow: Pentagon 149">
            <a:extLst>
              <a:ext uri="{FF2B5EF4-FFF2-40B4-BE49-F238E27FC236}">
                <a16:creationId xmlns:a16="http://schemas.microsoft.com/office/drawing/2014/main" id="{7407E256-ACC9-D191-6D34-A97879FC03EA}"/>
              </a:ext>
            </a:extLst>
          </p:cNvPr>
          <p:cNvSpPr/>
          <p:nvPr/>
        </p:nvSpPr>
        <p:spPr>
          <a:xfrm>
            <a:off x="4049543" y="6048839"/>
            <a:ext cx="360000" cy="1872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>
              <a:solidFill>
                <a:schemeClr val="bg1"/>
              </a:solidFill>
            </a:endParaRPr>
          </a:p>
        </p:txBody>
      </p:sp>
      <p:sp>
        <p:nvSpPr>
          <p:cNvPr id="151" name="Diamond 150">
            <a:extLst>
              <a:ext uri="{FF2B5EF4-FFF2-40B4-BE49-F238E27FC236}">
                <a16:creationId xmlns:a16="http://schemas.microsoft.com/office/drawing/2014/main" id="{6CC31F3A-FD67-D4B4-43BF-A711A5685D8D}"/>
              </a:ext>
            </a:extLst>
          </p:cNvPr>
          <p:cNvSpPr/>
          <p:nvPr/>
        </p:nvSpPr>
        <p:spPr>
          <a:xfrm>
            <a:off x="4330049" y="6075465"/>
            <a:ext cx="144000" cy="144000"/>
          </a:xfrm>
          <a:prstGeom prst="diamond">
            <a:avLst/>
          </a:prstGeom>
          <a:solidFill>
            <a:srgbClr val="40749B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3C702CC-5BF8-9E92-B536-6E8A326F1F5E}"/>
              </a:ext>
            </a:extLst>
          </p:cNvPr>
          <p:cNvSpPr/>
          <p:nvPr/>
        </p:nvSpPr>
        <p:spPr>
          <a:xfrm>
            <a:off x="4528241" y="6060883"/>
            <a:ext cx="318741" cy="198584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700" i="1" err="1">
                <a:solidFill>
                  <a:srgbClr val="34342B"/>
                </a:solidFill>
              </a:rPr>
              <a:t>Sign-off</a:t>
            </a:r>
            <a:endParaRPr kumimoji="0" lang="en-GB" sz="700" b="0" i="1" u="none" strike="noStrike" kern="1200" cap="none" spc="0" normalizeH="0" baseline="0" noProof="0">
              <a:ln>
                <a:noFill/>
              </a:ln>
              <a:solidFill>
                <a:srgbClr val="34342B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2FCFFD8A-7EEE-D20B-64D5-0415B7F21E44}"/>
              </a:ext>
            </a:extLst>
          </p:cNvPr>
          <p:cNvSpPr/>
          <p:nvPr/>
        </p:nvSpPr>
        <p:spPr>
          <a:xfrm>
            <a:off x="9129452" y="6480815"/>
            <a:ext cx="1836000" cy="1259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900">
                <a:solidFill>
                  <a:schemeClr val="tx1"/>
                </a:solidFill>
              </a:rPr>
              <a:t>Dedicação a tempo inteiro da EDM</a:t>
            </a:r>
          </a:p>
        </p:txBody>
      </p:sp>
    </p:spTree>
    <p:extLst>
      <p:ext uri="{BB962C8B-B14F-4D97-AF65-F5344CB8AC3E}">
        <p14:creationId xmlns:p14="http://schemas.microsoft.com/office/powerpoint/2010/main" val="1461350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17679EF-5DE1-49A3-A136-13A798ED40C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17679EF-5DE1-49A3-A136-13A798ED40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5">
            <a:extLst>
              <a:ext uri="{FF2B5EF4-FFF2-40B4-BE49-F238E27FC236}">
                <a16:creationId xmlns:a16="http://schemas.microsoft.com/office/drawing/2014/main" id="{C6DF79F9-E963-44DE-83EF-A2821E7BA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23" y="349517"/>
            <a:ext cx="10698480" cy="420189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pt-PT" sz="2800" b="1">
                <a:ea typeface="Verdana"/>
              </a:rPr>
              <a:t>Replaneamento da Fase 1 &amp; 2 | </a:t>
            </a:r>
            <a:r>
              <a:rPr lang="pt-PT" sz="2800">
                <a:ea typeface="Verdana"/>
              </a:rPr>
              <a:t>Plano de 6 semanas (3/3)</a:t>
            </a:r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131F0449-6E34-41A1-B16C-81401C10C2A5}"/>
              </a:ext>
            </a:extLst>
          </p:cNvPr>
          <p:cNvSpPr txBox="1">
            <a:spLocks/>
          </p:cNvSpPr>
          <p:nvPr/>
        </p:nvSpPr>
        <p:spPr>
          <a:xfrm>
            <a:off x="461822" y="769707"/>
            <a:ext cx="11426585" cy="7714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600">
                <a:ea typeface="Verdana"/>
              </a:rPr>
              <a:t>Abaixo o plano detalhado para as primeiras 6 semanas, com foco na conclusão do </a:t>
            </a:r>
            <a:r>
              <a:rPr lang="pt-PT" sz="1600" i="1">
                <a:ea typeface="Verdana"/>
              </a:rPr>
              <a:t>embedment</a:t>
            </a:r>
            <a:r>
              <a:rPr lang="pt-PT" sz="1600">
                <a:ea typeface="Verdana"/>
              </a:rPr>
              <a:t> do planeamento de procurement, com data de término prevista para o dia 9 de Agosto, seguido por uma paragem do projeto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5864AC-D71B-1EF5-E415-92F3A668D2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994540"/>
              </p:ext>
            </p:extLst>
          </p:nvPr>
        </p:nvGraphicFramePr>
        <p:xfrm>
          <a:off x="303593" y="1346919"/>
          <a:ext cx="11584759" cy="4991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192">
                  <a:extLst>
                    <a:ext uri="{9D8B030D-6E8A-4147-A177-3AD203B41FA5}">
                      <a16:colId xmlns:a16="http://schemas.microsoft.com/office/drawing/2014/main" val="620005219"/>
                    </a:ext>
                  </a:extLst>
                </a:gridCol>
                <a:gridCol w="2083547">
                  <a:extLst>
                    <a:ext uri="{9D8B030D-6E8A-4147-A177-3AD203B41FA5}">
                      <a16:colId xmlns:a16="http://schemas.microsoft.com/office/drawing/2014/main" val="3619358262"/>
                    </a:ext>
                  </a:extLst>
                </a:gridCol>
                <a:gridCol w="1866004">
                  <a:extLst>
                    <a:ext uri="{9D8B030D-6E8A-4147-A177-3AD203B41FA5}">
                      <a16:colId xmlns:a16="http://schemas.microsoft.com/office/drawing/2014/main" val="2619770351"/>
                    </a:ext>
                  </a:extLst>
                </a:gridCol>
                <a:gridCol w="1866004">
                  <a:extLst>
                    <a:ext uri="{9D8B030D-6E8A-4147-A177-3AD203B41FA5}">
                      <a16:colId xmlns:a16="http://schemas.microsoft.com/office/drawing/2014/main" val="3166678203"/>
                    </a:ext>
                  </a:extLst>
                </a:gridCol>
                <a:gridCol w="1866004">
                  <a:extLst>
                    <a:ext uri="{9D8B030D-6E8A-4147-A177-3AD203B41FA5}">
                      <a16:colId xmlns:a16="http://schemas.microsoft.com/office/drawing/2014/main" val="2313141890"/>
                    </a:ext>
                  </a:extLst>
                </a:gridCol>
                <a:gridCol w="1866004">
                  <a:extLst>
                    <a:ext uri="{9D8B030D-6E8A-4147-A177-3AD203B41FA5}">
                      <a16:colId xmlns:a16="http://schemas.microsoft.com/office/drawing/2014/main" val="4165277009"/>
                    </a:ext>
                  </a:extLst>
                </a:gridCol>
                <a:gridCol w="1866004">
                  <a:extLst>
                    <a:ext uri="{9D8B030D-6E8A-4147-A177-3AD203B41FA5}">
                      <a16:colId xmlns:a16="http://schemas.microsoft.com/office/drawing/2014/main" val="3597230632"/>
                    </a:ext>
                  </a:extLst>
                </a:gridCol>
              </a:tblGrid>
              <a:tr h="336315"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noProof="0">
                          <a:latin typeface="+mn-lt"/>
                        </a:rPr>
                        <a:t>01/07</a:t>
                      </a:r>
                    </a:p>
                  </a:txBody>
                  <a:tcPr marL="36000" marR="36000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noProof="0">
                          <a:latin typeface="+mn-lt"/>
                        </a:rPr>
                        <a:t>08/07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noProof="0">
                          <a:latin typeface="+mn-lt"/>
                        </a:rPr>
                        <a:t>15/07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noProof="0">
                          <a:latin typeface="+mn-lt"/>
                        </a:rPr>
                        <a:t>22/07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noProof="0">
                          <a:latin typeface="+mn-lt"/>
                        </a:rPr>
                        <a:t>29/07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noProof="0">
                          <a:latin typeface="+mn-lt"/>
                        </a:rPr>
                        <a:t>05/08</a:t>
                      </a:r>
                    </a:p>
                  </a:txBody>
                  <a:tcPr marL="36000" marR="36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843202"/>
                  </a:ext>
                </a:extLst>
              </a:tr>
              <a:tr h="892523">
                <a:tc rowSpan="2"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1" kern="1200" noProof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PMO</a:t>
                      </a:r>
                    </a:p>
                  </a:txBody>
                  <a:tcPr marL="72000" marR="72000" marT="72000" marB="72000" vert="vert27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058742"/>
                  </a:ext>
                </a:extLst>
              </a:tr>
              <a:tr h="307069">
                <a:tc vMerge="1"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1" kern="1200" noProof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Xxxxxx</a:t>
                      </a:r>
                      <a:endParaRPr lang="en-GB" sz="800" b="1" kern="1200" noProof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72000" marB="72000" vert="vert27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383101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WP19 + WP21</a:t>
                      </a:r>
                    </a:p>
                  </a:txBody>
                  <a:tcPr marL="72000" marR="72000" marT="36000" marB="36000" vert="vert27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833319"/>
                  </a:ext>
                </a:extLst>
              </a:tr>
              <a:tr h="1152000">
                <a:tc rowSpan="2"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WP20</a:t>
                      </a:r>
                    </a:p>
                  </a:txBody>
                  <a:tcPr marL="72000" marR="72000" marT="36000" marB="36000" vert="vert27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4570332"/>
                  </a:ext>
                </a:extLst>
              </a:tr>
              <a:tr h="1152000">
                <a:tc vMerge="1"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vert="vert27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 noProof="0">
                        <a:latin typeface="+mn-lt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698563"/>
                  </a:ext>
                </a:extLst>
              </a:tr>
            </a:tbl>
          </a:graphicData>
        </a:graphic>
      </p:graphicFrame>
      <p:grpSp>
        <p:nvGrpSpPr>
          <p:cNvPr id="68" name="Group 67">
            <a:extLst>
              <a:ext uri="{FF2B5EF4-FFF2-40B4-BE49-F238E27FC236}">
                <a16:creationId xmlns:a16="http://schemas.microsoft.com/office/drawing/2014/main" id="{7B687C93-BD3A-570A-BCF4-6118E61F87FF}"/>
              </a:ext>
            </a:extLst>
          </p:cNvPr>
          <p:cNvGrpSpPr/>
          <p:nvPr/>
        </p:nvGrpSpPr>
        <p:grpSpPr>
          <a:xfrm>
            <a:off x="515036" y="1167018"/>
            <a:ext cx="9393895" cy="130770"/>
            <a:chOff x="515036" y="1167018"/>
            <a:chExt cx="9393895" cy="130770"/>
          </a:xfrm>
        </p:grpSpPr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5D8A01A5-C366-D5D4-8822-D70A403A913A}"/>
                </a:ext>
              </a:extLst>
            </p:cNvPr>
            <p:cNvCxnSpPr>
              <a:cxnSpLocks/>
            </p:cNvCxnSpPr>
            <p:nvPr/>
          </p:nvCxnSpPr>
          <p:spPr>
            <a:xfrm>
              <a:off x="515036" y="1232403"/>
              <a:ext cx="9393895" cy="0"/>
            </a:xfrm>
            <a:prstGeom prst="line">
              <a:avLst/>
            </a:prstGeom>
            <a:ln w="19050">
              <a:solidFill>
                <a:schemeClr val="accent5">
                  <a:lumMod val="50000"/>
                </a:schemeClr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47D68440-66D6-A1B8-17C4-92566C06D2E6}"/>
                </a:ext>
              </a:extLst>
            </p:cNvPr>
            <p:cNvSpPr/>
            <p:nvPr/>
          </p:nvSpPr>
          <p:spPr>
            <a:xfrm>
              <a:off x="4859211" y="1167018"/>
              <a:ext cx="705545" cy="1307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1" i="1" u="none" strike="noStrike" kern="1200" cap="none" spc="0" normalizeH="0" baseline="0">
                  <a:ln>
                    <a:noFill/>
                  </a:ln>
                  <a:solidFill>
                    <a:srgbClr val="4A4D4E"/>
                  </a:solidFill>
                  <a:effectLst/>
                  <a:uLnTx/>
                  <a:uFillTx/>
                  <a:ea typeface="+mn-ea"/>
                  <a:cs typeface="+mn-cs"/>
                </a:rPr>
                <a:t>Julho</a:t>
              </a:r>
            </a:p>
          </p:txBody>
        </p:sp>
      </p:grp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1855D8A7-8CCD-81CB-370D-8BFE7DB882C0}"/>
              </a:ext>
            </a:extLst>
          </p:cNvPr>
          <p:cNvCxnSpPr>
            <a:cxnSpLocks/>
          </p:cNvCxnSpPr>
          <p:nvPr/>
        </p:nvCxnSpPr>
        <p:spPr>
          <a:xfrm>
            <a:off x="10020112" y="1232403"/>
            <a:ext cx="1820454" cy="0"/>
          </a:xfrm>
          <a:prstGeom prst="line">
            <a:avLst/>
          </a:prstGeom>
          <a:ln w="19050">
            <a:solidFill>
              <a:schemeClr val="accent5">
                <a:lumMod val="5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FA782D-69E4-D3C9-A80C-9F635474BC85}"/>
              </a:ext>
            </a:extLst>
          </p:cNvPr>
          <p:cNvSpPr/>
          <p:nvPr/>
        </p:nvSpPr>
        <p:spPr>
          <a:xfrm>
            <a:off x="10445299" y="1167018"/>
            <a:ext cx="970081" cy="1307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1" u="none" strike="noStrike" kern="1200" cap="none" spc="0" normalizeH="0" baseline="0">
                <a:ln>
                  <a:noFill/>
                </a:ln>
                <a:solidFill>
                  <a:srgbClr val="4A4D4E"/>
                </a:solidFill>
                <a:effectLst/>
                <a:uLnTx/>
                <a:uFillTx/>
                <a:ea typeface="+mn-ea"/>
                <a:cs typeface="+mn-cs"/>
              </a:rPr>
              <a:t>Agosto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CAED0E5-DD06-B4A0-C935-5940AFDC3303}"/>
              </a:ext>
            </a:extLst>
          </p:cNvPr>
          <p:cNvGrpSpPr/>
          <p:nvPr/>
        </p:nvGrpSpPr>
        <p:grpSpPr>
          <a:xfrm>
            <a:off x="2932193" y="1680988"/>
            <a:ext cx="1118805" cy="4685878"/>
            <a:chOff x="2932193" y="1742532"/>
            <a:chExt cx="1118805" cy="4685878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C8B71DE-9432-52DC-DD93-17EE950698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32193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5748BD1-5AEF-8D6E-6D3B-6E3D7A7816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05128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2862FD3-93A6-7125-C4F8-966074F2C9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78063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2BEFE66-E58A-9F9C-3F21-3A2138B85F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0998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72F6CA4-A58A-2D63-A684-4A01F5B0D8EC}"/>
              </a:ext>
            </a:extLst>
          </p:cNvPr>
          <p:cNvGrpSpPr/>
          <p:nvPr/>
        </p:nvGrpSpPr>
        <p:grpSpPr>
          <a:xfrm>
            <a:off x="6663089" y="1680988"/>
            <a:ext cx="1118805" cy="4685878"/>
            <a:chOff x="2932193" y="1742532"/>
            <a:chExt cx="1118805" cy="4685878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350B4DF-BCB5-DC12-2281-F54F970172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32193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FF5732F-ECC8-0571-F6F5-CAE73C6C74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05128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A95D9D8-30FC-9CBC-0898-B822134CDD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78063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CCDBB22-F4ED-95AA-00AE-87AD37FA35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0998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C9F7BF2-1A5D-7315-B428-4DDCDE81D3CB}"/>
              </a:ext>
            </a:extLst>
          </p:cNvPr>
          <p:cNvGrpSpPr/>
          <p:nvPr/>
        </p:nvGrpSpPr>
        <p:grpSpPr>
          <a:xfrm>
            <a:off x="8528537" y="1680988"/>
            <a:ext cx="1118805" cy="4685878"/>
            <a:chOff x="2932193" y="1742532"/>
            <a:chExt cx="1118805" cy="4685878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A05878B-95B2-5981-6C29-2D516E093E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32193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7D805FF-1D5C-7033-F377-F23DF1F7CF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05128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4333B33-35B4-D05B-489B-BA058BE8FE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78063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0D4A914-F2E1-1DBE-396B-2D4FF2451A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0998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BD3C5BB-E190-6AEB-794C-127194B93732}"/>
              </a:ext>
            </a:extLst>
          </p:cNvPr>
          <p:cNvGrpSpPr/>
          <p:nvPr/>
        </p:nvGrpSpPr>
        <p:grpSpPr>
          <a:xfrm>
            <a:off x="10393984" y="1680988"/>
            <a:ext cx="1118805" cy="4685878"/>
            <a:chOff x="2932193" y="1742532"/>
            <a:chExt cx="1118805" cy="4685878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44CDC74-DDFF-F516-EEA6-A88EF72DEB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32193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A0C49A9-1B81-AF5B-B1D8-45D5089EDE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05128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7BD14EB8-FEDE-4EBF-9646-2F9A62D1D7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78063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9750A70-FB6F-6D06-5B67-46C16DD6C0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0998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F99DD06-6F2F-8574-6954-91EA577EA824}"/>
              </a:ext>
            </a:extLst>
          </p:cNvPr>
          <p:cNvGrpSpPr/>
          <p:nvPr/>
        </p:nvGrpSpPr>
        <p:grpSpPr>
          <a:xfrm>
            <a:off x="952693" y="1680988"/>
            <a:ext cx="1118805" cy="4685878"/>
            <a:chOff x="2932193" y="1742532"/>
            <a:chExt cx="1118805" cy="4685878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9BA0B20-2E5D-DBEE-9695-33F8A5B78B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32193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1C2E07E-35E5-E5FD-208A-BBC2B8CB76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05128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57746E19-8E38-5787-60C0-6D0BEBE98A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78063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5422DCF0-CAF8-33E5-1174-34ABC8F4EC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0998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Arrow: Pentagon 29">
            <a:extLst>
              <a:ext uri="{FF2B5EF4-FFF2-40B4-BE49-F238E27FC236}">
                <a16:creationId xmlns:a16="http://schemas.microsoft.com/office/drawing/2014/main" id="{CF77C79E-EBEB-194C-E615-767B71B3382F}"/>
              </a:ext>
            </a:extLst>
          </p:cNvPr>
          <p:cNvSpPr/>
          <p:nvPr/>
        </p:nvSpPr>
        <p:spPr>
          <a:xfrm>
            <a:off x="489055" y="1671903"/>
            <a:ext cx="2047603" cy="198000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7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Configuração</a:t>
            </a:r>
          </a:p>
        </p:txBody>
      </p:sp>
      <p:sp>
        <p:nvSpPr>
          <p:cNvPr id="304" name="Arrow: Pentagon 303">
            <a:extLst>
              <a:ext uri="{FF2B5EF4-FFF2-40B4-BE49-F238E27FC236}">
                <a16:creationId xmlns:a16="http://schemas.microsoft.com/office/drawing/2014/main" id="{62E5B5F4-2CFF-C7EF-8647-E73059029877}"/>
              </a:ext>
            </a:extLst>
          </p:cNvPr>
          <p:cNvSpPr/>
          <p:nvPr/>
        </p:nvSpPr>
        <p:spPr>
          <a:xfrm>
            <a:off x="489055" y="1926716"/>
            <a:ext cx="819748" cy="198000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700" b="1" i="0" u="none" strike="noStrike" kern="1200" cap="none" spc="0" normalizeH="0" baseline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Mob</a:t>
            </a:r>
            <a:r>
              <a:rPr kumimoji="0" lang="pt-PT" sz="7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. da Equipa</a:t>
            </a:r>
          </a:p>
        </p:txBody>
      </p:sp>
      <p:sp>
        <p:nvSpPr>
          <p:cNvPr id="305" name="Arrow: Pentagon 304">
            <a:extLst>
              <a:ext uri="{FF2B5EF4-FFF2-40B4-BE49-F238E27FC236}">
                <a16:creationId xmlns:a16="http://schemas.microsoft.com/office/drawing/2014/main" id="{2EBE0EA6-9A5B-2D68-1C8D-9434ACFA4C6D}"/>
              </a:ext>
            </a:extLst>
          </p:cNvPr>
          <p:cNvSpPr/>
          <p:nvPr/>
        </p:nvSpPr>
        <p:spPr>
          <a:xfrm>
            <a:off x="965296" y="2190429"/>
            <a:ext cx="727485" cy="198000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7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Cadência &amp; Rep.</a:t>
            </a:r>
          </a:p>
        </p:txBody>
      </p:sp>
      <p:sp>
        <p:nvSpPr>
          <p:cNvPr id="306" name="Arrow: Pentagon 305">
            <a:extLst>
              <a:ext uri="{FF2B5EF4-FFF2-40B4-BE49-F238E27FC236}">
                <a16:creationId xmlns:a16="http://schemas.microsoft.com/office/drawing/2014/main" id="{9DE66D4E-687D-70A9-61A5-1AFE86DC29ED}"/>
              </a:ext>
            </a:extLst>
          </p:cNvPr>
          <p:cNvSpPr/>
          <p:nvPr/>
        </p:nvSpPr>
        <p:spPr>
          <a:xfrm>
            <a:off x="1704096" y="2470228"/>
            <a:ext cx="727485" cy="198000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7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Prep. </a:t>
            </a:r>
            <a:r>
              <a:rPr kumimoji="0" lang="pt-PT" sz="700" b="1" i="1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Templates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E7B3324-B17D-C66F-0669-08813E1F5B58}"/>
              </a:ext>
            </a:extLst>
          </p:cNvPr>
          <p:cNvGrpSpPr/>
          <p:nvPr/>
        </p:nvGrpSpPr>
        <p:grpSpPr>
          <a:xfrm>
            <a:off x="4797641" y="1680988"/>
            <a:ext cx="1118805" cy="4685878"/>
            <a:chOff x="2932193" y="1742532"/>
            <a:chExt cx="1118805" cy="4685878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D309F4D-1F50-6225-4018-4C862DFCD8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32193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4F55FF0-F847-926E-9DAA-B3781AD2E1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05128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EE18904-CAD6-78E5-F64A-5626059DBF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78063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B875C73-156A-B7D1-2E28-580D48A739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0998" y="1742532"/>
              <a:ext cx="0" cy="4685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7" name="Arrow: Pentagon 316">
            <a:extLst>
              <a:ext uri="{FF2B5EF4-FFF2-40B4-BE49-F238E27FC236}">
                <a16:creationId xmlns:a16="http://schemas.microsoft.com/office/drawing/2014/main" id="{D8C76089-BC04-C123-E3BE-ACAC43D4A7FB}"/>
              </a:ext>
            </a:extLst>
          </p:cNvPr>
          <p:cNvSpPr/>
          <p:nvPr/>
        </p:nvSpPr>
        <p:spPr>
          <a:xfrm>
            <a:off x="2555713" y="1926716"/>
            <a:ext cx="1115944" cy="198000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7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Planeamento </a:t>
            </a:r>
            <a:r>
              <a:rPr kumimoji="0" lang="pt-PT" sz="700" b="1" i="1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KS</a:t>
            </a:r>
          </a:p>
        </p:txBody>
      </p:sp>
      <p:sp>
        <p:nvSpPr>
          <p:cNvPr id="319" name="Arrow: Pentagon 318">
            <a:extLst>
              <a:ext uri="{FF2B5EF4-FFF2-40B4-BE49-F238E27FC236}">
                <a16:creationId xmlns:a16="http://schemas.microsoft.com/office/drawing/2014/main" id="{58D29C47-C0D9-BFFC-4D11-C7F45E7FC954}"/>
              </a:ext>
            </a:extLst>
          </p:cNvPr>
          <p:cNvSpPr/>
          <p:nvPr/>
        </p:nvSpPr>
        <p:spPr>
          <a:xfrm>
            <a:off x="3302159" y="2190429"/>
            <a:ext cx="1115944" cy="198000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7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Plano de Comunicação Estratégica de </a:t>
            </a:r>
            <a:r>
              <a:rPr kumimoji="0" lang="pt-PT" sz="700" b="1" i="1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SC</a:t>
            </a:r>
          </a:p>
        </p:txBody>
      </p:sp>
      <p:sp>
        <p:nvSpPr>
          <p:cNvPr id="23" name="Diamond 22">
            <a:extLst>
              <a:ext uri="{FF2B5EF4-FFF2-40B4-BE49-F238E27FC236}">
                <a16:creationId xmlns:a16="http://schemas.microsoft.com/office/drawing/2014/main" id="{FE7D9135-599F-F2B3-11DB-A7EAFDAAC708}"/>
              </a:ext>
            </a:extLst>
          </p:cNvPr>
          <p:cNvSpPr/>
          <p:nvPr/>
        </p:nvSpPr>
        <p:spPr>
          <a:xfrm>
            <a:off x="4342019" y="1926716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27" name="Diamond 26">
            <a:extLst>
              <a:ext uri="{FF2B5EF4-FFF2-40B4-BE49-F238E27FC236}">
                <a16:creationId xmlns:a16="http://schemas.microsoft.com/office/drawing/2014/main" id="{057DA5B2-A93A-5B93-0EE4-6A6549E5F79B}"/>
              </a:ext>
            </a:extLst>
          </p:cNvPr>
          <p:cNvSpPr/>
          <p:nvPr/>
        </p:nvSpPr>
        <p:spPr>
          <a:xfrm>
            <a:off x="8075123" y="1922574"/>
            <a:ext cx="144000" cy="144000"/>
          </a:xfrm>
          <a:prstGeom prst="diamond">
            <a:avLst/>
          </a:prstGeom>
          <a:solidFill>
            <a:schemeClr val="accent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0CDF51A1-6E85-46F5-9617-3021C894A0DA}"/>
              </a:ext>
            </a:extLst>
          </p:cNvPr>
          <p:cNvSpPr/>
          <p:nvPr/>
        </p:nvSpPr>
        <p:spPr>
          <a:xfrm>
            <a:off x="9943942" y="1932477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DB77973-AC69-3573-D2BC-AEB9FB1C5594}"/>
              </a:ext>
            </a:extLst>
          </p:cNvPr>
          <p:cNvGrpSpPr/>
          <p:nvPr/>
        </p:nvGrpSpPr>
        <p:grpSpPr>
          <a:xfrm>
            <a:off x="4075417" y="6435775"/>
            <a:ext cx="5530019" cy="216000"/>
            <a:chOff x="4075417" y="6435775"/>
            <a:chExt cx="5530019" cy="216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C8842B0-A9B6-3C61-645B-76C2241ED080}"/>
                </a:ext>
              </a:extLst>
            </p:cNvPr>
            <p:cNvSpPr/>
            <p:nvPr/>
          </p:nvSpPr>
          <p:spPr>
            <a:xfrm>
              <a:off x="4075417" y="6480815"/>
              <a:ext cx="668785" cy="11855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900" b="1">
                  <a:solidFill>
                    <a:schemeClr val="tx1"/>
                  </a:solidFill>
                </a:rPr>
                <a:t>Legenda :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2D94A72-5FEF-55E4-5825-01BF4741BFB8}"/>
                </a:ext>
              </a:extLst>
            </p:cNvPr>
            <p:cNvSpPr/>
            <p:nvPr/>
          </p:nvSpPr>
          <p:spPr>
            <a:xfrm>
              <a:off x="4808325" y="6480815"/>
              <a:ext cx="1825792" cy="1259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900" i="1">
                  <a:solidFill>
                    <a:schemeClr val="tx1"/>
                  </a:solidFill>
                </a:rPr>
                <a:t>SteerCo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570E273-1E3A-9A2D-667A-98C3C386048C}"/>
                </a:ext>
              </a:extLst>
            </p:cNvPr>
            <p:cNvSpPr/>
            <p:nvPr/>
          </p:nvSpPr>
          <p:spPr>
            <a:xfrm>
              <a:off x="5455759" y="6480815"/>
              <a:ext cx="1610113" cy="1259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900" i="1">
                  <a:solidFill>
                    <a:schemeClr val="tx1"/>
                  </a:solidFill>
                </a:rPr>
                <a:t>Milestones</a:t>
              </a:r>
            </a:p>
          </p:txBody>
        </p:sp>
        <p:sp>
          <p:nvSpPr>
            <p:cNvPr id="53" name="Diamond 52">
              <a:extLst>
                <a:ext uri="{FF2B5EF4-FFF2-40B4-BE49-F238E27FC236}">
                  <a16:creationId xmlns:a16="http://schemas.microsoft.com/office/drawing/2014/main" id="{2970D399-2583-0B2B-C42F-3079CF9F12F9}"/>
                </a:ext>
              </a:extLst>
            </p:cNvPr>
            <p:cNvSpPr/>
            <p:nvPr/>
          </p:nvSpPr>
          <p:spPr>
            <a:xfrm>
              <a:off x="4671184" y="6435775"/>
              <a:ext cx="216000" cy="216000"/>
            </a:xfrm>
            <a:prstGeom prst="diamond">
              <a:avLst/>
            </a:prstGeom>
            <a:solidFill>
              <a:schemeClr val="accent2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PT" sz="700">
                <a:solidFill>
                  <a:srgbClr val="575756"/>
                </a:solidFill>
              </a:endParaRPr>
            </a:p>
          </p:txBody>
        </p:sp>
        <p:sp>
          <p:nvSpPr>
            <p:cNvPr id="54" name="Diamond 53">
              <a:extLst>
                <a:ext uri="{FF2B5EF4-FFF2-40B4-BE49-F238E27FC236}">
                  <a16:creationId xmlns:a16="http://schemas.microsoft.com/office/drawing/2014/main" id="{F64D9E41-3B9A-D9C8-4303-622AEBCAD9AF}"/>
                </a:ext>
              </a:extLst>
            </p:cNvPr>
            <p:cNvSpPr/>
            <p:nvPr/>
          </p:nvSpPr>
          <p:spPr>
            <a:xfrm>
              <a:off x="5287867" y="6435775"/>
              <a:ext cx="216000" cy="216000"/>
            </a:xfrm>
            <a:prstGeom prst="diamond">
              <a:avLst/>
            </a:prstGeom>
            <a:solidFill>
              <a:srgbClr val="40749B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PT" sz="700">
                <a:solidFill>
                  <a:srgbClr val="575756"/>
                </a:solidFill>
              </a:endParaRP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F1EDC76B-E0E4-775C-C869-CC7EF26D89F2}"/>
                </a:ext>
              </a:extLst>
            </p:cNvPr>
            <p:cNvGrpSpPr/>
            <p:nvPr/>
          </p:nvGrpSpPr>
          <p:grpSpPr>
            <a:xfrm>
              <a:off x="7843076" y="6453775"/>
              <a:ext cx="1762360" cy="180000"/>
              <a:chOff x="6194899" y="6455685"/>
              <a:chExt cx="1762360" cy="180000"/>
            </a:xfrm>
          </p:grpSpPr>
          <p:sp>
            <p:nvSpPr>
              <p:cNvPr id="58" name="Star: 5 Points 57">
                <a:extLst>
                  <a:ext uri="{FF2B5EF4-FFF2-40B4-BE49-F238E27FC236}">
                    <a16:creationId xmlns:a16="http://schemas.microsoft.com/office/drawing/2014/main" id="{5AA8948B-122F-1C4B-3ADE-6EF1F75DA9ED}"/>
                  </a:ext>
                </a:extLst>
              </p:cNvPr>
              <p:cNvSpPr/>
              <p:nvPr/>
            </p:nvSpPr>
            <p:spPr>
              <a:xfrm>
                <a:off x="6194899" y="6455685"/>
                <a:ext cx="180000" cy="180000"/>
              </a:xfrm>
              <a:prstGeom prst="star5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A256D76B-6FD9-6014-0C21-48C3B7FA6FE5}"/>
                  </a:ext>
                </a:extLst>
              </p:cNvPr>
              <p:cNvSpPr/>
              <p:nvPr/>
            </p:nvSpPr>
            <p:spPr>
              <a:xfrm>
                <a:off x="6347146" y="6482725"/>
                <a:ext cx="1610113" cy="1259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PT" sz="900">
                    <a:solidFill>
                      <a:schemeClr val="tx1"/>
                    </a:solidFill>
                  </a:rPr>
                  <a:t>Participação da EDM</a:t>
                </a:r>
              </a:p>
            </p:txBody>
          </p:sp>
        </p:grp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2473A40-487B-DD4F-DCC7-F03A508837C0}"/>
                </a:ext>
              </a:extLst>
            </p:cNvPr>
            <p:cNvSpPr/>
            <p:nvPr/>
          </p:nvSpPr>
          <p:spPr>
            <a:xfrm>
              <a:off x="6260504" y="6480815"/>
              <a:ext cx="2193398" cy="11855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900">
                  <a:solidFill>
                    <a:schemeClr val="tx1"/>
                  </a:solidFill>
                </a:rPr>
                <a:t>Reunião de </a:t>
              </a:r>
              <a:r>
                <a:rPr lang="pt-PT" sz="900" i="1">
                  <a:solidFill>
                    <a:schemeClr val="tx1"/>
                  </a:solidFill>
                </a:rPr>
                <a:t>Status</a:t>
              </a:r>
              <a:r>
                <a:rPr lang="pt-PT" sz="900">
                  <a:solidFill>
                    <a:schemeClr val="tx1"/>
                  </a:solidFill>
                </a:rPr>
                <a:t> do Projeto</a:t>
              </a:r>
            </a:p>
          </p:txBody>
        </p:sp>
        <p:sp>
          <p:nvSpPr>
            <p:cNvPr id="57" name="Diamond 56">
              <a:extLst>
                <a:ext uri="{FF2B5EF4-FFF2-40B4-BE49-F238E27FC236}">
                  <a16:creationId xmlns:a16="http://schemas.microsoft.com/office/drawing/2014/main" id="{BAD7AB27-3D59-3BD5-6321-C29845BA7E74}"/>
                </a:ext>
              </a:extLst>
            </p:cNvPr>
            <p:cNvSpPr/>
            <p:nvPr/>
          </p:nvSpPr>
          <p:spPr>
            <a:xfrm>
              <a:off x="6092612" y="6435775"/>
              <a:ext cx="216000" cy="216000"/>
            </a:xfrm>
            <a:prstGeom prst="diamond">
              <a:avLst/>
            </a:prstGeom>
            <a:solidFill>
              <a:schemeClr val="accent6">
                <a:lumMod val="75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PT" sz="700">
                <a:solidFill>
                  <a:srgbClr val="575756"/>
                </a:solidFill>
              </a:endParaRPr>
            </a:p>
          </p:txBody>
        </p:sp>
      </p:grp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4FF0C65-63AE-5153-4E91-6AF171F15CB5}"/>
              </a:ext>
            </a:extLst>
          </p:cNvPr>
          <p:cNvSpPr/>
          <p:nvPr/>
        </p:nvSpPr>
        <p:spPr>
          <a:xfrm>
            <a:off x="6374666" y="2177638"/>
            <a:ext cx="1211467" cy="502813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800" i="1">
                <a:solidFill>
                  <a:srgbClr val="34342B"/>
                </a:solidFill>
              </a:rPr>
              <a:t>Comunicar Estratégia de SC (19 de Julho) para iniciar com o embedment de planeamento em 26 de Julho</a:t>
            </a:r>
            <a:endParaRPr kumimoji="0" lang="en-GB" sz="800" b="0" i="1" u="none" strike="noStrike" kern="1200" cap="none" spc="0" normalizeH="0" baseline="0" noProof="0">
              <a:ln>
                <a:noFill/>
              </a:ln>
              <a:solidFill>
                <a:srgbClr val="34342B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AD314A59-A03E-B6D1-9403-EAE91C19877D}"/>
              </a:ext>
            </a:extLst>
          </p:cNvPr>
          <p:cNvSpPr/>
          <p:nvPr/>
        </p:nvSpPr>
        <p:spPr>
          <a:xfrm>
            <a:off x="436792" y="6484157"/>
            <a:ext cx="3574495" cy="131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900" b="1">
                <a:solidFill>
                  <a:schemeClr val="tx1"/>
                </a:solidFill>
              </a:rPr>
              <a:t>Nota: </a:t>
            </a:r>
            <a:r>
              <a:rPr lang="pt-PT" sz="900" b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¹ </a:t>
            </a:r>
            <a:r>
              <a:rPr lang="pt-PT" sz="9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formato e </a:t>
            </a:r>
            <a:r>
              <a:rPr lang="pt-PT" sz="900" i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timing</a:t>
            </a:r>
            <a:r>
              <a:rPr lang="pt-PT" sz="9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a ser validado pela EDM </a:t>
            </a:r>
            <a:endParaRPr lang="pt-PT" sz="900" b="1">
              <a:solidFill>
                <a:schemeClr val="tx1"/>
              </a:solidFill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2FCFFD8A-7EEE-D20B-64D5-0415B7F21E44}"/>
              </a:ext>
            </a:extLst>
          </p:cNvPr>
          <p:cNvSpPr/>
          <p:nvPr/>
        </p:nvSpPr>
        <p:spPr>
          <a:xfrm>
            <a:off x="9129452" y="6480815"/>
            <a:ext cx="1836000" cy="1259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900">
                <a:solidFill>
                  <a:schemeClr val="tx1"/>
                </a:solidFill>
              </a:rPr>
              <a:t>Dedicação a tempo inteiro da EDM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73A1C3B-632B-7F13-FEFB-D516108EAB79}"/>
              </a:ext>
            </a:extLst>
          </p:cNvPr>
          <p:cNvGrpSpPr/>
          <p:nvPr/>
        </p:nvGrpSpPr>
        <p:grpSpPr>
          <a:xfrm>
            <a:off x="6196455" y="1686901"/>
            <a:ext cx="1389678" cy="993550"/>
            <a:chOff x="1650838" y="1660525"/>
            <a:chExt cx="1389678" cy="99355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66DB230-C98A-DBB1-6E6E-61F2B1638B18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1720158" y="1660525"/>
              <a:ext cx="2680" cy="68888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Diamond 6">
              <a:extLst>
                <a:ext uri="{FF2B5EF4-FFF2-40B4-BE49-F238E27FC236}">
                  <a16:creationId xmlns:a16="http://schemas.microsoft.com/office/drawing/2014/main" id="{DBD01013-08C3-25C4-C642-2AB52960E204}"/>
                </a:ext>
              </a:extLst>
            </p:cNvPr>
            <p:cNvSpPr/>
            <p:nvPr/>
          </p:nvSpPr>
          <p:spPr>
            <a:xfrm>
              <a:off x="1650838" y="2349405"/>
              <a:ext cx="144000" cy="144000"/>
            </a:xfrm>
            <a:prstGeom prst="diamond">
              <a:avLst/>
            </a:prstGeom>
            <a:solidFill>
              <a:srgbClr val="40749B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PT" sz="700">
                <a:solidFill>
                  <a:srgbClr val="575756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6B940A-25C8-CD8F-3F9C-64B460D6E32D}"/>
                </a:ext>
              </a:extLst>
            </p:cNvPr>
            <p:cNvSpPr/>
            <p:nvPr/>
          </p:nvSpPr>
          <p:spPr>
            <a:xfrm>
              <a:off x="1829049" y="2151262"/>
              <a:ext cx="1211467" cy="5028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marL="0" marR="0" lvl="0" indent="0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800" i="1">
                  <a:solidFill>
                    <a:srgbClr val="34342B"/>
                  </a:solidFill>
                </a:rPr>
                <a:t>Comunicar Estratégia de SC (19 de Julho) para iniciar com o embedment de planeamento em 26 de Julho</a:t>
              </a:r>
              <a:endParaRPr kumimoji="0" lang="en-GB" sz="800" b="0" i="1" u="none" strike="noStrike" kern="1200" cap="none" spc="0" normalizeH="0" baseline="0" noProof="0">
                <a:ln>
                  <a:noFill/>
                </a:ln>
                <a:solidFill>
                  <a:srgbClr val="34342B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4DB71D1C-C003-2BC8-EE13-29947ADD0BF5}"/>
              </a:ext>
            </a:extLst>
          </p:cNvPr>
          <p:cNvGrpSpPr/>
          <p:nvPr/>
        </p:nvGrpSpPr>
        <p:grpSpPr>
          <a:xfrm>
            <a:off x="2549769" y="1671903"/>
            <a:ext cx="9338637" cy="215584"/>
            <a:chOff x="636759" y="1645527"/>
            <a:chExt cx="11251648" cy="215584"/>
          </a:xfrm>
        </p:grpSpPr>
        <p:sp>
          <p:nvSpPr>
            <p:cNvPr id="251" name="Arrow: Pentagon 250">
              <a:extLst>
                <a:ext uri="{FF2B5EF4-FFF2-40B4-BE49-F238E27FC236}">
                  <a16:creationId xmlns:a16="http://schemas.microsoft.com/office/drawing/2014/main" id="{F9B84D92-4562-E372-799A-032D795A9B82}"/>
                </a:ext>
              </a:extLst>
            </p:cNvPr>
            <p:cNvSpPr/>
            <p:nvPr/>
          </p:nvSpPr>
          <p:spPr>
            <a:xfrm>
              <a:off x="636759" y="1663111"/>
              <a:ext cx="11251648" cy="198000"/>
            </a:xfrm>
            <a:prstGeom prst="homePlate">
              <a:avLst/>
            </a:prstGeom>
            <a:gradFill>
              <a:gsLst>
                <a:gs pos="0">
                  <a:srgbClr val="7F7F7F"/>
                </a:gs>
                <a:gs pos="50000">
                  <a:srgbClr val="7F7F7F"/>
                </a:gs>
                <a:gs pos="51000">
                  <a:schemeClr val="bg2">
                    <a:lumMod val="90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7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0325E38C-CDBF-87F9-35DF-D537BD95D467}"/>
                </a:ext>
              </a:extLst>
            </p:cNvPr>
            <p:cNvSpPr/>
            <p:nvPr/>
          </p:nvSpPr>
          <p:spPr>
            <a:xfrm>
              <a:off x="5340228" y="1645527"/>
              <a:ext cx="1621262" cy="1412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900" b="1">
                  <a:solidFill>
                    <a:schemeClr val="bg1"/>
                  </a:solidFill>
                </a:rPr>
                <a:t>PMO + Embedment</a:t>
              </a:r>
            </a:p>
          </p:txBody>
        </p:sp>
      </p:grpSp>
      <p:sp>
        <p:nvSpPr>
          <p:cNvPr id="320" name="Arrow: Pentagon 319">
            <a:extLst>
              <a:ext uri="{FF2B5EF4-FFF2-40B4-BE49-F238E27FC236}">
                <a16:creationId xmlns:a16="http://schemas.microsoft.com/office/drawing/2014/main" id="{1AA44619-1526-1D20-4B06-B2769F4B62C1}"/>
              </a:ext>
            </a:extLst>
          </p:cNvPr>
          <p:cNvSpPr/>
          <p:nvPr/>
        </p:nvSpPr>
        <p:spPr>
          <a:xfrm>
            <a:off x="3301708" y="2665322"/>
            <a:ext cx="8575509" cy="187200"/>
          </a:xfrm>
          <a:prstGeom prst="homePlate">
            <a:avLst/>
          </a:prstGeom>
          <a:solidFill>
            <a:srgbClr val="7EA9CA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700" b="1">
                <a:solidFill>
                  <a:schemeClr val="bg1"/>
                </a:solidFill>
              </a:rPr>
              <a:t>E</a:t>
            </a:r>
            <a:r>
              <a:rPr kumimoji="0" lang="pt-PT" sz="7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mbedment do modelo operacional + recomendações de outros WP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ADA329E1-4795-CFC8-4741-D875B8597540}"/>
              </a:ext>
            </a:extLst>
          </p:cNvPr>
          <p:cNvSpPr/>
          <p:nvPr/>
        </p:nvSpPr>
        <p:spPr>
          <a:xfrm>
            <a:off x="6207639" y="1929470"/>
            <a:ext cx="144000" cy="144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9A64D070-68E7-B0B9-7B7D-F502E8672BA7}"/>
              </a:ext>
            </a:extLst>
          </p:cNvPr>
          <p:cNvSpPr/>
          <p:nvPr/>
        </p:nvSpPr>
        <p:spPr>
          <a:xfrm>
            <a:off x="1699564" y="2978472"/>
            <a:ext cx="352800" cy="1872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>
              <a:solidFill>
                <a:schemeClr val="bg1"/>
              </a:solidFill>
            </a:endParaRPr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03C3063A-D8D9-1B30-5FA4-542766BCDF6B}"/>
              </a:ext>
            </a:extLst>
          </p:cNvPr>
          <p:cNvSpPr/>
          <p:nvPr/>
        </p:nvSpPr>
        <p:spPr>
          <a:xfrm>
            <a:off x="1699897" y="3299735"/>
            <a:ext cx="846000" cy="1872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>
              <a:solidFill>
                <a:schemeClr val="bg1"/>
              </a:solidFill>
            </a:endParaRPr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63E40616-6C67-0A51-F3C9-40447622BF86}"/>
              </a:ext>
            </a:extLst>
          </p:cNvPr>
          <p:cNvSpPr/>
          <p:nvPr/>
        </p:nvSpPr>
        <p:spPr>
          <a:xfrm>
            <a:off x="2555713" y="3592252"/>
            <a:ext cx="2988000" cy="1872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700" b="1">
                <a:solidFill>
                  <a:schemeClr val="bg1"/>
                </a:solidFill>
              </a:rPr>
              <a:t>Período de validação do relatório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9A5876-6BD6-A9A2-547D-89A48FABC6FB}"/>
              </a:ext>
            </a:extLst>
          </p:cNvPr>
          <p:cNvSpPr txBox="1"/>
          <p:nvPr/>
        </p:nvSpPr>
        <p:spPr>
          <a:xfrm>
            <a:off x="1987604" y="2885858"/>
            <a:ext cx="1410450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800" i="1">
                <a:solidFill>
                  <a:srgbClr val="34342B"/>
                </a:solidFill>
              </a:rPr>
              <a:t>Sessão de validação dos Gaps Identificados no JD Edward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CAC9CA-4DC3-A3C8-9F4A-BCB5B09B56DD}"/>
              </a:ext>
            </a:extLst>
          </p:cNvPr>
          <p:cNvSpPr txBox="1"/>
          <p:nvPr/>
        </p:nvSpPr>
        <p:spPr>
          <a:xfrm>
            <a:off x="2526155" y="3239783"/>
            <a:ext cx="1066621" cy="31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800" i="1">
                <a:solidFill>
                  <a:srgbClr val="34342B"/>
                </a:solidFill>
              </a:rPr>
              <a:t>Submissão da versão final do relatório</a:t>
            </a:r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CB2A6D1F-7951-03B3-01AA-A93D6D669C95}"/>
              </a:ext>
            </a:extLst>
          </p:cNvPr>
          <p:cNvSpPr/>
          <p:nvPr/>
        </p:nvSpPr>
        <p:spPr>
          <a:xfrm>
            <a:off x="5915949" y="3779452"/>
            <a:ext cx="360000" cy="1872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>
              <a:solidFill>
                <a:schemeClr val="bg1"/>
              </a:solidFill>
            </a:endParaRPr>
          </a:p>
        </p:txBody>
      </p:sp>
      <p:sp>
        <p:nvSpPr>
          <p:cNvPr id="22" name="Diamond 21">
            <a:extLst>
              <a:ext uri="{FF2B5EF4-FFF2-40B4-BE49-F238E27FC236}">
                <a16:creationId xmlns:a16="http://schemas.microsoft.com/office/drawing/2014/main" id="{4F388240-DDE6-DBA0-3B49-D28E16977382}"/>
              </a:ext>
            </a:extLst>
          </p:cNvPr>
          <p:cNvSpPr/>
          <p:nvPr/>
        </p:nvSpPr>
        <p:spPr>
          <a:xfrm>
            <a:off x="6196455" y="3806078"/>
            <a:ext cx="144000" cy="144000"/>
          </a:xfrm>
          <a:prstGeom prst="diamond">
            <a:avLst/>
          </a:prstGeom>
          <a:solidFill>
            <a:srgbClr val="40749B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01B6BFD-A5F7-CCFF-900B-DF036DF50199}"/>
              </a:ext>
            </a:extLst>
          </p:cNvPr>
          <p:cNvSpPr/>
          <p:nvPr/>
        </p:nvSpPr>
        <p:spPr>
          <a:xfrm>
            <a:off x="6394647" y="3791496"/>
            <a:ext cx="318741" cy="198584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700" i="1">
                <a:solidFill>
                  <a:srgbClr val="34342B"/>
                </a:solidFill>
              </a:rPr>
              <a:t>Sign-off</a:t>
            </a:r>
            <a:endParaRPr kumimoji="0" lang="en-GB" sz="700" b="0" i="1" u="none" strike="noStrike" kern="1200" cap="none" spc="0" normalizeH="0" baseline="0" noProof="0">
              <a:ln>
                <a:noFill/>
              </a:ln>
              <a:solidFill>
                <a:srgbClr val="34342B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2" name="Arrow: Pentagon 61">
            <a:extLst>
              <a:ext uri="{FF2B5EF4-FFF2-40B4-BE49-F238E27FC236}">
                <a16:creationId xmlns:a16="http://schemas.microsoft.com/office/drawing/2014/main" id="{2A1395B7-C2E0-1A79-8FCF-EF27A2C95EC3}"/>
              </a:ext>
            </a:extLst>
          </p:cNvPr>
          <p:cNvSpPr/>
          <p:nvPr/>
        </p:nvSpPr>
        <p:spPr>
          <a:xfrm>
            <a:off x="514739" y="4375994"/>
            <a:ext cx="5004000" cy="1872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700" b="1">
                <a:solidFill>
                  <a:schemeClr val="bg1"/>
                </a:solidFill>
              </a:rPr>
              <a:t>Alinhamento com o Departamento Responsável pela Gestão de Concursos</a:t>
            </a:r>
          </a:p>
        </p:txBody>
      </p:sp>
      <p:sp>
        <p:nvSpPr>
          <p:cNvPr id="67" name="Arrow: Pentagon 66">
            <a:extLst>
              <a:ext uri="{FF2B5EF4-FFF2-40B4-BE49-F238E27FC236}">
                <a16:creationId xmlns:a16="http://schemas.microsoft.com/office/drawing/2014/main" id="{84A5A435-7B76-10C8-2B10-DD311EF98E97}"/>
              </a:ext>
            </a:extLst>
          </p:cNvPr>
          <p:cNvSpPr/>
          <p:nvPr/>
        </p:nvSpPr>
        <p:spPr>
          <a:xfrm>
            <a:off x="2545364" y="5132086"/>
            <a:ext cx="5580000" cy="1872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700" b="1">
                <a:solidFill>
                  <a:schemeClr val="bg1"/>
                </a:solidFill>
              </a:rPr>
              <a:t>Desenvolvimento do Módulo de Concursos</a:t>
            </a:r>
          </a:p>
        </p:txBody>
      </p:sp>
      <p:sp>
        <p:nvSpPr>
          <p:cNvPr id="72" name="Star: 5 Points 71">
            <a:extLst>
              <a:ext uri="{FF2B5EF4-FFF2-40B4-BE49-F238E27FC236}">
                <a16:creationId xmlns:a16="http://schemas.microsoft.com/office/drawing/2014/main" id="{79CF282F-E625-4902-2050-A4F9B4B9601F}"/>
              </a:ext>
            </a:extLst>
          </p:cNvPr>
          <p:cNvSpPr/>
          <p:nvPr/>
        </p:nvSpPr>
        <p:spPr>
          <a:xfrm>
            <a:off x="487534" y="4336242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3" name="Arrow: Pentagon 72">
            <a:extLst>
              <a:ext uri="{FF2B5EF4-FFF2-40B4-BE49-F238E27FC236}">
                <a16:creationId xmlns:a16="http://schemas.microsoft.com/office/drawing/2014/main" id="{AE90651D-275B-86D1-682D-0814D4103C72}"/>
              </a:ext>
            </a:extLst>
          </p:cNvPr>
          <p:cNvSpPr/>
          <p:nvPr/>
        </p:nvSpPr>
        <p:spPr>
          <a:xfrm>
            <a:off x="10402777" y="5696859"/>
            <a:ext cx="684000" cy="1872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 i="1">
              <a:solidFill>
                <a:schemeClr val="bg1"/>
              </a:solidFill>
            </a:endParaRPr>
          </a:p>
        </p:txBody>
      </p:sp>
      <p:sp>
        <p:nvSpPr>
          <p:cNvPr id="74" name="Arrow: Pentagon 73">
            <a:extLst>
              <a:ext uri="{FF2B5EF4-FFF2-40B4-BE49-F238E27FC236}">
                <a16:creationId xmlns:a16="http://schemas.microsoft.com/office/drawing/2014/main" id="{F6508D67-B90E-39C2-C5AB-6566AB36E4E0}"/>
              </a:ext>
            </a:extLst>
          </p:cNvPr>
          <p:cNvSpPr/>
          <p:nvPr/>
        </p:nvSpPr>
        <p:spPr>
          <a:xfrm>
            <a:off x="4803225" y="5685246"/>
            <a:ext cx="1476000" cy="1872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700" b="1">
                <a:solidFill>
                  <a:schemeClr val="bg1"/>
                </a:solidFill>
              </a:rPr>
              <a:t>Definição dos Indicadores do Módulo de Relatórios</a:t>
            </a:r>
          </a:p>
        </p:txBody>
      </p:sp>
      <p:sp>
        <p:nvSpPr>
          <p:cNvPr id="76" name="Arrow: Pentagon 75">
            <a:extLst>
              <a:ext uri="{FF2B5EF4-FFF2-40B4-BE49-F238E27FC236}">
                <a16:creationId xmlns:a16="http://schemas.microsoft.com/office/drawing/2014/main" id="{9BD2F0EB-2A97-9970-5307-A4C4558FD3E0}"/>
              </a:ext>
            </a:extLst>
          </p:cNvPr>
          <p:cNvSpPr/>
          <p:nvPr/>
        </p:nvSpPr>
        <p:spPr>
          <a:xfrm>
            <a:off x="7404035" y="6152655"/>
            <a:ext cx="4464000" cy="187200"/>
          </a:xfrm>
          <a:prstGeom prst="homePlate">
            <a:avLst/>
          </a:prstGeom>
          <a:solidFill>
            <a:srgbClr val="EABAA5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700" b="1">
                <a:solidFill>
                  <a:schemeClr val="bg1"/>
                </a:solidFill>
              </a:rPr>
              <a:t>Implementação do Módulo de Relatórios</a:t>
            </a:r>
          </a:p>
        </p:txBody>
      </p:sp>
      <p:sp>
        <p:nvSpPr>
          <p:cNvPr id="79" name="Arrow: Pentagon 78">
            <a:extLst>
              <a:ext uri="{FF2B5EF4-FFF2-40B4-BE49-F238E27FC236}">
                <a16:creationId xmlns:a16="http://schemas.microsoft.com/office/drawing/2014/main" id="{9E0B113D-2E38-0B0C-B89B-F7AD991B5E06}"/>
              </a:ext>
            </a:extLst>
          </p:cNvPr>
          <p:cNvSpPr/>
          <p:nvPr/>
        </p:nvSpPr>
        <p:spPr>
          <a:xfrm>
            <a:off x="509603" y="4111821"/>
            <a:ext cx="2052000" cy="1872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700" b="1">
                <a:solidFill>
                  <a:schemeClr val="bg1"/>
                </a:solidFill>
              </a:rPr>
              <a:t>Criação das Especif. Téc. do Módulo de Concursos</a:t>
            </a:r>
          </a:p>
        </p:txBody>
      </p:sp>
      <p:sp>
        <p:nvSpPr>
          <p:cNvPr id="81" name="Diamond 80">
            <a:extLst>
              <a:ext uri="{FF2B5EF4-FFF2-40B4-BE49-F238E27FC236}">
                <a16:creationId xmlns:a16="http://schemas.microsoft.com/office/drawing/2014/main" id="{2CCB55E2-4B98-DDA7-9698-0FCE0533970F}"/>
              </a:ext>
            </a:extLst>
          </p:cNvPr>
          <p:cNvSpPr/>
          <p:nvPr/>
        </p:nvSpPr>
        <p:spPr>
          <a:xfrm>
            <a:off x="10972351" y="5716521"/>
            <a:ext cx="144000" cy="144000"/>
          </a:xfrm>
          <a:prstGeom prst="diamond">
            <a:avLst/>
          </a:prstGeom>
          <a:solidFill>
            <a:srgbClr val="40749B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>
              <a:solidFill>
                <a:srgbClr val="575756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341FB33-3574-BBE9-F517-44FDB2AF75D6}"/>
              </a:ext>
            </a:extLst>
          </p:cNvPr>
          <p:cNvSpPr/>
          <p:nvPr/>
        </p:nvSpPr>
        <p:spPr>
          <a:xfrm>
            <a:off x="10321971" y="5930615"/>
            <a:ext cx="840305" cy="215467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700" i="1">
                <a:solidFill>
                  <a:srgbClr val="34342B"/>
                </a:solidFill>
              </a:rPr>
              <a:t>Go-Live do Módulo de Concursos</a:t>
            </a:r>
            <a:endParaRPr kumimoji="0" lang="en-GB" sz="700" b="0" i="1" u="none" strike="noStrike" kern="1200" cap="none" spc="0" normalizeH="0" baseline="0" noProof="0">
              <a:ln>
                <a:noFill/>
              </a:ln>
              <a:solidFill>
                <a:srgbClr val="34342B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6" name="Star: 5 Points 85">
            <a:extLst>
              <a:ext uri="{FF2B5EF4-FFF2-40B4-BE49-F238E27FC236}">
                <a16:creationId xmlns:a16="http://schemas.microsoft.com/office/drawing/2014/main" id="{AA4B65A8-8C7F-A686-F7E2-81FCFC56C848}"/>
              </a:ext>
            </a:extLst>
          </p:cNvPr>
          <p:cNvSpPr/>
          <p:nvPr/>
        </p:nvSpPr>
        <p:spPr>
          <a:xfrm>
            <a:off x="4742519" y="5631312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7" name="Arrow: Pentagon 86">
            <a:extLst>
              <a:ext uri="{FF2B5EF4-FFF2-40B4-BE49-F238E27FC236}">
                <a16:creationId xmlns:a16="http://schemas.microsoft.com/office/drawing/2014/main" id="{45C6A777-AD59-A25F-F539-B127E4AB2B69}"/>
              </a:ext>
            </a:extLst>
          </p:cNvPr>
          <p:cNvSpPr/>
          <p:nvPr/>
        </p:nvSpPr>
        <p:spPr>
          <a:xfrm>
            <a:off x="1692688" y="4887854"/>
            <a:ext cx="2016000" cy="186918"/>
          </a:xfrm>
          <a:prstGeom prst="homePlate">
            <a:avLst/>
          </a:prstGeom>
          <a:gradFill>
            <a:gsLst>
              <a:gs pos="0">
                <a:srgbClr val="FFC000"/>
              </a:gs>
              <a:gs pos="50000">
                <a:srgbClr val="FFC000"/>
              </a:gs>
              <a:gs pos="51000">
                <a:schemeClr val="bg2">
                  <a:lumMod val="90000"/>
                </a:schemeClr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>
              <a:solidFill>
                <a:schemeClr val="bg1"/>
              </a:solidFill>
            </a:endParaRPr>
          </a:p>
        </p:txBody>
      </p:sp>
      <p:sp>
        <p:nvSpPr>
          <p:cNvPr id="84" name="Star: 5 Points 83">
            <a:extLst>
              <a:ext uri="{FF2B5EF4-FFF2-40B4-BE49-F238E27FC236}">
                <a16:creationId xmlns:a16="http://schemas.microsoft.com/office/drawing/2014/main" id="{BCB03EB5-5442-77FD-A1C6-12355BE9F915}"/>
              </a:ext>
            </a:extLst>
          </p:cNvPr>
          <p:cNvSpPr/>
          <p:nvPr/>
        </p:nvSpPr>
        <p:spPr>
          <a:xfrm>
            <a:off x="1653793" y="4853637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6137B95-6B81-F754-EECA-4B29CE717031}"/>
              </a:ext>
            </a:extLst>
          </p:cNvPr>
          <p:cNvSpPr txBox="1"/>
          <p:nvPr/>
        </p:nvSpPr>
        <p:spPr>
          <a:xfrm>
            <a:off x="3675335" y="4861273"/>
            <a:ext cx="1653601" cy="203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800" i="1">
                <a:solidFill>
                  <a:srgbClr val="34342B"/>
                </a:solidFill>
              </a:rPr>
              <a:t>Validação dos Mockups do Sistema</a:t>
            </a:r>
          </a:p>
        </p:txBody>
      </p:sp>
      <p:sp>
        <p:nvSpPr>
          <p:cNvPr id="89" name="Arrow: Pentagon 88">
            <a:extLst>
              <a:ext uri="{FF2B5EF4-FFF2-40B4-BE49-F238E27FC236}">
                <a16:creationId xmlns:a16="http://schemas.microsoft.com/office/drawing/2014/main" id="{1F4A458B-FEDD-F2FD-55B3-66F136F57AF2}"/>
              </a:ext>
            </a:extLst>
          </p:cNvPr>
          <p:cNvSpPr/>
          <p:nvPr/>
        </p:nvSpPr>
        <p:spPr>
          <a:xfrm>
            <a:off x="7781894" y="5433235"/>
            <a:ext cx="1512000" cy="186918"/>
          </a:xfrm>
          <a:prstGeom prst="homePlate">
            <a:avLst/>
          </a:prstGeom>
          <a:gradFill>
            <a:gsLst>
              <a:gs pos="0">
                <a:srgbClr val="FFC000"/>
              </a:gs>
              <a:gs pos="50000">
                <a:srgbClr val="FFC000"/>
              </a:gs>
              <a:gs pos="51000">
                <a:schemeClr val="bg2">
                  <a:lumMod val="90000"/>
                </a:schemeClr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>
              <a:solidFill>
                <a:schemeClr val="bg1"/>
              </a:solidFill>
            </a:endParaRPr>
          </a:p>
        </p:txBody>
      </p:sp>
      <p:sp>
        <p:nvSpPr>
          <p:cNvPr id="71" name="Star: 5 Points 70">
            <a:extLst>
              <a:ext uri="{FF2B5EF4-FFF2-40B4-BE49-F238E27FC236}">
                <a16:creationId xmlns:a16="http://schemas.microsoft.com/office/drawing/2014/main" id="{AA023D51-B50F-126E-DA4B-B74F9FD19E52}"/>
              </a:ext>
            </a:extLst>
          </p:cNvPr>
          <p:cNvSpPr/>
          <p:nvPr/>
        </p:nvSpPr>
        <p:spPr>
          <a:xfrm>
            <a:off x="7745909" y="5380570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B4BBA87-B5A1-3A9E-C930-0B020766AD99}"/>
              </a:ext>
            </a:extLst>
          </p:cNvPr>
          <p:cNvSpPr txBox="1"/>
          <p:nvPr/>
        </p:nvSpPr>
        <p:spPr>
          <a:xfrm>
            <a:off x="9287916" y="5243315"/>
            <a:ext cx="937538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800" i="1">
                <a:solidFill>
                  <a:srgbClr val="34342B"/>
                </a:solidFill>
              </a:rPr>
              <a:t>Testes e Validação do Módulo de Concursos</a:t>
            </a:r>
          </a:p>
        </p:txBody>
      </p:sp>
      <p:sp>
        <p:nvSpPr>
          <p:cNvPr id="92" name="Arrow: Pentagon 91">
            <a:extLst>
              <a:ext uri="{FF2B5EF4-FFF2-40B4-BE49-F238E27FC236}">
                <a16:creationId xmlns:a16="http://schemas.microsoft.com/office/drawing/2014/main" id="{031BF1A9-542F-A147-4450-F4BAA6D64E9F}"/>
              </a:ext>
            </a:extLst>
          </p:cNvPr>
          <p:cNvSpPr/>
          <p:nvPr/>
        </p:nvSpPr>
        <p:spPr>
          <a:xfrm>
            <a:off x="1699335" y="4637431"/>
            <a:ext cx="2016000" cy="186918"/>
          </a:xfrm>
          <a:prstGeom prst="homePlate">
            <a:avLst/>
          </a:prstGeom>
          <a:gradFill>
            <a:gsLst>
              <a:gs pos="0">
                <a:srgbClr val="FFC000"/>
              </a:gs>
              <a:gs pos="50000">
                <a:srgbClr val="FFC000"/>
              </a:gs>
              <a:gs pos="51000">
                <a:schemeClr val="bg2">
                  <a:lumMod val="90000"/>
                </a:schemeClr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>
              <a:solidFill>
                <a:schemeClr val="bg1"/>
              </a:solidFill>
            </a:endParaRPr>
          </a:p>
        </p:txBody>
      </p:sp>
      <p:sp>
        <p:nvSpPr>
          <p:cNvPr id="93" name="Star: 5 Points 92">
            <a:extLst>
              <a:ext uri="{FF2B5EF4-FFF2-40B4-BE49-F238E27FC236}">
                <a16:creationId xmlns:a16="http://schemas.microsoft.com/office/drawing/2014/main" id="{535E5422-3115-617C-9EDC-B491F2182BD9}"/>
              </a:ext>
            </a:extLst>
          </p:cNvPr>
          <p:cNvSpPr/>
          <p:nvPr/>
        </p:nvSpPr>
        <p:spPr>
          <a:xfrm>
            <a:off x="1660440" y="4603214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B12D3CD-4C83-68E9-C90E-9AAAE3954527}"/>
              </a:ext>
            </a:extLst>
          </p:cNvPr>
          <p:cNvSpPr txBox="1"/>
          <p:nvPr/>
        </p:nvSpPr>
        <p:spPr>
          <a:xfrm>
            <a:off x="3681763" y="4631173"/>
            <a:ext cx="1897734" cy="203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800" i="1">
                <a:solidFill>
                  <a:srgbClr val="34342B"/>
                </a:solidFill>
              </a:rPr>
              <a:t>Preparação dos Mockups do Sistema</a:t>
            </a:r>
          </a:p>
        </p:txBody>
      </p:sp>
      <p:sp>
        <p:nvSpPr>
          <p:cNvPr id="95" name="Arrow: Pentagon 94">
            <a:extLst>
              <a:ext uri="{FF2B5EF4-FFF2-40B4-BE49-F238E27FC236}">
                <a16:creationId xmlns:a16="http://schemas.microsoft.com/office/drawing/2014/main" id="{9D40F268-8607-83C1-EC6D-339CAB3A4799}"/>
              </a:ext>
            </a:extLst>
          </p:cNvPr>
          <p:cNvSpPr/>
          <p:nvPr/>
        </p:nvSpPr>
        <p:spPr>
          <a:xfrm>
            <a:off x="6289180" y="5896498"/>
            <a:ext cx="1512000" cy="186918"/>
          </a:xfrm>
          <a:prstGeom prst="homePlate">
            <a:avLst/>
          </a:prstGeom>
          <a:gradFill>
            <a:gsLst>
              <a:gs pos="0">
                <a:srgbClr val="FFC000"/>
              </a:gs>
              <a:gs pos="50000">
                <a:srgbClr val="FFC000"/>
              </a:gs>
              <a:gs pos="51000">
                <a:schemeClr val="bg2">
                  <a:lumMod val="90000"/>
                </a:schemeClr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700" b="1">
              <a:solidFill>
                <a:schemeClr val="bg1"/>
              </a:solidFill>
            </a:endParaRPr>
          </a:p>
        </p:txBody>
      </p:sp>
      <p:sp>
        <p:nvSpPr>
          <p:cNvPr id="77" name="Star: 5 Points 76">
            <a:extLst>
              <a:ext uri="{FF2B5EF4-FFF2-40B4-BE49-F238E27FC236}">
                <a16:creationId xmlns:a16="http://schemas.microsoft.com/office/drawing/2014/main" id="{96005099-7F62-59B7-05ED-313537199004}"/>
              </a:ext>
            </a:extLst>
          </p:cNvPr>
          <p:cNvSpPr/>
          <p:nvPr/>
        </p:nvSpPr>
        <p:spPr>
          <a:xfrm>
            <a:off x="6255088" y="5834430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E14612D-0ECF-11D6-6A53-FB4E1D076DE7}"/>
              </a:ext>
            </a:extLst>
          </p:cNvPr>
          <p:cNvSpPr txBox="1"/>
          <p:nvPr/>
        </p:nvSpPr>
        <p:spPr>
          <a:xfrm flipH="1">
            <a:off x="7788714" y="5835951"/>
            <a:ext cx="1340733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pt-PT" sz="800" i="1">
                <a:solidFill>
                  <a:srgbClr val="34342B"/>
                </a:solidFill>
              </a:rPr>
              <a:t>Sessões de Validação dos indicadores e relatórios</a:t>
            </a:r>
          </a:p>
        </p:txBody>
      </p:sp>
      <p:sp>
        <p:nvSpPr>
          <p:cNvPr id="102" name="Star: 5 Points 101">
            <a:extLst>
              <a:ext uri="{FF2B5EF4-FFF2-40B4-BE49-F238E27FC236}">
                <a16:creationId xmlns:a16="http://schemas.microsoft.com/office/drawing/2014/main" id="{0AE9A539-EB61-37BF-878D-6013A2F3BBB1}"/>
              </a:ext>
            </a:extLst>
          </p:cNvPr>
          <p:cNvSpPr/>
          <p:nvPr/>
        </p:nvSpPr>
        <p:spPr>
          <a:xfrm>
            <a:off x="2495769" y="5085866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3" name="Star: 5 Points 102">
            <a:extLst>
              <a:ext uri="{FF2B5EF4-FFF2-40B4-BE49-F238E27FC236}">
                <a16:creationId xmlns:a16="http://schemas.microsoft.com/office/drawing/2014/main" id="{5689FF98-60C5-E8F1-9FE0-3509507F57DD}"/>
              </a:ext>
            </a:extLst>
          </p:cNvPr>
          <p:cNvSpPr/>
          <p:nvPr/>
        </p:nvSpPr>
        <p:spPr>
          <a:xfrm>
            <a:off x="7365507" y="6116376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53446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17679EF-5DE1-49A3-A136-13A798ED40C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17679EF-5DE1-49A3-A136-13A798ED40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5">
            <a:extLst>
              <a:ext uri="{FF2B5EF4-FFF2-40B4-BE49-F238E27FC236}">
                <a16:creationId xmlns:a16="http://schemas.microsoft.com/office/drawing/2014/main" id="{C6DF79F9-E963-44DE-83EF-A2821E7BA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23" y="349517"/>
            <a:ext cx="10698480" cy="420189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pt-PT" sz="2800" b="1">
                <a:ea typeface="Verdana"/>
              </a:rPr>
              <a:t>Processos de Logística | </a:t>
            </a:r>
            <a:r>
              <a:rPr lang="pt-PT" sz="2800">
                <a:ea typeface="Verdana"/>
              </a:rPr>
              <a:t>Processos </a:t>
            </a:r>
            <a:r>
              <a:rPr lang="pt-PT" sz="2800" i="1">
                <a:ea typeface="Verdana"/>
              </a:rPr>
              <a:t>In-Scope</a:t>
            </a:r>
            <a:r>
              <a:rPr lang="pt-PT" sz="2800">
                <a:ea typeface="Verdana"/>
              </a:rPr>
              <a:t> e Responsáveis</a:t>
            </a:r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131F0449-6E34-41A1-B16C-81401C10C2A5}"/>
              </a:ext>
            </a:extLst>
          </p:cNvPr>
          <p:cNvSpPr txBox="1">
            <a:spLocks/>
          </p:cNvSpPr>
          <p:nvPr/>
        </p:nvSpPr>
        <p:spPr>
          <a:xfrm>
            <a:off x="461823" y="769707"/>
            <a:ext cx="10698480" cy="7714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600">
                <a:ea typeface="Verdana"/>
              </a:rPr>
              <a:t>A reforma da logística considera 26 processos dentro do âmbito que serão </a:t>
            </a:r>
            <a:r>
              <a:rPr lang="pt-PT" sz="1600" i="1" err="1">
                <a:ea typeface="Verdana"/>
              </a:rPr>
              <a:t>embedded</a:t>
            </a:r>
            <a:r>
              <a:rPr lang="pt-PT" sz="1600">
                <a:ea typeface="Verdana"/>
              </a:rPr>
              <a:t>. Helder Melo é o responsável pelos processos e estará envolvido durante a implementação de todo projeto e no planeamento detalhado das sessões de </a:t>
            </a:r>
            <a:r>
              <a:rPr lang="pt-PT" sz="1600" i="1">
                <a:ea typeface="Verdana"/>
              </a:rPr>
              <a:t>embedment</a:t>
            </a:r>
            <a:r>
              <a:rPr lang="pt-PT" sz="1600">
                <a:ea typeface="Verdana"/>
              </a:rPr>
              <a:t> que deverão acontecer numa fase posterior (previsão para iniciar no dia 18 de Novembro)</a:t>
            </a:r>
            <a:endParaRPr lang="en-ZA" sz="1800">
              <a:ea typeface="Verdana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3586C2C-C88B-D733-EC4B-CCF2E149DB53}"/>
              </a:ext>
            </a:extLst>
          </p:cNvPr>
          <p:cNvGrpSpPr/>
          <p:nvPr/>
        </p:nvGrpSpPr>
        <p:grpSpPr>
          <a:xfrm>
            <a:off x="560801" y="1721973"/>
            <a:ext cx="10972011" cy="4715815"/>
            <a:chOff x="560801" y="1721973"/>
            <a:chExt cx="10972011" cy="4715815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35760F8-DC9C-35E2-CBA5-31F2A2E7C8A5}"/>
                </a:ext>
              </a:extLst>
            </p:cNvPr>
            <p:cNvSpPr/>
            <p:nvPr/>
          </p:nvSpPr>
          <p:spPr>
            <a:xfrm>
              <a:off x="937761" y="2198036"/>
              <a:ext cx="10595050" cy="423975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pt-PT" sz="1200" b="1">
                  <a:solidFill>
                    <a:schemeClr val="tx1"/>
                  </a:solidFill>
                </a:rPr>
                <a:t>Helder Melo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77CB39E-034A-4586-45D6-2F26BFC39184}"/>
                </a:ext>
              </a:extLst>
            </p:cNvPr>
            <p:cNvSpPr/>
            <p:nvPr/>
          </p:nvSpPr>
          <p:spPr>
            <a:xfrm>
              <a:off x="937762" y="1721973"/>
              <a:ext cx="10595050" cy="39607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900" b="1"/>
                <a:t>Gestão de Armazéns e Inventário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B86FAF8-64ED-AFCA-F5B7-CB6FA6448572}"/>
                </a:ext>
              </a:extLst>
            </p:cNvPr>
            <p:cNvSpPr/>
            <p:nvPr/>
          </p:nvSpPr>
          <p:spPr>
            <a:xfrm>
              <a:off x="937762" y="2198036"/>
              <a:ext cx="2074366" cy="396076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900" b="1"/>
                <a:t>Logística de Entrada (Inbound)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D214FAD-AC87-4483-EDEE-305F085F7DEF}"/>
                </a:ext>
              </a:extLst>
            </p:cNvPr>
            <p:cNvSpPr/>
            <p:nvPr/>
          </p:nvSpPr>
          <p:spPr>
            <a:xfrm>
              <a:off x="560802" y="1721973"/>
              <a:ext cx="376960" cy="39607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00" b="1">
                  <a:solidFill>
                    <a:schemeClr val="tx1"/>
                  </a:solidFill>
                </a:rPr>
                <a:t>L1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4E2544D-C657-009A-DCE4-62355E2610ED}"/>
                </a:ext>
              </a:extLst>
            </p:cNvPr>
            <p:cNvSpPr/>
            <p:nvPr/>
          </p:nvSpPr>
          <p:spPr>
            <a:xfrm>
              <a:off x="569161" y="2198036"/>
              <a:ext cx="376960" cy="39607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00" b="1">
                  <a:solidFill>
                    <a:schemeClr val="tx1"/>
                  </a:solidFill>
                </a:rPr>
                <a:t>L2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F0D181B-EEB2-3D96-33B4-13139EF79296}"/>
                </a:ext>
              </a:extLst>
            </p:cNvPr>
            <p:cNvSpPr/>
            <p:nvPr/>
          </p:nvSpPr>
          <p:spPr>
            <a:xfrm>
              <a:off x="7328275" y="2198036"/>
              <a:ext cx="2074366" cy="3960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900" b="1"/>
                <a:t>Gerenciamento de Inventário/</a:t>
              </a:r>
            </a:p>
            <a:p>
              <a:pPr algn="ctr"/>
              <a:r>
                <a:rPr lang="pt-PT" sz="900" b="1"/>
                <a:t>Monitoramento/Controle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E25FBEA-FCE6-5BAF-653B-5B69A21BB258}"/>
                </a:ext>
              </a:extLst>
            </p:cNvPr>
            <p:cNvSpPr/>
            <p:nvPr/>
          </p:nvSpPr>
          <p:spPr>
            <a:xfrm>
              <a:off x="560802" y="2674442"/>
              <a:ext cx="376960" cy="16549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00" b="1">
                  <a:solidFill>
                    <a:schemeClr val="tx1"/>
                  </a:solidFill>
                </a:rPr>
                <a:t>L3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F9C84DB-2C6A-8814-3657-EE52E405EF3B}"/>
                </a:ext>
              </a:extLst>
            </p:cNvPr>
            <p:cNvSpPr/>
            <p:nvPr/>
          </p:nvSpPr>
          <p:spPr>
            <a:xfrm>
              <a:off x="937762" y="2664971"/>
              <a:ext cx="2074366" cy="2835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900">
                  <a:solidFill>
                    <a:schemeClr val="tx1"/>
                  </a:solidFill>
                </a:rPr>
                <a:t>Recebimento de Material no Armazém Central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028D28F-5980-9BF7-68B3-CE5C835230E8}"/>
                </a:ext>
              </a:extLst>
            </p:cNvPr>
            <p:cNvSpPr/>
            <p:nvPr/>
          </p:nvSpPr>
          <p:spPr>
            <a:xfrm>
              <a:off x="937762" y="3010204"/>
              <a:ext cx="2074366" cy="2835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900">
                  <a:solidFill>
                    <a:schemeClr val="tx1"/>
                  </a:solidFill>
                </a:rPr>
                <a:t>Inspeção Documental de Transporte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CFD15CF-EEAB-1C46-6E52-6490B6913D8A}"/>
                </a:ext>
              </a:extLst>
            </p:cNvPr>
            <p:cNvSpPr/>
            <p:nvPr/>
          </p:nvSpPr>
          <p:spPr>
            <a:xfrm>
              <a:off x="937762" y="3355437"/>
              <a:ext cx="2074366" cy="2835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900">
                  <a:solidFill>
                    <a:schemeClr val="tx1"/>
                  </a:solidFill>
                </a:rPr>
                <a:t>Armazenamento de Material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071A4FB1-93EE-91B2-6CD8-712636401DAA}"/>
                </a:ext>
              </a:extLst>
            </p:cNvPr>
            <p:cNvSpPr/>
            <p:nvPr/>
          </p:nvSpPr>
          <p:spPr>
            <a:xfrm>
              <a:off x="7328275" y="2664971"/>
              <a:ext cx="2074366" cy="2835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900">
                  <a:solidFill>
                    <a:schemeClr val="tx1"/>
                  </a:solidFill>
                </a:rPr>
                <a:t>Monitoria e Contagem de Verificação de</a:t>
              </a:r>
            </a:p>
            <a:p>
              <a:pPr algn="ctr"/>
              <a:r>
                <a:rPr lang="pt-PT" sz="900">
                  <a:solidFill>
                    <a:schemeClr val="tx1"/>
                  </a:solidFill>
                </a:rPr>
                <a:t>Estoque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6FC9EBE-B5C0-7F0D-51CE-367D3CDFD9DB}"/>
                </a:ext>
              </a:extLst>
            </p:cNvPr>
            <p:cNvSpPr/>
            <p:nvPr/>
          </p:nvSpPr>
          <p:spPr>
            <a:xfrm>
              <a:off x="7328275" y="3010204"/>
              <a:ext cx="2074366" cy="2835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900">
                  <a:solidFill>
                    <a:schemeClr val="tx1"/>
                  </a:solidFill>
                </a:rPr>
                <a:t>Relatórios e Análises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27CA162-FEB4-7149-1CD7-1DBEF7702477}"/>
                </a:ext>
              </a:extLst>
            </p:cNvPr>
            <p:cNvSpPr/>
            <p:nvPr/>
          </p:nvSpPr>
          <p:spPr>
            <a:xfrm>
              <a:off x="7328275" y="3355437"/>
              <a:ext cx="2074366" cy="2835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900">
                  <a:solidFill>
                    <a:schemeClr val="tx1"/>
                  </a:solidFill>
                </a:rPr>
                <a:t>Solicitações de Materiais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815C979-F1BF-99CE-14EE-B1E6344952DE}"/>
                </a:ext>
              </a:extLst>
            </p:cNvPr>
            <p:cNvSpPr/>
            <p:nvPr/>
          </p:nvSpPr>
          <p:spPr>
            <a:xfrm>
              <a:off x="7328275" y="3700670"/>
              <a:ext cx="2074366" cy="2835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900">
                  <a:solidFill>
                    <a:schemeClr val="tx1"/>
                  </a:solidFill>
                </a:rPr>
                <a:t>Aprovação de</a:t>
              </a:r>
            </a:p>
            <a:p>
              <a:pPr algn="ctr"/>
              <a:r>
                <a:rPr lang="pt-PT" sz="900">
                  <a:solidFill>
                    <a:schemeClr val="tx1"/>
                  </a:solidFill>
                </a:rPr>
                <a:t>Solicitações de Materiais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2CECE1D-94C7-468B-E3B3-A57B18373660}"/>
                </a:ext>
              </a:extLst>
            </p:cNvPr>
            <p:cNvSpPr/>
            <p:nvPr/>
          </p:nvSpPr>
          <p:spPr>
            <a:xfrm>
              <a:off x="7328275" y="4045902"/>
              <a:ext cx="2074366" cy="2835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900">
                  <a:solidFill>
                    <a:schemeClr val="tx1"/>
                  </a:solidFill>
                </a:rPr>
                <a:t>Gestão de</a:t>
              </a:r>
            </a:p>
            <a:p>
              <a:pPr algn="ctr"/>
              <a:r>
                <a:rPr lang="pt-PT" sz="900">
                  <a:solidFill>
                    <a:schemeClr val="tx1"/>
                  </a:solidFill>
                </a:rPr>
                <a:t>Devoluções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0BD902A-5D0A-2443-2A51-145239449629}"/>
                </a:ext>
              </a:extLst>
            </p:cNvPr>
            <p:cNvSpPr/>
            <p:nvPr/>
          </p:nvSpPr>
          <p:spPr>
            <a:xfrm>
              <a:off x="9458446" y="2198036"/>
              <a:ext cx="2074366" cy="3960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900" b="1"/>
                <a:t>Logística de Saída (Outbound)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538AEA9-9B6C-15B4-C3ED-066198F3489B}"/>
                </a:ext>
              </a:extLst>
            </p:cNvPr>
            <p:cNvSpPr/>
            <p:nvPr/>
          </p:nvSpPr>
          <p:spPr>
            <a:xfrm>
              <a:off x="9458446" y="2664971"/>
              <a:ext cx="2074366" cy="2835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900">
                  <a:solidFill>
                    <a:schemeClr val="tx1"/>
                  </a:solidFill>
                </a:rPr>
                <a:t>Processamento de Pedidos e Embalagem de Material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71C5F97-F063-E791-538D-BF33F2DC57A8}"/>
                </a:ext>
              </a:extLst>
            </p:cNvPr>
            <p:cNvSpPr/>
            <p:nvPr/>
          </p:nvSpPr>
          <p:spPr>
            <a:xfrm>
              <a:off x="9458446" y="3010204"/>
              <a:ext cx="2074366" cy="2835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900">
                  <a:solidFill>
                    <a:schemeClr val="tx1"/>
                  </a:solidFill>
                </a:rPr>
                <a:t>Planeamento e Transporte de Material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B5F3A23-0EE2-ED14-0827-09DF58A610D2}"/>
                </a:ext>
              </a:extLst>
            </p:cNvPr>
            <p:cNvSpPr/>
            <p:nvPr/>
          </p:nvSpPr>
          <p:spPr>
            <a:xfrm>
              <a:off x="9458446" y="3355437"/>
              <a:ext cx="2074366" cy="2835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900">
                  <a:solidFill>
                    <a:schemeClr val="tx1"/>
                  </a:solidFill>
                </a:rPr>
                <a:t>Rastreamento e Execução da Entrega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D123BB9-2100-B3D2-F8DA-4B5E499DC3FA}"/>
                </a:ext>
              </a:extLst>
            </p:cNvPr>
            <p:cNvSpPr/>
            <p:nvPr/>
          </p:nvSpPr>
          <p:spPr>
            <a:xfrm>
              <a:off x="5198104" y="2198036"/>
              <a:ext cx="2074366" cy="3960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900" b="1"/>
                <a:t>Planeamento de Inventário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F4A57C2-4605-945D-0075-3ADF325A9711}"/>
                </a:ext>
              </a:extLst>
            </p:cNvPr>
            <p:cNvSpPr/>
            <p:nvPr/>
          </p:nvSpPr>
          <p:spPr>
            <a:xfrm>
              <a:off x="5198104" y="2664971"/>
              <a:ext cx="2074366" cy="2835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900">
                  <a:solidFill>
                    <a:schemeClr val="tx1"/>
                  </a:solidFill>
                </a:rPr>
                <a:t>Planeamento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7C19C4D-57F0-5121-F125-1F795AE5D683}"/>
                </a:ext>
              </a:extLst>
            </p:cNvPr>
            <p:cNvSpPr/>
            <p:nvPr/>
          </p:nvSpPr>
          <p:spPr>
            <a:xfrm>
              <a:off x="5198104" y="3010204"/>
              <a:ext cx="2074366" cy="2835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900">
                  <a:solidFill>
                    <a:schemeClr val="tx1"/>
                  </a:solidFill>
                </a:rPr>
                <a:t>Controle de Estoque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9FDDE98-7044-4C8C-9AC8-9FF0F4670E4F}"/>
                </a:ext>
              </a:extLst>
            </p:cNvPr>
            <p:cNvSpPr/>
            <p:nvPr/>
          </p:nvSpPr>
          <p:spPr>
            <a:xfrm>
              <a:off x="5198104" y="3355437"/>
              <a:ext cx="2074366" cy="2835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900">
                  <a:solidFill>
                    <a:schemeClr val="tx1"/>
                  </a:solidFill>
                </a:rPr>
                <a:t>Catálogo de Materiais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B3AB22F-1DE8-38A3-95DF-C8A99B4D3C06}"/>
                </a:ext>
              </a:extLst>
            </p:cNvPr>
            <p:cNvSpPr/>
            <p:nvPr/>
          </p:nvSpPr>
          <p:spPr>
            <a:xfrm>
              <a:off x="3067933" y="2198036"/>
              <a:ext cx="2074366" cy="396076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900" b="1"/>
                <a:t>Gerenciamento de Armazém e Inventário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295D547-FEC4-9C85-0B1A-A923A4381355}"/>
                </a:ext>
              </a:extLst>
            </p:cNvPr>
            <p:cNvSpPr/>
            <p:nvPr/>
          </p:nvSpPr>
          <p:spPr>
            <a:xfrm>
              <a:off x="3067933" y="2664971"/>
              <a:ext cx="2074366" cy="2835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900">
                  <a:solidFill>
                    <a:schemeClr val="tx1"/>
                  </a:solidFill>
                </a:rPr>
                <a:t>Gestão de Estoque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9858D8E-EB4B-C02C-AD61-29E98B8AF8B5}"/>
                </a:ext>
              </a:extLst>
            </p:cNvPr>
            <p:cNvSpPr/>
            <p:nvPr/>
          </p:nvSpPr>
          <p:spPr>
            <a:xfrm>
              <a:off x="3067933" y="3010204"/>
              <a:ext cx="2074366" cy="2835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900">
                  <a:solidFill>
                    <a:schemeClr val="tx1"/>
                  </a:solidFill>
                </a:rPr>
                <a:t>Recebimento e</a:t>
              </a:r>
            </a:p>
            <a:p>
              <a:pPr algn="ctr"/>
              <a:r>
                <a:rPr lang="pt-PT" sz="900">
                  <a:solidFill>
                    <a:schemeClr val="tx1"/>
                  </a:solidFill>
                </a:rPr>
                <a:t>Conferência de Materiais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43441E0-1271-44AA-9FC0-A75FCFFA4F20}"/>
                </a:ext>
              </a:extLst>
            </p:cNvPr>
            <p:cNvSpPr/>
            <p:nvPr/>
          </p:nvSpPr>
          <p:spPr>
            <a:xfrm>
              <a:off x="3067933" y="3355437"/>
              <a:ext cx="2074366" cy="2835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900">
                  <a:solidFill>
                    <a:schemeClr val="tx1"/>
                  </a:solidFill>
                </a:rPr>
                <a:t>Armazenamento e Organização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D8B0653-EE8E-3ACB-B511-924F079D68B8}"/>
                </a:ext>
              </a:extLst>
            </p:cNvPr>
            <p:cNvSpPr/>
            <p:nvPr/>
          </p:nvSpPr>
          <p:spPr>
            <a:xfrm>
              <a:off x="3067933" y="3700670"/>
              <a:ext cx="2074366" cy="2835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900">
                  <a:solidFill>
                    <a:schemeClr val="tx1"/>
                  </a:solidFill>
                </a:rPr>
                <a:t>Gerenciamento de Saída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05DD29C-8B63-D5CD-6901-0B88B2F24A13}"/>
                </a:ext>
              </a:extLst>
            </p:cNvPr>
            <p:cNvSpPr/>
            <p:nvPr/>
          </p:nvSpPr>
          <p:spPr>
            <a:xfrm>
              <a:off x="3067933" y="4045902"/>
              <a:ext cx="2074366" cy="2835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900">
                  <a:solidFill>
                    <a:schemeClr val="tx1"/>
                  </a:solidFill>
                </a:rPr>
                <a:t>Segurança e</a:t>
              </a:r>
            </a:p>
            <a:p>
              <a:pPr algn="ctr"/>
              <a:r>
                <a:rPr lang="pt-PT" sz="900">
                  <a:solidFill>
                    <a:schemeClr val="tx1"/>
                  </a:solidFill>
                </a:rPr>
                <a:t>Prevenção de Perdas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2B186C28-DEF4-97D8-34E0-5FA6E48A1709}"/>
                </a:ext>
              </a:extLst>
            </p:cNvPr>
            <p:cNvSpPr/>
            <p:nvPr/>
          </p:nvSpPr>
          <p:spPr>
            <a:xfrm>
              <a:off x="560801" y="5010399"/>
              <a:ext cx="376960" cy="14225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pt-PT" sz="1000" b="1">
                  <a:solidFill>
                    <a:schemeClr val="tx1"/>
                  </a:solidFill>
                </a:rPr>
                <a:t>Responsáveis </a:t>
              </a:r>
            </a:p>
            <a:p>
              <a:pPr algn="ctr"/>
              <a:r>
                <a:rPr lang="pt-PT" sz="1000" b="1">
                  <a:solidFill>
                    <a:schemeClr val="tx1"/>
                  </a:solidFill>
                </a:rPr>
                <a:t>pelos Processos</a:t>
              </a:r>
            </a:p>
          </p:txBody>
        </p:sp>
        <p:sp>
          <p:nvSpPr>
            <p:cNvPr id="72" name="Arrow: Right 71">
              <a:extLst>
                <a:ext uri="{FF2B5EF4-FFF2-40B4-BE49-F238E27FC236}">
                  <a16:creationId xmlns:a16="http://schemas.microsoft.com/office/drawing/2014/main" id="{5DFCD3F0-B623-FB25-328F-B8F5EDCCD1BF}"/>
                </a:ext>
              </a:extLst>
            </p:cNvPr>
            <p:cNvSpPr/>
            <p:nvPr/>
          </p:nvSpPr>
          <p:spPr>
            <a:xfrm>
              <a:off x="659189" y="6160013"/>
              <a:ext cx="445711" cy="210785"/>
            </a:xfrm>
            <a:prstGeom prst="rightArrow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50B50A2-7E1F-2E51-9C95-4322B8205F3E}"/>
                </a:ext>
              </a:extLst>
            </p:cNvPr>
            <p:cNvSpPr/>
            <p:nvPr/>
          </p:nvSpPr>
          <p:spPr>
            <a:xfrm>
              <a:off x="3067933" y="4389706"/>
              <a:ext cx="2074366" cy="2835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900">
                  <a:solidFill>
                    <a:schemeClr val="tx1"/>
                  </a:solidFill>
                </a:rPr>
                <a:t>Manutenção de Equipamentos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0213A67-4202-8E10-642B-657045E42237}"/>
                </a:ext>
              </a:extLst>
            </p:cNvPr>
            <p:cNvSpPr/>
            <p:nvPr/>
          </p:nvSpPr>
          <p:spPr>
            <a:xfrm>
              <a:off x="5198103" y="3710034"/>
              <a:ext cx="2074366" cy="2835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900">
                  <a:solidFill>
                    <a:schemeClr val="tx1"/>
                  </a:solidFill>
                </a:rPr>
                <a:t>Reabastecimento e</a:t>
              </a:r>
            </a:p>
            <a:p>
              <a:pPr algn="ctr"/>
              <a:r>
                <a:rPr lang="pt-PT" sz="900">
                  <a:solidFill>
                    <a:schemeClr val="tx1"/>
                  </a:solidFill>
                </a:rPr>
                <a:t>Reposição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4AA5A0E-5F87-B9B0-D794-E1834722592B}"/>
                </a:ext>
              </a:extLst>
            </p:cNvPr>
            <p:cNvSpPr/>
            <p:nvPr/>
          </p:nvSpPr>
          <p:spPr>
            <a:xfrm>
              <a:off x="5194948" y="4045902"/>
              <a:ext cx="2074366" cy="2835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900">
                  <a:solidFill>
                    <a:schemeClr val="tx1"/>
                  </a:solidFill>
                </a:rPr>
                <a:t>Inspeção de Qualidade de Materiais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AB8ADEC-84C6-05EC-734B-C0E2725A8CD1}"/>
                </a:ext>
              </a:extLst>
            </p:cNvPr>
            <p:cNvSpPr/>
            <p:nvPr/>
          </p:nvSpPr>
          <p:spPr>
            <a:xfrm>
              <a:off x="7328275" y="4389706"/>
              <a:ext cx="2074366" cy="2835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900">
                  <a:solidFill>
                    <a:schemeClr val="tx1"/>
                  </a:solidFill>
                </a:rPr>
                <a:t>Gestão de MONOS/</a:t>
              </a:r>
            </a:p>
            <a:p>
              <a:pPr algn="ctr"/>
              <a:r>
                <a:rPr lang="pt-PT" sz="900">
                  <a:solidFill>
                    <a:schemeClr val="tx1"/>
                  </a:solidFill>
                </a:rPr>
                <a:t>Obsoletos ou em Excessos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54A2918-C280-7A81-463F-4533A257E17A}"/>
                </a:ext>
              </a:extLst>
            </p:cNvPr>
            <p:cNvSpPr/>
            <p:nvPr/>
          </p:nvSpPr>
          <p:spPr>
            <a:xfrm>
              <a:off x="7328275" y="4733510"/>
              <a:ext cx="2074366" cy="2835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900">
                  <a:solidFill>
                    <a:schemeClr val="tx1"/>
                  </a:solidFill>
                </a:rPr>
                <a:t>Contagem de Inventário de Materiais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9099783-97EF-A6B5-7A5B-F7621EED97C7}"/>
                </a:ext>
              </a:extLst>
            </p:cNvPr>
            <p:cNvSpPr/>
            <p:nvPr/>
          </p:nvSpPr>
          <p:spPr>
            <a:xfrm>
              <a:off x="9458446" y="3700670"/>
              <a:ext cx="2074366" cy="2835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900">
                  <a:solidFill>
                    <a:schemeClr val="tx1"/>
                  </a:solidFill>
                </a:rPr>
                <a:t>Gestão de Disrupção de Estoque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2569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17679EF-5DE1-49A3-A136-13A798ED40C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17679EF-5DE1-49A3-A136-13A798ED40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5">
            <a:extLst>
              <a:ext uri="{FF2B5EF4-FFF2-40B4-BE49-F238E27FC236}">
                <a16:creationId xmlns:a16="http://schemas.microsoft.com/office/drawing/2014/main" id="{C6DF79F9-E963-44DE-83EF-A2821E7BA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23" y="349517"/>
            <a:ext cx="10698480" cy="420189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ZA" sz="2800" b="1">
                <a:ea typeface="Verdana"/>
              </a:rPr>
              <a:t>Processos de Procurement | </a:t>
            </a:r>
            <a:r>
              <a:rPr lang="pt-PT" sz="2800">
                <a:ea typeface="Verdana"/>
              </a:rPr>
              <a:t>Sessões de Trabalho com EDM </a:t>
            </a:r>
            <a:r>
              <a:rPr lang="en-ZA" sz="2800">
                <a:ea typeface="Verdana"/>
              </a:rPr>
              <a:t>(1/2)</a:t>
            </a:r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131F0449-6E34-41A1-B16C-81401C10C2A5}"/>
              </a:ext>
            </a:extLst>
          </p:cNvPr>
          <p:cNvSpPr txBox="1">
            <a:spLocks/>
          </p:cNvSpPr>
          <p:nvPr/>
        </p:nvSpPr>
        <p:spPr>
          <a:xfrm>
            <a:off x="461823" y="769707"/>
            <a:ext cx="10698480" cy="7714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600">
                <a:ea typeface="Verdana"/>
              </a:rPr>
              <a:t>Abaixo as datas sugeridas para a equipa da EDM participar das </a:t>
            </a:r>
            <a:r>
              <a:rPr lang="pt-PT" sz="1600" i="1" noProof="0" err="1"/>
              <a:t>Knowledge</a:t>
            </a:r>
            <a:r>
              <a:rPr lang="pt-PT" sz="1600" i="1" noProof="0"/>
              <a:t> </a:t>
            </a:r>
            <a:r>
              <a:rPr lang="pt-PT" sz="1600" i="1" noProof="0" err="1"/>
              <a:t>Session</a:t>
            </a:r>
            <a:r>
              <a:rPr lang="pt-PT" sz="1600">
                <a:ea typeface="Verdana"/>
              </a:rPr>
              <a:t> </a:t>
            </a:r>
            <a:r>
              <a:rPr lang="pt-PT" sz="1600" i="1">
                <a:ea typeface="Verdana"/>
              </a:rPr>
              <a:t>L1</a:t>
            </a:r>
            <a:r>
              <a:rPr lang="pt-PT" sz="1600">
                <a:ea typeface="Verdana"/>
              </a:rPr>
              <a:t> e sessões de </a:t>
            </a:r>
            <a:r>
              <a:rPr lang="pt-PT" sz="1600" i="1" err="1">
                <a:ea typeface="Verdana"/>
              </a:rPr>
              <a:t>embedment</a:t>
            </a:r>
            <a:r>
              <a:rPr lang="pt-PT" sz="1600">
                <a:ea typeface="Verdana"/>
              </a:rPr>
              <a:t>. É crucial cumprir com as datas propostas e qualquer desvio comprometerá o cronograma do projeto</a:t>
            </a:r>
            <a:endParaRPr lang="en-ZA" sz="1800">
              <a:ea typeface="Verdana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41EAAC5-B65E-2852-2FB6-01413AFB87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63535"/>
              </p:ext>
            </p:extLst>
          </p:nvPr>
        </p:nvGraphicFramePr>
        <p:xfrm>
          <a:off x="461821" y="1298447"/>
          <a:ext cx="11070990" cy="5239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001">
                  <a:extLst>
                    <a:ext uri="{9D8B030D-6E8A-4147-A177-3AD203B41FA5}">
                      <a16:colId xmlns:a16="http://schemas.microsoft.com/office/drawing/2014/main" val="2282482902"/>
                    </a:ext>
                  </a:extLst>
                </a:gridCol>
                <a:gridCol w="2183274">
                  <a:extLst>
                    <a:ext uri="{9D8B030D-6E8A-4147-A177-3AD203B41FA5}">
                      <a16:colId xmlns:a16="http://schemas.microsoft.com/office/drawing/2014/main" val="3083614727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956038622"/>
                    </a:ext>
                  </a:extLst>
                </a:gridCol>
                <a:gridCol w="2569464">
                  <a:extLst>
                    <a:ext uri="{9D8B030D-6E8A-4147-A177-3AD203B41FA5}">
                      <a16:colId xmlns:a16="http://schemas.microsoft.com/office/drawing/2014/main" val="2611295148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11856542"/>
                    </a:ext>
                  </a:extLst>
                </a:gridCol>
                <a:gridCol w="2562547">
                  <a:extLst>
                    <a:ext uri="{9D8B030D-6E8A-4147-A177-3AD203B41FA5}">
                      <a16:colId xmlns:a16="http://schemas.microsoft.com/office/drawing/2014/main" val="2801075770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pt-PT" sz="1000" noProof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noProof="0"/>
                        <a:t>Processo (L3/L4)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noProof="0"/>
                        <a:t>Data </a:t>
                      </a:r>
                      <a:r>
                        <a:rPr lang="pt-PT" sz="1000" i="1" noProof="0"/>
                        <a:t>Knowledge Session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noProof="0"/>
                        <a:t>Participantes </a:t>
                      </a:r>
                      <a:r>
                        <a:rPr lang="pt-PT" sz="1000" i="1" noProof="0"/>
                        <a:t>Knowledge Session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noProof="0"/>
                        <a:t>Data </a:t>
                      </a:r>
                      <a:r>
                        <a:rPr lang="pt-PT" sz="1000" i="1" noProof="0"/>
                        <a:t>Embedment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noProof="0"/>
                        <a:t>Participantes </a:t>
                      </a:r>
                      <a:r>
                        <a:rPr lang="pt-PT" sz="1000" i="1" noProof="0"/>
                        <a:t>Embedment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475329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1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noProof="0">
                          <a:solidFill>
                            <a:schemeClr val="tx1"/>
                          </a:solidFill>
                        </a:rPr>
                        <a:t>Recolha de Necessidades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25/07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noProof="0"/>
                        <a:t>Ayrton Muhambi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29 – 30/07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noProof="0">
                          <a:solidFill>
                            <a:schemeClr val="tx1"/>
                          </a:solidFill>
                        </a:rPr>
                        <a:t>Já identificados no ficheiro ‘</a:t>
                      </a:r>
                      <a:r>
                        <a:rPr lang="pt-PT" sz="900" b="0" i="1" noProof="0">
                          <a:solidFill>
                            <a:schemeClr val="tx1"/>
                          </a:solidFill>
                        </a:rPr>
                        <a:t>Lista de Participantes</a:t>
                      </a:r>
                      <a:r>
                        <a:rPr lang="pt-PT" sz="900" b="0" noProof="0">
                          <a:solidFill>
                            <a:schemeClr val="tx1"/>
                          </a:solidFill>
                        </a:rPr>
                        <a:t>’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9577218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noProof="0">
                          <a:solidFill>
                            <a:schemeClr val="tx1"/>
                          </a:solidFill>
                        </a:rPr>
                        <a:t>Criação do Plano Preliminar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25/07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Ayrton Muhambi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1" noProof="0"/>
                        <a:t>31/07 – 01/08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Já identificados no ficheiro ‘</a:t>
                      </a:r>
                      <a:r>
                        <a:rPr kumimoji="0" lang="pt-PT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Lista de Participantes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25647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noProof="0">
                          <a:solidFill>
                            <a:schemeClr val="tx1"/>
                          </a:solidFill>
                        </a:rPr>
                        <a:t>Revisão do Plano Preliminar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25/07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Ayrton Muhambi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1" noProof="0"/>
                        <a:t>02/08 – 05/08 (Sexta &amp; Segunda)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Já identificados no ficheiro ‘</a:t>
                      </a:r>
                      <a:r>
                        <a:rPr kumimoji="0" lang="pt-PT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Lista de Participantes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77134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noProof="0">
                          <a:solidFill>
                            <a:schemeClr val="tx1"/>
                          </a:solidFill>
                        </a:rPr>
                        <a:t>Aprovação do Plano Preliminar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26/07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Ayrton Muhambi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06/08 – 07/08 </a:t>
                      </a:r>
                      <a:endParaRPr lang="pt-PT" sz="900" noProof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Já identificados no ficheiro ‘</a:t>
                      </a:r>
                      <a:r>
                        <a:rPr kumimoji="0" lang="pt-PT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Lista de Participantes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82895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noProof="0">
                          <a:solidFill>
                            <a:schemeClr val="tx1"/>
                          </a:solidFill>
                        </a:rPr>
                        <a:t>Revisão Ad-Hoc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26/07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Ayrton Muhambi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08/08 – 09/08 </a:t>
                      </a:r>
                      <a:endParaRPr lang="pt-PT" sz="900" noProof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Já identificados no ficheiro ‘</a:t>
                      </a:r>
                      <a:r>
                        <a:rPr kumimoji="0" lang="pt-PT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Lista de Participantes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76029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6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noProof="0">
                          <a:solidFill>
                            <a:schemeClr val="tx1"/>
                          </a:solidFill>
                        </a:rPr>
                        <a:t>Cadastro de Fornecedores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25/09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noProof="0"/>
                        <a:t>Ayrton Muhambi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1" noProof="0"/>
                        <a:t>30/09 – 01/10 </a:t>
                      </a:r>
                      <a:endParaRPr lang="pt-PT" sz="900" noProof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Já identificados no ficheiro ‘</a:t>
                      </a:r>
                      <a:r>
                        <a:rPr kumimoji="0" lang="pt-PT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Lista de Participantes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51991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noProof="0" err="1">
                          <a:solidFill>
                            <a:schemeClr val="tx1"/>
                          </a:solidFill>
                        </a:rPr>
                        <a:t>Re-acreditação</a:t>
                      </a:r>
                      <a:r>
                        <a:rPr lang="pt-PT" sz="900" noProof="0">
                          <a:solidFill>
                            <a:schemeClr val="tx1"/>
                          </a:solidFill>
                        </a:rPr>
                        <a:t> de Fornecedores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25/09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Ayrton Muhambi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02/10 – 03/10</a:t>
                      </a:r>
                      <a:endParaRPr lang="pt-PT" sz="900" noProof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Já identificados no ficheiro ‘</a:t>
                      </a:r>
                      <a:r>
                        <a:rPr kumimoji="0" lang="pt-PT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Lista de Participantes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724667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8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noProof="0">
                          <a:solidFill>
                            <a:schemeClr val="tx1"/>
                          </a:solidFill>
                        </a:rPr>
                        <a:t>Monitorização de Desempenho de Fornecedores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25/09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Ayrton Muhambi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04/10 – 07/10 (Sexta &amp; Segunda)</a:t>
                      </a:r>
                      <a:endParaRPr lang="pt-PT" sz="900" noProof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Já identificados no ficheiro ‘</a:t>
                      </a:r>
                      <a:r>
                        <a:rPr kumimoji="0" lang="pt-PT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Lista de Participantes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67439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9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i="1" noProof="0" err="1">
                          <a:solidFill>
                            <a:schemeClr val="tx1"/>
                          </a:solidFill>
                        </a:rPr>
                        <a:t>Onboarding</a:t>
                      </a:r>
                      <a:r>
                        <a:rPr lang="pt-PT" sz="900" noProof="0">
                          <a:solidFill>
                            <a:schemeClr val="tx1"/>
                          </a:solidFill>
                        </a:rPr>
                        <a:t> de Fornecedores 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26/09</a:t>
                      </a:r>
                      <a:endParaRPr lang="pt-PT" sz="900" b="1" noProof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Ayrton Muhambi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08/10 – 09/10</a:t>
                      </a:r>
                      <a:endParaRPr lang="pt-PT" sz="900" noProof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Já identificados no ficheiro ‘</a:t>
                      </a:r>
                      <a:r>
                        <a:rPr kumimoji="0" lang="pt-PT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Lista de Participantes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736917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10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noProof="0">
                          <a:solidFill>
                            <a:schemeClr val="tx1"/>
                          </a:solidFill>
                        </a:rPr>
                        <a:t>Atualização de Dados de Fornecedores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26/09</a:t>
                      </a:r>
                      <a:endParaRPr lang="pt-PT" sz="900" b="1" noProof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Ayrton Muhambi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10/10 – 11/10</a:t>
                      </a:r>
                      <a:endParaRPr lang="pt-PT" sz="900" noProof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Já identificados no ficheiro ‘</a:t>
                      </a:r>
                      <a:r>
                        <a:rPr kumimoji="0" lang="pt-PT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Lista de Participantes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15261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11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noProof="0">
                          <a:solidFill>
                            <a:schemeClr val="tx1"/>
                          </a:solidFill>
                        </a:rPr>
                        <a:t>Análise e Monitorização de Risco de Fornecedores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26/09</a:t>
                      </a:r>
                      <a:endParaRPr lang="pt-PT" sz="900" b="1" noProof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noProof="0"/>
                        <a:t>Ayrton Muhambi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14/10 – 15/10</a:t>
                      </a:r>
                      <a:endParaRPr lang="pt-PT" sz="900" noProof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Já identificados no ficheiro ‘</a:t>
                      </a:r>
                      <a:r>
                        <a:rPr kumimoji="0" lang="pt-PT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Lista de Participantes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369988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12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i="1" noProof="0" err="1">
                          <a:solidFill>
                            <a:schemeClr val="tx1"/>
                          </a:solidFill>
                        </a:rPr>
                        <a:t>Offboardng</a:t>
                      </a:r>
                      <a:r>
                        <a:rPr lang="pt-PT" sz="900" noProof="0">
                          <a:solidFill>
                            <a:schemeClr val="tx1"/>
                          </a:solidFill>
                        </a:rPr>
                        <a:t> de Fornecedores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27/09</a:t>
                      </a:r>
                      <a:endParaRPr lang="pt-PT" sz="900" b="1" noProof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Ayrton Muhambi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16/10 – 17/10</a:t>
                      </a:r>
                      <a:endParaRPr lang="pt-PT" sz="900" noProof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Já identificados no ficheiro ‘</a:t>
                      </a:r>
                      <a:r>
                        <a:rPr kumimoji="0" lang="pt-PT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Lista de Participantes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83837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13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900" noProof="0">
                          <a:solidFill>
                            <a:schemeClr val="tx1"/>
                          </a:solidFill>
                        </a:rPr>
                        <a:t>Aplicação de Sanções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27/09</a:t>
                      </a:r>
                      <a:endParaRPr lang="pt-PT" sz="900" b="1" noProof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Ayrton Muhambi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17/10 – 18/10</a:t>
                      </a:r>
                      <a:endParaRPr lang="pt-PT" sz="900" noProof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Já identificados no ficheiro ‘</a:t>
                      </a:r>
                      <a:r>
                        <a:rPr kumimoji="0" lang="pt-PT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Lista de Participantes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45219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14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noProof="0">
                          <a:solidFill>
                            <a:schemeClr val="tx1"/>
                          </a:solidFill>
                        </a:rPr>
                        <a:t>Emissão de Requisição de Compra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1" noProof="0"/>
                        <a:t>16/09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noProof="0">
                          <a:solidFill>
                            <a:schemeClr val="tx1"/>
                          </a:solidFill>
                        </a:rPr>
                        <a:t>Octávio Tereso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1" noProof="0"/>
                        <a:t>20/09 – 23/09 </a:t>
                      </a: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pt-PT" sz="900" b="1" noProof="0"/>
                        <a:t>Sexta &amp; Segunda</a:t>
                      </a: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pt-PT" sz="900" noProof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Já identificados no ficheiro ‘</a:t>
                      </a:r>
                      <a:r>
                        <a:rPr kumimoji="0" lang="pt-PT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Lista de Participantes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1525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15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noProof="0">
                          <a:solidFill>
                            <a:schemeClr val="tx1"/>
                          </a:solidFill>
                        </a:rPr>
                        <a:t>Contratação de Procurement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16/09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Octávio Tereso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24/09 – 25/09 </a:t>
                      </a:r>
                      <a:endParaRPr lang="pt-PT" sz="900" noProof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Já identificados no ficheiro ‘</a:t>
                      </a:r>
                      <a:r>
                        <a:rPr kumimoji="0" lang="pt-PT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Lista de Participantes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022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16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noProof="0">
                          <a:solidFill>
                            <a:schemeClr val="tx1"/>
                          </a:solidFill>
                        </a:rPr>
                        <a:t>Procedimentos de Contratação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16/09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Octávio Tereso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26/09 – 27/09 </a:t>
                      </a:r>
                      <a:endParaRPr kumimoji="0" lang="pt-PT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Já identificados no ficheiro ‘</a:t>
                      </a:r>
                      <a:r>
                        <a:rPr kumimoji="0" lang="pt-PT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Lista de Participantes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633527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17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noProof="0">
                          <a:solidFill>
                            <a:schemeClr val="tx1"/>
                          </a:solidFill>
                        </a:rPr>
                        <a:t>Adjudicação Directa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17/09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Octávio Tereso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30/09 – 01/10</a:t>
                      </a:r>
                      <a:endParaRPr kumimoji="0" lang="pt-PT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Já identificados no ficheiro ‘</a:t>
                      </a:r>
                      <a:r>
                        <a:rPr kumimoji="0" lang="pt-PT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Lista de Participantes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88114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18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noProof="0">
                          <a:solidFill>
                            <a:schemeClr val="tx1"/>
                          </a:solidFill>
                        </a:rPr>
                        <a:t>Adjudicação de Emergência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17/09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Octávio Tereso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02/10 – 03/10</a:t>
                      </a:r>
                      <a:endParaRPr kumimoji="0" lang="pt-PT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Já identificados no ficheiro ‘</a:t>
                      </a:r>
                      <a:r>
                        <a:rPr kumimoji="0" lang="pt-PT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Lista de Participantes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342519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0A9C571C-F71D-1526-60CB-FB9D7D52FA95}"/>
              </a:ext>
            </a:extLst>
          </p:cNvPr>
          <p:cNvSpPr/>
          <p:nvPr/>
        </p:nvSpPr>
        <p:spPr>
          <a:xfrm>
            <a:off x="7651102" y="1026367"/>
            <a:ext cx="3881709" cy="205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800" b="1">
                <a:solidFill>
                  <a:schemeClr val="tx1"/>
                </a:solidFill>
              </a:rPr>
              <a:t>Nota: </a:t>
            </a:r>
            <a:r>
              <a:rPr lang="pt-PT" sz="800">
                <a:solidFill>
                  <a:schemeClr val="tx1"/>
                </a:solidFill>
              </a:rPr>
              <a:t>as datas são indicativas com base em informação atual. Qualquer alteração das será considerada como uma alteração do âmbito e analisada por ambas as partes</a:t>
            </a:r>
            <a:endParaRPr lang="en-GB" sz="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1800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17679EF-5DE1-49A3-A136-13A798ED40C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17679EF-5DE1-49A3-A136-13A798ED40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5">
            <a:extLst>
              <a:ext uri="{FF2B5EF4-FFF2-40B4-BE49-F238E27FC236}">
                <a16:creationId xmlns:a16="http://schemas.microsoft.com/office/drawing/2014/main" id="{C6DF79F9-E963-44DE-83EF-A2821E7BA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23" y="349517"/>
            <a:ext cx="10698480" cy="420189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ZA" sz="2800" b="1">
                <a:ea typeface="Verdana"/>
              </a:rPr>
              <a:t>Processos de Procurement | </a:t>
            </a:r>
            <a:r>
              <a:rPr lang="pt-PT" sz="2800">
                <a:ea typeface="Verdana"/>
              </a:rPr>
              <a:t>Sessões de Trabalho com EDM </a:t>
            </a:r>
            <a:r>
              <a:rPr lang="en-ZA" sz="2800">
                <a:ea typeface="Verdana"/>
              </a:rPr>
              <a:t>(2/2)</a:t>
            </a:r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131F0449-6E34-41A1-B16C-81401C10C2A5}"/>
              </a:ext>
            </a:extLst>
          </p:cNvPr>
          <p:cNvSpPr txBox="1">
            <a:spLocks/>
          </p:cNvSpPr>
          <p:nvPr/>
        </p:nvSpPr>
        <p:spPr>
          <a:xfrm>
            <a:off x="461823" y="769707"/>
            <a:ext cx="10698480" cy="7714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600">
                <a:ea typeface="Verdana"/>
              </a:rPr>
              <a:t>Abaixo as datas sugeridas para a equipa da EDM participar das </a:t>
            </a:r>
            <a:r>
              <a:rPr lang="pt-PT" sz="1600" i="1" noProof="0"/>
              <a:t>Knowledge Session</a:t>
            </a:r>
            <a:r>
              <a:rPr lang="pt-PT" sz="1600">
                <a:ea typeface="Verdana"/>
              </a:rPr>
              <a:t> </a:t>
            </a:r>
            <a:r>
              <a:rPr lang="pt-PT" sz="1600" i="1">
                <a:ea typeface="Verdana"/>
              </a:rPr>
              <a:t>L1</a:t>
            </a:r>
            <a:r>
              <a:rPr lang="pt-PT" sz="1600">
                <a:ea typeface="Verdana"/>
              </a:rPr>
              <a:t> e sessões de </a:t>
            </a:r>
            <a:r>
              <a:rPr lang="pt-PT" sz="1600" i="1">
                <a:ea typeface="Verdana"/>
              </a:rPr>
              <a:t>embedment</a:t>
            </a:r>
            <a:r>
              <a:rPr lang="pt-PT" sz="1600">
                <a:ea typeface="Verdana"/>
              </a:rPr>
              <a:t>. É crucial cumprir com as datas propostas e qualquer desvio comprometerá o cronograma do projeto</a:t>
            </a:r>
            <a:endParaRPr lang="en-ZA" sz="1800">
              <a:ea typeface="Verdana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41EAAC5-B65E-2852-2FB6-01413AFB87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0111083"/>
              </p:ext>
            </p:extLst>
          </p:nvPr>
        </p:nvGraphicFramePr>
        <p:xfrm>
          <a:off x="461821" y="1298447"/>
          <a:ext cx="11070990" cy="4443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001">
                  <a:extLst>
                    <a:ext uri="{9D8B030D-6E8A-4147-A177-3AD203B41FA5}">
                      <a16:colId xmlns:a16="http://schemas.microsoft.com/office/drawing/2014/main" val="2282482902"/>
                    </a:ext>
                  </a:extLst>
                </a:gridCol>
                <a:gridCol w="2183274">
                  <a:extLst>
                    <a:ext uri="{9D8B030D-6E8A-4147-A177-3AD203B41FA5}">
                      <a16:colId xmlns:a16="http://schemas.microsoft.com/office/drawing/2014/main" val="3083614727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956038622"/>
                    </a:ext>
                  </a:extLst>
                </a:gridCol>
                <a:gridCol w="2569464">
                  <a:extLst>
                    <a:ext uri="{9D8B030D-6E8A-4147-A177-3AD203B41FA5}">
                      <a16:colId xmlns:a16="http://schemas.microsoft.com/office/drawing/2014/main" val="2611295148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11856542"/>
                    </a:ext>
                  </a:extLst>
                </a:gridCol>
                <a:gridCol w="2562547">
                  <a:extLst>
                    <a:ext uri="{9D8B030D-6E8A-4147-A177-3AD203B41FA5}">
                      <a16:colId xmlns:a16="http://schemas.microsoft.com/office/drawing/2014/main" val="2801075770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pt-PT" sz="1000" noProof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noProof="0"/>
                        <a:t>Processo (L3/L4)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noProof="0"/>
                        <a:t>Data </a:t>
                      </a:r>
                      <a:r>
                        <a:rPr lang="pt-PT" sz="1000" i="1" noProof="0"/>
                        <a:t>Knowledge Session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noProof="0"/>
                        <a:t>Participantes </a:t>
                      </a:r>
                      <a:r>
                        <a:rPr lang="pt-PT" sz="1000" i="1" noProof="0"/>
                        <a:t>Knowledge Session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noProof="0"/>
                        <a:t>Data </a:t>
                      </a:r>
                      <a:r>
                        <a:rPr lang="pt-PT" sz="1000" i="1" noProof="0"/>
                        <a:t>Embedment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noProof="0"/>
                        <a:t>Participantes </a:t>
                      </a:r>
                      <a:r>
                        <a:rPr lang="pt-PT" sz="1000" i="1" noProof="0"/>
                        <a:t>Embedment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475329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19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900" noProof="0">
                          <a:solidFill>
                            <a:schemeClr val="tx1"/>
                          </a:solidFill>
                        </a:rPr>
                        <a:t>Concurso Público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1" noProof="0"/>
                        <a:t>17/09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Octávio Tereso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04/10 – 07/10 (</a:t>
                      </a:r>
                      <a:r>
                        <a:rPr lang="pt-PT" sz="900" b="1" noProof="0"/>
                        <a:t>Sexta &amp; Segunda</a:t>
                      </a: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0" lang="pt-PT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Já identificados no ficheiro ‘</a:t>
                      </a:r>
                      <a:r>
                        <a:rPr kumimoji="0" lang="pt-PT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Lista de Participantes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9577218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20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900" noProof="0">
                          <a:solidFill>
                            <a:schemeClr val="tx1"/>
                          </a:solidFill>
                        </a:rPr>
                        <a:t>Concurso Público – Qualificação Prévia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18/09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Octávio Tereso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08/10 – 09/10</a:t>
                      </a:r>
                      <a:endParaRPr kumimoji="0" lang="pt-PT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Já identificados no ficheiro ‘</a:t>
                      </a:r>
                      <a:r>
                        <a:rPr kumimoji="0" lang="pt-PT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Lista de Participantes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25647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21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900" noProof="0">
                          <a:solidFill>
                            <a:schemeClr val="tx1"/>
                          </a:solidFill>
                        </a:rPr>
                        <a:t>Adjudicação em Duas Etapas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18/09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Octávio Tereso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10/10 – 11/10</a:t>
                      </a:r>
                      <a:endParaRPr kumimoji="0" lang="pt-PT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Já identificados no ficheiro ‘</a:t>
                      </a:r>
                      <a:r>
                        <a:rPr kumimoji="0" lang="pt-PT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Lista de Participantes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77134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22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900" noProof="0">
                          <a:solidFill>
                            <a:schemeClr val="tx1"/>
                          </a:solidFill>
                        </a:rPr>
                        <a:t>Adjudicação Limitada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18/09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Octávio Tereso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14/10 – 15/10</a:t>
                      </a:r>
                      <a:endParaRPr kumimoji="0" lang="pt-PT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Já identificados no ficheiro ‘</a:t>
                      </a:r>
                      <a:r>
                        <a:rPr kumimoji="0" lang="pt-PT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Lista de Participantes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82895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23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900" noProof="0">
                          <a:solidFill>
                            <a:schemeClr val="tx1"/>
                          </a:solidFill>
                        </a:rPr>
                        <a:t>Adjudicação Reversa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19/09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Octávio Tereso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16/10 – 17/10</a:t>
                      </a:r>
                      <a:endParaRPr kumimoji="0" lang="pt-PT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Já identificados no ficheiro ‘</a:t>
                      </a:r>
                      <a:r>
                        <a:rPr kumimoji="0" lang="pt-PT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Lista de Participantes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76029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24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900" noProof="0">
                          <a:solidFill>
                            <a:schemeClr val="tx1"/>
                          </a:solidFill>
                        </a:rPr>
                        <a:t>Adjudicação por Cotação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19/09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Octávio Tereso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18/10 – 21/10 (</a:t>
                      </a:r>
                      <a:r>
                        <a:rPr lang="pt-PT" sz="900" b="1" noProof="0"/>
                        <a:t>Sexta &amp; Segunda</a:t>
                      </a: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0" lang="pt-PT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Já identificados no ficheiro ‘</a:t>
                      </a:r>
                      <a:r>
                        <a:rPr kumimoji="0" lang="pt-PT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Lista de Participantes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51991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25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900" noProof="0">
                          <a:solidFill>
                            <a:schemeClr val="tx1"/>
                          </a:solidFill>
                        </a:rPr>
                        <a:t>Serviços de Consultoria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19/09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Octávio Tereso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22/10 – 23/10</a:t>
                      </a:r>
                      <a:endParaRPr kumimoji="0" lang="pt-PT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Já identificados no ficheiro ‘</a:t>
                      </a:r>
                      <a:r>
                        <a:rPr kumimoji="0" lang="pt-PT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Lista de Participantes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724667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26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noProof="0">
                          <a:solidFill>
                            <a:schemeClr val="tx1"/>
                          </a:solidFill>
                        </a:rPr>
                        <a:t>Criação de Contratos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14/11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Octávio Tereso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18/11-19/11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Já identificados no ficheiro ‘</a:t>
                      </a:r>
                      <a:r>
                        <a:rPr kumimoji="0" lang="pt-PT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Lista de Participantes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67439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27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noProof="0">
                          <a:solidFill>
                            <a:schemeClr val="tx1"/>
                          </a:solidFill>
                        </a:rPr>
                        <a:t>Adendas ao Contrato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14/11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Octávio Tereso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20/11-21/11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Já identificados no ficheiro ‘</a:t>
                      </a:r>
                      <a:r>
                        <a:rPr kumimoji="0" lang="pt-PT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Lista de Participantes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736917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28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noProof="0">
                          <a:solidFill>
                            <a:schemeClr val="tx1"/>
                          </a:solidFill>
                        </a:rPr>
                        <a:t>Rescisão de Contratos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14/11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Octávio Tereso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1" noProof="0"/>
                        <a:t>22/11-25/11 (Sexta &amp; Segunda)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Já identificados no ficheiro ‘</a:t>
                      </a:r>
                      <a:r>
                        <a:rPr kumimoji="0" lang="pt-PT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Lista de Participantes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15261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29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noProof="0">
                          <a:solidFill>
                            <a:schemeClr val="tx1"/>
                          </a:solidFill>
                        </a:rPr>
                        <a:t>Formação de Acordo-Quadro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15/11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Octávio Tereso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1" noProof="0"/>
                        <a:t>26/11-27/11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Já identificados no ficheiro ‘</a:t>
                      </a:r>
                      <a:r>
                        <a:rPr kumimoji="0" lang="pt-PT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Lista de Participantes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369988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30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noProof="0">
                          <a:solidFill>
                            <a:schemeClr val="tx1"/>
                          </a:solidFill>
                        </a:rPr>
                        <a:t>Call-off ao Abrigo de Acordo-Quadro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15/11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Octávio Tereso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1" noProof="0"/>
                        <a:t>28/11-29/11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Já identificados no ficheiro ‘</a:t>
                      </a:r>
                      <a:r>
                        <a:rPr kumimoji="0" lang="pt-PT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Lista de Participantes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83837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31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noProof="0">
                          <a:solidFill>
                            <a:schemeClr val="tx1"/>
                          </a:solidFill>
                        </a:rPr>
                        <a:t>Análise e Monitorização de Risco nas Compras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1" noProof="0"/>
                        <a:t>08/11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Octávio Tereso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11/11-12/11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Já identificados no ficheiro ‘</a:t>
                      </a:r>
                      <a:r>
                        <a:rPr kumimoji="0" lang="pt-PT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Lista de Participantes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45219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32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noProof="0">
                          <a:solidFill>
                            <a:schemeClr val="tx1"/>
                          </a:solidFill>
                        </a:rPr>
                        <a:t>Monitorização de Desempenho de Contratos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1" noProof="0"/>
                        <a:t>08/11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Octávio Tereso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13/11-14/11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Já identificados no ficheiro ‘</a:t>
                      </a:r>
                      <a:r>
                        <a:rPr kumimoji="0" lang="pt-PT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Lista de Participantes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1525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/>
                        <a:t>33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noProof="0">
                          <a:solidFill>
                            <a:schemeClr val="tx1"/>
                          </a:solidFill>
                        </a:rPr>
                        <a:t>Aplicação de Sanções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1" noProof="0"/>
                        <a:t>08/11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Octávio Tereso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1" noProof="0"/>
                        <a:t>14/11-15/11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Já identificados no ficheiro ‘</a:t>
                      </a:r>
                      <a:r>
                        <a:rPr kumimoji="0" lang="pt-PT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Lista de Participantes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’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0221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A0231C8F-DECD-C666-8DAD-BB85E32A74FA}"/>
              </a:ext>
            </a:extLst>
          </p:cNvPr>
          <p:cNvSpPr/>
          <p:nvPr/>
        </p:nvSpPr>
        <p:spPr>
          <a:xfrm>
            <a:off x="7651102" y="1026367"/>
            <a:ext cx="3881709" cy="205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800" b="1">
                <a:solidFill>
                  <a:schemeClr val="tx1"/>
                </a:solidFill>
              </a:rPr>
              <a:t>Nota: </a:t>
            </a:r>
            <a:r>
              <a:rPr lang="pt-PT" sz="800">
                <a:solidFill>
                  <a:schemeClr val="tx1"/>
                </a:solidFill>
              </a:rPr>
              <a:t>as datas são indicativas com base em informação atual. Qualquer alteração das será considerada como uma alteração do âmbito e analisada por ambas as partes</a:t>
            </a:r>
            <a:endParaRPr lang="en-GB" sz="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9664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4432378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FILLLINECOLOR1" val="1213412"/>
  <p:tag name="FILLLINECOLOR2" val="13559547"/>
  <p:tag name="FILLLINECOLOR3" val="10342135"/>
  <p:tag name="FILLLINECOLOR4" val="7124467"/>
  <p:tag name="FILLLINECOLOR5" val="877227"/>
  <p:tag name="FILLLINECOLOR6" val="606578"/>
  <p:tag name="FILLLINECOLOR7" val="2906301"/>
  <p:tag name="FILLLINECOLOR8" val="13819381"/>
  <p:tag name="FILLLINECOLOR9" val="10861290"/>
  <p:tag name="FILLLINECOLOR10" val="7903456"/>
  <p:tag name="FILLLINECOLOR11" val="2179726"/>
  <p:tag name="FILLLINECOLOR12" val="1453150"/>
  <p:tag name="FILLLINECOLOR13" val="15921906"/>
  <p:tag name="FILLLINECOLOR14" val="14277081"/>
  <p:tag name="FILLLINECOLOR15" val="12566463"/>
  <p:tag name="FILLLINECOLOR16" val="10921638"/>
  <p:tag name="FILLLINECOLOR17" val="8355711"/>
  <p:tag name="FILLLINECOLOR18" val="5855577"/>
  <p:tag name="FILLLINECOLOR19" val="0"/>
  <p:tag name="FILLLINECOLOR20" val="16777215"/>
  <p:tag name="FILLLINECOLOR22" val="65535"/>
  <p:tag name="FILLLINECOLOR23" val="49407"/>
  <p:tag name="FILLLINECOLOR24" val="255"/>
  <p:tag name="FONTCOLORNUMBER1" val="1"/>
  <p:tag name="FONTCOLORNUMBER2" val="7"/>
  <p:tag name="FONTCOLORNUMBER3" val="15"/>
  <p:tag name="FONTCOLORNUMBER4" val="17"/>
  <p:tag name="FONTCOLORNUMBER5" val="19"/>
  <p:tag name="FONTCOLORNUMBER6" val="20"/>
  <p:tag name="FONTCOLOR1" val="1213412"/>
  <p:tag name="FONTCOLOR2" val="2906301"/>
  <p:tag name="FONTCOLOR3" val="12566463"/>
  <p:tag name="FONTCOLOR4" val="8355711"/>
  <p:tag name="FONTCOLOR5" val="0"/>
  <p:tag name="FONTCOLOR6" val="167772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iblet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/>
          </a:solidFill>
          <a:prstDash val="solid"/>
        </a:ln>
        <a:ln w="58420" cap="flat" cmpd="thickThin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27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31750" h="63500" prst="riblet"/>
          </a:sp3d>
        </a:effectStyle>
        <a:effectStyle>
          <a:effectLst>
            <a:outerShdw blurRad="50800" dist="38100" dir="27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57150" h="114300" prst="ribl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8f5b943-589a-4aa7-8ccb-72e45e9bb880">
      <Terms xmlns="http://schemas.microsoft.com/office/infopath/2007/PartnerControls"/>
    </lcf76f155ced4ddcb4097134ff3c332f>
    <TaxCatchAll xmlns="5bc1e4ff-b956-4dc9-abe9-356824bb6cb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51029272695845B0847FC3E6DC5423" ma:contentTypeVersion="14" ma:contentTypeDescription="Create a new document." ma:contentTypeScope="" ma:versionID="2b6406073da19d623d813a36dc4a49cb">
  <xsd:schema xmlns:xsd="http://www.w3.org/2001/XMLSchema" xmlns:xs="http://www.w3.org/2001/XMLSchema" xmlns:p="http://schemas.microsoft.com/office/2006/metadata/properties" xmlns:ns2="28f5b943-589a-4aa7-8ccb-72e45e9bb880" xmlns:ns3="5bc1e4ff-b956-4dc9-abe9-356824bb6cb7" targetNamespace="http://schemas.microsoft.com/office/2006/metadata/properties" ma:root="true" ma:fieldsID="584ff6212707e7d2b7b08e03befea6e9" ns2:_="" ns3:_="">
    <xsd:import namespace="28f5b943-589a-4aa7-8ccb-72e45e9bb880"/>
    <xsd:import namespace="5bc1e4ff-b956-4dc9-abe9-356824bb6c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f5b943-589a-4aa7-8ccb-72e45e9bb8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c1e4ff-b956-4dc9-abe9-356824bb6cb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536d9292-0e7d-44ed-9556-84b5d10593d7}" ma:internalName="TaxCatchAll" ma:showField="CatchAllData" ma:web="5bc1e4ff-b956-4dc9-abe9-356824bb6cb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05E49B-70B5-4FEC-89D5-F69F52BE5B81}">
  <ds:schemaRefs>
    <ds:schemaRef ds:uri="http://purl.org/dc/elements/1.1/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5bc1e4ff-b956-4dc9-abe9-356824bb6cb7"/>
    <ds:schemaRef ds:uri="http://purl.org/dc/dcmitype/"/>
    <ds:schemaRef ds:uri="http://schemas.microsoft.com/office/infopath/2007/PartnerControls"/>
    <ds:schemaRef ds:uri="28f5b943-589a-4aa7-8ccb-72e45e9bb880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4634205E-3983-48F7-AF50-CBC8BC5869D6}"/>
</file>

<file path=customXml/itemProps3.xml><?xml version="1.0" encoding="utf-8"?>
<ds:datastoreItem xmlns:ds="http://schemas.openxmlformats.org/officeDocument/2006/customXml" ds:itemID="{512E9EB6-BE14-4E9B-B53A-6D95BDD731E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5580</TotalTime>
  <Words>2336</Words>
  <Application>Microsoft Office PowerPoint</Application>
  <PresentationFormat>Widescreen</PresentationFormat>
  <Paragraphs>574</Paragraphs>
  <Slides>10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Verdana</vt:lpstr>
      <vt:lpstr>Wingdings 2</vt:lpstr>
      <vt:lpstr>Office Theme</vt:lpstr>
      <vt:lpstr>think-cell Slide</vt:lpstr>
      <vt:lpstr>EDM - Replaneamento da Fase 1 &amp; 2  Julho de 2024 </vt:lpstr>
      <vt:lpstr>Replaneamento da Fase 1 &amp; 2 | Plano numa Página - Nível 1</vt:lpstr>
      <vt:lpstr>Replaneamento da Fase 1 &amp; 2 | Plano de Procurement &amp; Logística - Nível 2</vt:lpstr>
      <vt:lpstr>Replaneamento da Fase 1 &amp; 2 | Plano de 6 semanas (1/4)</vt:lpstr>
      <vt:lpstr>Replaneamento da Fase 1 &amp; 2 | Plano de 6 semanas (2/)</vt:lpstr>
      <vt:lpstr>Replaneamento da Fase 1 &amp; 2 | Plano de 6 semanas (3/3)</vt:lpstr>
      <vt:lpstr>Processos de Logística | Processos In-Scope e Responsáveis</vt:lpstr>
      <vt:lpstr>Processos de Procurement | Sessões de Trabalho com EDM (1/2)</vt:lpstr>
      <vt:lpstr>Processos de Procurement | Sessões de Trabalho com EDM (2/2)</vt:lpstr>
      <vt:lpstr>PowerPoint Presentation</vt:lpstr>
    </vt:vector>
  </TitlesOfParts>
  <Company>Deloitte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 heading in Calibri  Light Green that can be up to  three lines of text</dc:title>
  <dc:creator>Filip Martens</dc:creator>
  <cp:lastModifiedBy>Andrade, Ivan</cp:lastModifiedBy>
  <cp:revision>1</cp:revision>
  <cp:lastPrinted>2023-04-20T14:40:33Z</cp:lastPrinted>
  <dcterms:created xsi:type="dcterms:W3CDTF">2021-06-14T14:46:14Z</dcterms:created>
  <dcterms:modified xsi:type="dcterms:W3CDTF">2025-11-04T08:58:08Z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0x010100BF51029272695845B0847FC3E6DC5423</vt:lpwstr>
  </property>
  <property fmtid="{D5CDD505-2E9C-101B-9397-08002B2CF9AE}" pid="3" name="MSIP_Label_ea60d57e-af5b-4752-ac57-3e4f28ca11dc_Enabled">
    <vt:lpwstr>true</vt:lpwstr>
  </property>
  <property fmtid="{D5CDD505-2E9C-101B-9397-08002B2CF9AE}" pid="4" name="MSIP_Label_ea60d57e-af5b-4752-ac57-3e4f28ca11dc_SetDate">
    <vt:lpwstr>2021-06-14T14:46:15Z</vt:lpwstr>
  </property>
  <property fmtid="{D5CDD505-2E9C-101B-9397-08002B2CF9AE}" pid="5" name="MSIP_Label_ea60d57e-af5b-4752-ac57-3e4f28ca11dc_Method">
    <vt:lpwstr>Standard</vt:lpwstr>
  </property>
  <property fmtid="{D5CDD505-2E9C-101B-9397-08002B2CF9AE}" pid="6" name="MSIP_Label_ea60d57e-af5b-4752-ac57-3e4f28ca11dc_Name">
    <vt:lpwstr>ea60d57e-af5b-4752-ac57-3e4f28ca11dc</vt:lpwstr>
  </property>
  <property fmtid="{D5CDD505-2E9C-101B-9397-08002B2CF9AE}" pid="7" name="MSIP_Label_ea60d57e-af5b-4752-ac57-3e4f28ca11dc_SiteId">
    <vt:lpwstr>36da45f1-dd2c-4d1f-af13-5abe46b99921</vt:lpwstr>
  </property>
  <property fmtid="{D5CDD505-2E9C-101B-9397-08002B2CF9AE}" pid="8" name="MSIP_Label_ea60d57e-af5b-4752-ac57-3e4f28ca11dc_ActionId">
    <vt:lpwstr>62992c8d-1474-487b-96ba-d3606508b105</vt:lpwstr>
  </property>
  <property fmtid="{D5CDD505-2E9C-101B-9397-08002B2CF9AE}" pid="9" name="MSIP_Label_ea60d57e-af5b-4752-ac57-3e4f28ca11dc_ContentBits">
    <vt:lpwstr>0</vt:lpwstr>
  </property>
  <property fmtid="{D5CDD505-2E9C-101B-9397-08002B2CF9AE}" pid="10" name="MediaServiceImageTags">
    <vt:lpwstr/>
  </property>
</Properties>
</file>